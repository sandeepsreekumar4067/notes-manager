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89" r:id="rId19"/>
    <p:sldId id="290" r:id="rId20"/>
    <p:sldId id="287" r:id="rId21"/>
    <p:sldId id="288" r:id="rId22"/>
    <p:sldId id="285" r:id="rId23"/>
    <p:sldId id="286" r:id="rId24"/>
    <p:sldId id="283" r:id="rId25"/>
    <p:sldId id="284" r:id="rId26"/>
    <p:sldId id="281" r:id="rId27"/>
    <p:sldId id="282" r:id="rId28"/>
    <p:sldId id="279" r:id="rId29"/>
    <p:sldId id="280" r:id="rId30"/>
    <p:sldId id="277" r:id="rId31"/>
    <p:sldId id="278" r:id="rId32"/>
    <p:sldId id="275" r:id="rId33"/>
    <p:sldId id="276" r:id="rId34"/>
    <p:sldId id="263" r:id="rId35"/>
    <p:sldId id="274"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2" r:id="rId77"/>
    <p:sldId id="331" r:id="rId78"/>
    <p:sldId id="333" r:id="rId79"/>
    <p:sldId id="334" r:id="rId80"/>
    <p:sldId id="335" r:id="rId81"/>
    <p:sldId id="336" r:id="rId82"/>
    <p:sldId id="337" r:id="rId83"/>
    <p:sldId id="338" r:id="rId84"/>
    <p:sldId id="339"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40"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E9ADCBF3-4C1E-4793-B381-9A65A13AF99E}"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931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spTree>
    <p:extLst>
      <p:ext uri="{BB962C8B-B14F-4D97-AF65-F5344CB8AC3E}">
        <p14:creationId xmlns:p14="http://schemas.microsoft.com/office/powerpoint/2010/main" val="46643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9698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19D15D-4D35-4E5B-B9AF-30A385FBF0AB}"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ADCBF3-4C1E-4793-B381-9A65A13AF99E}" type="slidenum">
              <a:rPr lang="en-IN" smtClean="0"/>
              <a:t>‹#›</a:t>
            </a:fld>
            <a:endParaRPr lang="en-IN"/>
          </a:p>
        </p:txBody>
      </p:sp>
    </p:spTree>
    <p:extLst>
      <p:ext uri="{BB962C8B-B14F-4D97-AF65-F5344CB8AC3E}">
        <p14:creationId xmlns:p14="http://schemas.microsoft.com/office/powerpoint/2010/main" val="2834730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19D15D-4D35-4E5B-B9AF-30A385FBF0AB}" type="datetimeFigureOut">
              <a:rPr lang="en-IN" smtClean="0"/>
              <a:t>01-10-2025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9ADCBF3-4C1E-4793-B381-9A65A13AF99E}"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584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19D15D-4D35-4E5B-B9AF-30A385FBF0AB}" type="datetimeFigureOut">
              <a:rPr lang="en-IN" smtClean="0"/>
              <a:t>01-10-2025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9ADCBF3-4C1E-4793-B381-9A65A13AF99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4881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19D15D-4D35-4E5B-B9AF-30A385FBF0AB}" type="datetimeFigureOut">
              <a:rPr lang="en-IN" smtClean="0"/>
              <a:t>01-10-2025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9ADCBF3-4C1E-4793-B381-9A65A13AF99E}" type="slidenum">
              <a:rPr lang="en-IN" smtClean="0"/>
              <a:t>‹#›</a:t>
            </a:fld>
            <a:endParaRPr lang="en-IN"/>
          </a:p>
        </p:txBody>
      </p:sp>
    </p:spTree>
    <p:extLst>
      <p:ext uri="{BB962C8B-B14F-4D97-AF65-F5344CB8AC3E}">
        <p14:creationId xmlns:p14="http://schemas.microsoft.com/office/powerpoint/2010/main" val="1155146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19D15D-4D35-4E5B-B9AF-30A385FBF0AB}"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ADCBF3-4C1E-4793-B381-9A65A13AF99E}"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9705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19D15D-4D35-4E5B-B9AF-30A385FBF0AB}"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ADCBF3-4C1E-4793-B381-9A65A13AF99E}" type="slidenum">
              <a:rPr lang="en-IN" smtClean="0"/>
              <a:t>‹#›</a:t>
            </a:fld>
            <a:endParaRPr lang="en-IN"/>
          </a:p>
        </p:txBody>
      </p:sp>
    </p:spTree>
    <p:extLst>
      <p:ext uri="{BB962C8B-B14F-4D97-AF65-F5344CB8AC3E}">
        <p14:creationId xmlns:p14="http://schemas.microsoft.com/office/powerpoint/2010/main" val="1072184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19D15D-4D35-4E5B-B9AF-30A385FBF0AB}"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ADCBF3-4C1E-4793-B381-9A65A13AF99E}" type="slidenum">
              <a:rPr lang="en-IN" smtClean="0"/>
              <a:t>‹#›</a:t>
            </a:fld>
            <a:endParaRPr lang="en-IN"/>
          </a:p>
        </p:txBody>
      </p:sp>
    </p:spTree>
    <p:extLst>
      <p:ext uri="{BB962C8B-B14F-4D97-AF65-F5344CB8AC3E}">
        <p14:creationId xmlns:p14="http://schemas.microsoft.com/office/powerpoint/2010/main" val="1886420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797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2453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spTree>
    <p:extLst>
      <p:ext uri="{BB962C8B-B14F-4D97-AF65-F5344CB8AC3E}">
        <p14:creationId xmlns:p14="http://schemas.microsoft.com/office/powerpoint/2010/main" val="4235993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3764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54203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47223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9D15D-4D35-4E5B-B9AF-30A385FBF0AB}"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ADCBF3-4C1E-4793-B381-9A65A13AF99E}"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9868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B19D15D-4D35-4E5B-B9AF-30A385FBF0AB}" type="datetimeFigureOut">
              <a:rPr lang="en-IN" smtClean="0"/>
              <a:t>01-10-2025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9ADCBF3-4C1E-4793-B381-9A65A13AF99E}" type="slidenum">
              <a:rPr lang="en-IN" smtClean="0"/>
              <a:t>‹#›</a:t>
            </a:fld>
            <a:endParaRPr lang="en-IN"/>
          </a:p>
        </p:txBody>
      </p:sp>
    </p:spTree>
    <p:extLst>
      <p:ext uri="{BB962C8B-B14F-4D97-AF65-F5344CB8AC3E}">
        <p14:creationId xmlns:p14="http://schemas.microsoft.com/office/powerpoint/2010/main" val="20737733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8E5CA-3485-1523-550A-1889B45A4C3F}"/>
              </a:ext>
            </a:extLst>
          </p:cNvPr>
          <p:cNvSpPr>
            <a:spLocks noGrp="1"/>
          </p:cNvSpPr>
          <p:nvPr>
            <p:ph type="ctrTitle"/>
          </p:nvPr>
        </p:nvSpPr>
        <p:spPr>
          <a:xfrm>
            <a:off x="2613740" y="2671233"/>
            <a:ext cx="6815669" cy="1515533"/>
          </a:xfrm>
        </p:spPr>
        <p:txBody>
          <a:bodyPr/>
          <a:lstStyle/>
          <a:p>
            <a:r>
              <a:rPr lang="en-IN" b="1" dirty="0"/>
              <a:t>International Organizations</a:t>
            </a:r>
            <a:br>
              <a:rPr lang="en-IN" b="1" dirty="0"/>
            </a:br>
            <a:endParaRPr lang="en-IN" dirty="0"/>
          </a:p>
        </p:txBody>
      </p:sp>
      <p:sp>
        <p:nvSpPr>
          <p:cNvPr id="3" name="Subtitle 2">
            <a:extLst>
              <a:ext uri="{FF2B5EF4-FFF2-40B4-BE49-F238E27FC236}">
                <a16:creationId xmlns:a16="http://schemas.microsoft.com/office/drawing/2014/main" id="{8B52151C-8E3A-3A76-125B-11FC9ED67F1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06867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5B671-6E0B-7FFD-7792-D25B35F57D14}"/>
              </a:ext>
            </a:extLst>
          </p:cNvPr>
          <p:cNvSpPr>
            <a:spLocks noGrp="1"/>
          </p:cNvSpPr>
          <p:nvPr>
            <p:ph type="title"/>
          </p:nvPr>
        </p:nvSpPr>
        <p:spPr/>
        <p:txBody>
          <a:bodyPr>
            <a:normAutofit fontScale="90000"/>
          </a:bodyPr>
          <a:lstStyle/>
          <a:p>
            <a:r>
              <a:rPr lang="en-US" dirty="0"/>
              <a:t>Which among the following organization helps world’s poorest countries?</a:t>
            </a:r>
            <a:endParaRPr lang="en-IN" dirty="0"/>
          </a:p>
        </p:txBody>
      </p:sp>
      <p:sp>
        <p:nvSpPr>
          <p:cNvPr id="3" name="Content Placeholder 2">
            <a:extLst>
              <a:ext uri="{FF2B5EF4-FFF2-40B4-BE49-F238E27FC236}">
                <a16:creationId xmlns:a16="http://schemas.microsoft.com/office/drawing/2014/main" id="{62A25873-83C5-61C0-C922-47D04F84124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141344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8CAE4-BE6C-6BF6-067F-A893641B29C0}"/>
              </a:ext>
            </a:extLst>
          </p:cNvPr>
          <p:cNvSpPr>
            <a:spLocks noGrp="1"/>
          </p:cNvSpPr>
          <p:nvPr>
            <p:ph type="title"/>
          </p:nvPr>
        </p:nvSpPr>
        <p:spPr/>
        <p:txBody>
          <a:bodyPr>
            <a:noAutofit/>
          </a:bodyPr>
          <a:lstStyle/>
          <a:p>
            <a:r>
              <a:rPr lang="en-US" sz="2400" b="1" dirty="0"/>
              <a:t>The International Development Association (IDA) is the part of the World Bank that helps the world’s poorest countries. It complements the World Bank’s other lending arm — the International Bank for Reconstruction and Development (IBRD) — which serves middle-income countries with capital investment and advisory services.</a:t>
            </a:r>
            <a:endParaRPr lang="en-IN" sz="2400" b="1" dirty="0"/>
          </a:p>
        </p:txBody>
      </p:sp>
      <p:sp>
        <p:nvSpPr>
          <p:cNvPr id="3" name="Content Placeholder 2">
            <a:extLst>
              <a:ext uri="{FF2B5EF4-FFF2-40B4-BE49-F238E27FC236}">
                <a16:creationId xmlns:a16="http://schemas.microsoft.com/office/drawing/2014/main" id="{6CE29563-6446-8A74-CAA2-1702D2FFB811}"/>
              </a:ext>
            </a:extLst>
          </p:cNvPr>
          <p:cNvSpPr>
            <a:spLocks noGrp="1"/>
          </p:cNvSpPr>
          <p:nvPr>
            <p:ph idx="1"/>
          </p:nvPr>
        </p:nvSpPr>
        <p:spPr/>
        <p:txBody>
          <a:bodyPr/>
          <a:lstStyle/>
          <a:p>
            <a:r>
              <a:rPr lang="en-IN" b="1" dirty="0"/>
              <a:t>IDA</a:t>
            </a:r>
          </a:p>
        </p:txBody>
      </p:sp>
    </p:spTree>
    <p:extLst>
      <p:ext uri="{BB962C8B-B14F-4D97-AF65-F5344CB8AC3E}">
        <p14:creationId xmlns:p14="http://schemas.microsoft.com/office/powerpoint/2010/main" val="1292159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C5F61-78DE-7F6E-349D-1C2D3719C359}"/>
              </a:ext>
            </a:extLst>
          </p:cNvPr>
          <p:cNvSpPr>
            <a:spLocks noGrp="1"/>
          </p:cNvSpPr>
          <p:nvPr>
            <p:ph type="title"/>
          </p:nvPr>
        </p:nvSpPr>
        <p:spPr/>
        <p:txBody>
          <a:bodyPr>
            <a:normAutofit fontScale="90000"/>
          </a:bodyPr>
          <a:lstStyle/>
          <a:p>
            <a:r>
              <a:rPr lang="en-US" b="1" dirty="0"/>
              <a:t>The United Nations General Assembly appoints the Secretary-General of the United Nations on recommendation of which of the following organ?</a:t>
            </a:r>
            <a:endParaRPr lang="en-IN" b="1" dirty="0"/>
          </a:p>
        </p:txBody>
      </p:sp>
    </p:spTree>
    <p:extLst>
      <p:ext uri="{BB962C8B-B14F-4D97-AF65-F5344CB8AC3E}">
        <p14:creationId xmlns:p14="http://schemas.microsoft.com/office/powerpoint/2010/main" val="2048400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F3C3E-57FB-B661-D0C6-07B31BC15923}"/>
              </a:ext>
            </a:extLst>
          </p:cNvPr>
          <p:cNvSpPr>
            <a:spLocks noGrp="1"/>
          </p:cNvSpPr>
          <p:nvPr>
            <p:ph type="title"/>
          </p:nvPr>
        </p:nvSpPr>
        <p:spPr/>
        <p:txBody>
          <a:bodyPr/>
          <a:lstStyle/>
          <a:p>
            <a:r>
              <a:rPr lang="en-US" b="1" dirty="0"/>
              <a:t>The Security Council</a:t>
            </a:r>
            <a:endParaRPr lang="en-IN" b="1" dirty="0"/>
          </a:p>
        </p:txBody>
      </p:sp>
      <p:sp>
        <p:nvSpPr>
          <p:cNvPr id="3" name="Content Placeholder 2">
            <a:extLst>
              <a:ext uri="{FF2B5EF4-FFF2-40B4-BE49-F238E27FC236}">
                <a16:creationId xmlns:a16="http://schemas.microsoft.com/office/drawing/2014/main" id="{D93752E9-E7A1-967C-DC9F-6822F2488DF7}"/>
              </a:ext>
            </a:extLst>
          </p:cNvPr>
          <p:cNvSpPr>
            <a:spLocks noGrp="1"/>
          </p:cNvSpPr>
          <p:nvPr>
            <p:ph idx="1"/>
          </p:nvPr>
        </p:nvSpPr>
        <p:spPr/>
        <p:txBody>
          <a:bodyPr/>
          <a:lstStyle/>
          <a:p>
            <a:r>
              <a:rPr lang="en-US" dirty="0"/>
              <a:t> The United Nations General Assembly appoints the Secretary-General based on the recommendation of the Security Council, as outlined in Article 97 of the UN Charter. This process emphasizes the Security Council’s role in maintaining international peace and security, as the Secretary-General often acts as a mediator in conflicts. The first Secretary-General was Trygve Lie, appointed in 1946.</a:t>
            </a:r>
            <a:endParaRPr lang="en-IN" dirty="0"/>
          </a:p>
        </p:txBody>
      </p:sp>
    </p:spTree>
    <p:extLst>
      <p:ext uri="{BB962C8B-B14F-4D97-AF65-F5344CB8AC3E}">
        <p14:creationId xmlns:p14="http://schemas.microsoft.com/office/powerpoint/2010/main" val="3219870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02729-BD98-C951-DB02-1368519436B9}"/>
              </a:ext>
            </a:extLst>
          </p:cNvPr>
          <p:cNvSpPr>
            <a:spLocks noGrp="1"/>
          </p:cNvSpPr>
          <p:nvPr>
            <p:ph type="title"/>
          </p:nvPr>
        </p:nvSpPr>
        <p:spPr/>
        <p:txBody>
          <a:bodyPr>
            <a:normAutofit fontScale="90000"/>
          </a:bodyPr>
          <a:lstStyle/>
          <a:p>
            <a:r>
              <a:rPr lang="en-US" b="1" dirty="0"/>
              <a:t>Which among the following major United Nations site is known as UNO city?</a:t>
            </a:r>
            <a:endParaRPr lang="en-IN" b="1" dirty="0"/>
          </a:p>
        </p:txBody>
      </p:sp>
      <p:sp>
        <p:nvSpPr>
          <p:cNvPr id="3" name="Content Placeholder 2">
            <a:extLst>
              <a:ext uri="{FF2B5EF4-FFF2-40B4-BE49-F238E27FC236}">
                <a16:creationId xmlns:a16="http://schemas.microsoft.com/office/drawing/2014/main" id="{3C629289-544C-7015-8F6E-54AC30BA72B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779942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BC13F-F7C0-09A2-510B-CE460D14C5A1}"/>
              </a:ext>
            </a:extLst>
          </p:cNvPr>
          <p:cNvSpPr>
            <a:spLocks noGrp="1"/>
          </p:cNvSpPr>
          <p:nvPr>
            <p:ph type="title"/>
          </p:nvPr>
        </p:nvSpPr>
        <p:spPr/>
        <p:txBody>
          <a:bodyPr/>
          <a:lstStyle/>
          <a:p>
            <a:r>
              <a:rPr lang="en-IN" b="1" dirty="0"/>
              <a:t>Vienna</a:t>
            </a:r>
          </a:p>
        </p:txBody>
      </p:sp>
      <p:sp>
        <p:nvSpPr>
          <p:cNvPr id="3" name="Content Placeholder 2">
            <a:extLst>
              <a:ext uri="{FF2B5EF4-FFF2-40B4-BE49-F238E27FC236}">
                <a16:creationId xmlns:a16="http://schemas.microsoft.com/office/drawing/2014/main" id="{9CC6DEB9-A01F-8476-2511-59E0F6D5C866}"/>
              </a:ext>
            </a:extLst>
          </p:cNvPr>
          <p:cNvSpPr>
            <a:spLocks noGrp="1"/>
          </p:cNvSpPr>
          <p:nvPr>
            <p:ph idx="1"/>
          </p:nvPr>
        </p:nvSpPr>
        <p:spPr/>
        <p:txBody>
          <a:bodyPr/>
          <a:lstStyle/>
          <a:p>
            <a:r>
              <a:rPr lang="en-US" dirty="0"/>
              <a:t>Along with New York, Geneva and Nairobi, Vienna is a major UN site which holds the offices of Comprehensive Nuclear-Test-Ban Treaty Organization (CTBTO, International Atomic Energy Agency, United Nations Commission on International Trade Law, United Nations Industrial Development Organization, United Nations Office on Drugs and Crime, United Nations High Commissioner for Refugees , United Nations Office for Outer Space Affairs. Please note that The VIC (Vienna International center) is an extraterritorial area and is free from local area jurisdiction</a:t>
            </a:r>
            <a:endParaRPr lang="en-IN" dirty="0"/>
          </a:p>
        </p:txBody>
      </p:sp>
    </p:spTree>
    <p:extLst>
      <p:ext uri="{BB962C8B-B14F-4D97-AF65-F5344CB8AC3E}">
        <p14:creationId xmlns:p14="http://schemas.microsoft.com/office/powerpoint/2010/main" val="1388438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1D5E7-0551-7A66-1976-F82DE80CD9AF}"/>
              </a:ext>
            </a:extLst>
          </p:cNvPr>
          <p:cNvSpPr>
            <a:spLocks noGrp="1"/>
          </p:cNvSpPr>
          <p:nvPr>
            <p:ph type="title"/>
          </p:nvPr>
        </p:nvSpPr>
        <p:spPr/>
        <p:txBody>
          <a:bodyPr>
            <a:normAutofit fontScale="90000"/>
          </a:bodyPr>
          <a:lstStyle/>
          <a:p>
            <a:r>
              <a:rPr lang="en-US" b="1" dirty="0"/>
              <a:t>Which one of the following was used as a chemical weapon in the First World War?</a:t>
            </a:r>
            <a:endParaRPr lang="en-IN" b="1" dirty="0"/>
          </a:p>
        </p:txBody>
      </p:sp>
      <p:sp>
        <p:nvSpPr>
          <p:cNvPr id="3" name="Content Placeholder 2">
            <a:extLst>
              <a:ext uri="{FF2B5EF4-FFF2-40B4-BE49-F238E27FC236}">
                <a16:creationId xmlns:a16="http://schemas.microsoft.com/office/drawing/2014/main" id="{EFA3D50A-5969-C25A-8E50-7C071057B85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6971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0BA1A-675C-1C16-F0D7-0D065D10DBD6}"/>
              </a:ext>
            </a:extLst>
          </p:cNvPr>
          <p:cNvSpPr>
            <a:spLocks noGrp="1"/>
          </p:cNvSpPr>
          <p:nvPr>
            <p:ph type="title"/>
          </p:nvPr>
        </p:nvSpPr>
        <p:spPr/>
        <p:txBody>
          <a:bodyPr/>
          <a:lstStyle/>
          <a:p>
            <a:r>
              <a:rPr lang="en-IN" dirty="0"/>
              <a:t>Mustard gas</a:t>
            </a:r>
          </a:p>
        </p:txBody>
      </p:sp>
      <p:sp>
        <p:nvSpPr>
          <p:cNvPr id="3" name="Content Placeholder 2">
            <a:extLst>
              <a:ext uri="{FF2B5EF4-FFF2-40B4-BE49-F238E27FC236}">
                <a16:creationId xmlns:a16="http://schemas.microsoft.com/office/drawing/2014/main" id="{3231D7A7-38F0-E95D-27E7-428986B02D33}"/>
              </a:ext>
            </a:extLst>
          </p:cNvPr>
          <p:cNvSpPr>
            <a:spLocks noGrp="1"/>
          </p:cNvSpPr>
          <p:nvPr>
            <p:ph idx="1"/>
          </p:nvPr>
        </p:nvSpPr>
        <p:spPr/>
        <p:txBody>
          <a:bodyPr/>
          <a:lstStyle/>
          <a:p>
            <a:r>
              <a:rPr lang="en-US" dirty="0"/>
              <a:t>Although the Germans were the first to use phosgene on the battlefield, it became the primary chemical weapon of the Allies. Phosgene was responsible for 85% of chemical-weapons fatalities during World War I. Mustard gas, a potent blistering agent, was dubbed King of the Battle Gases.</a:t>
            </a:r>
          </a:p>
          <a:p>
            <a:br>
              <a:rPr lang="en-US" dirty="0"/>
            </a:br>
            <a:endParaRPr lang="en-IN" dirty="0"/>
          </a:p>
        </p:txBody>
      </p:sp>
    </p:spTree>
    <p:extLst>
      <p:ext uri="{BB962C8B-B14F-4D97-AF65-F5344CB8AC3E}">
        <p14:creationId xmlns:p14="http://schemas.microsoft.com/office/powerpoint/2010/main" val="552460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72958-91F3-B26C-540D-A26BBD7FACC5}"/>
              </a:ext>
            </a:extLst>
          </p:cNvPr>
          <p:cNvSpPr>
            <a:spLocks noGrp="1"/>
          </p:cNvSpPr>
          <p:nvPr>
            <p:ph type="title"/>
          </p:nvPr>
        </p:nvSpPr>
        <p:spPr/>
        <p:txBody>
          <a:bodyPr>
            <a:normAutofit fontScale="90000"/>
          </a:bodyPr>
          <a:lstStyle/>
          <a:p>
            <a:r>
              <a:rPr lang="en-US" b="1" dirty="0"/>
              <a:t>Which day is celebrated as International Day of People with Disabilities?</a:t>
            </a:r>
            <a:endParaRPr lang="en-IN" b="1" dirty="0"/>
          </a:p>
        </p:txBody>
      </p:sp>
      <p:sp>
        <p:nvSpPr>
          <p:cNvPr id="3" name="Content Placeholder 2">
            <a:extLst>
              <a:ext uri="{FF2B5EF4-FFF2-40B4-BE49-F238E27FC236}">
                <a16:creationId xmlns:a16="http://schemas.microsoft.com/office/drawing/2014/main" id="{662E4F7C-2F33-A685-032E-23C62F81F5B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30463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0BBB9-C7DA-81F1-1E07-B243780BD24B}"/>
              </a:ext>
            </a:extLst>
          </p:cNvPr>
          <p:cNvSpPr>
            <a:spLocks noGrp="1"/>
          </p:cNvSpPr>
          <p:nvPr>
            <p:ph type="title"/>
          </p:nvPr>
        </p:nvSpPr>
        <p:spPr/>
        <p:txBody>
          <a:bodyPr/>
          <a:lstStyle/>
          <a:p>
            <a:r>
              <a:rPr lang="en-IN" b="1" dirty="0"/>
              <a:t>3 December</a:t>
            </a:r>
          </a:p>
        </p:txBody>
      </p:sp>
      <p:sp>
        <p:nvSpPr>
          <p:cNvPr id="3" name="Content Placeholder 2">
            <a:extLst>
              <a:ext uri="{FF2B5EF4-FFF2-40B4-BE49-F238E27FC236}">
                <a16:creationId xmlns:a16="http://schemas.microsoft.com/office/drawing/2014/main" id="{1D2C02B4-6143-ADDC-97F8-D5A8ABB1426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8518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7849F-9499-E250-0436-9DD66073E5E4}"/>
              </a:ext>
            </a:extLst>
          </p:cNvPr>
          <p:cNvSpPr>
            <a:spLocks noGrp="1"/>
          </p:cNvSpPr>
          <p:nvPr>
            <p:ph type="title"/>
          </p:nvPr>
        </p:nvSpPr>
        <p:spPr/>
        <p:txBody>
          <a:bodyPr>
            <a:normAutofit fontScale="90000"/>
          </a:bodyPr>
          <a:lstStyle/>
          <a:p>
            <a:r>
              <a:rPr lang="en-US" b="1" dirty="0"/>
              <a:t>Which day is celebrated as World Ozone Day?</a:t>
            </a:r>
            <a:endParaRPr lang="en-IN" b="1" dirty="0"/>
          </a:p>
        </p:txBody>
      </p:sp>
      <p:sp>
        <p:nvSpPr>
          <p:cNvPr id="3" name="Content Placeholder 2">
            <a:extLst>
              <a:ext uri="{FF2B5EF4-FFF2-40B4-BE49-F238E27FC236}">
                <a16:creationId xmlns:a16="http://schemas.microsoft.com/office/drawing/2014/main" id="{0DA3D606-DD89-2688-8E10-B19AF2C1AF6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71448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9CC8C-5D02-F2E7-668C-0B4EDA3EC580}"/>
              </a:ext>
            </a:extLst>
          </p:cNvPr>
          <p:cNvSpPr>
            <a:spLocks noGrp="1"/>
          </p:cNvSpPr>
          <p:nvPr>
            <p:ph type="title"/>
          </p:nvPr>
        </p:nvSpPr>
        <p:spPr/>
        <p:txBody>
          <a:bodyPr/>
          <a:lstStyle/>
          <a:p>
            <a:r>
              <a:rPr lang="en-IN" b="1" dirty="0"/>
              <a:t>16 September</a:t>
            </a:r>
          </a:p>
        </p:txBody>
      </p:sp>
      <p:sp>
        <p:nvSpPr>
          <p:cNvPr id="3" name="Content Placeholder 2">
            <a:extLst>
              <a:ext uri="{FF2B5EF4-FFF2-40B4-BE49-F238E27FC236}">
                <a16:creationId xmlns:a16="http://schemas.microsoft.com/office/drawing/2014/main" id="{648553AE-A2BE-11CD-2281-59CF313B8F6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73268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D079-DD3E-C5A2-567B-B92D5B5EBD61}"/>
              </a:ext>
            </a:extLst>
          </p:cNvPr>
          <p:cNvSpPr>
            <a:spLocks noGrp="1"/>
          </p:cNvSpPr>
          <p:nvPr>
            <p:ph type="title"/>
          </p:nvPr>
        </p:nvSpPr>
        <p:spPr/>
        <p:txBody>
          <a:bodyPr>
            <a:normAutofit fontScale="90000"/>
          </a:bodyPr>
          <a:lstStyle/>
          <a:p>
            <a:r>
              <a:rPr lang="en-US" dirty="0"/>
              <a:t>In which city is the headquarters of United Nations (UN)  situated ?</a:t>
            </a:r>
            <a:endParaRPr lang="en-IN" dirty="0"/>
          </a:p>
        </p:txBody>
      </p:sp>
      <p:sp>
        <p:nvSpPr>
          <p:cNvPr id="3" name="Content Placeholder 2">
            <a:extLst>
              <a:ext uri="{FF2B5EF4-FFF2-40B4-BE49-F238E27FC236}">
                <a16:creationId xmlns:a16="http://schemas.microsoft.com/office/drawing/2014/main" id="{A04B9377-FC1B-06BA-56A0-17AE491DE50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91919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A8CA4-3D16-B075-8138-2D061A43EAFB}"/>
              </a:ext>
            </a:extLst>
          </p:cNvPr>
          <p:cNvSpPr>
            <a:spLocks noGrp="1"/>
          </p:cNvSpPr>
          <p:nvPr>
            <p:ph type="title"/>
          </p:nvPr>
        </p:nvSpPr>
        <p:spPr/>
        <p:txBody>
          <a:bodyPr/>
          <a:lstStyle/>
          <a:p>
            <a:r>
              <a:rPr lang="en-IN" b="1" dirty="0"/>
              <a:t>New York</a:t>
            </a:r>
          </a:p>
        </p:txBody>
      </p:sp>
      <p:sp>
        <p:nvSpPr>
          <p:cNvPr id="3" name="Content Placeholder 2">
            <a:extLst>
              <a:ext uri="{FF2B5EF4-FFF2-40B4-BE49-F238E27FC236}">
                <a16:creationId xmlns:a16="http://schemas.microsoft.com/office/drawing/2014/main" id="{C2DF1F71-BA85-6592-4BEA-CB9BC8022DC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7007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003D9-A1BB-5FA1-5F1E-9A24DD1844B2}"/>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When was the UN founded?</a:t>
            </a:r>
            <a:r>
              <a:rPr lang="en-US" altLang="en-US" dirty="0">
                <a:ln>
                  <a:noFill/>
                </a:ln>
                <a:solidFill>
                  <a:srgbClr val="001D35"/>
                </a:solidFill>
                <a:latin typeface="Google Sans"/>
              </a:rPr>
              <a:t> </a:t>
            </a:r>
            <a:br>
              <a:rPr lang="en-US" altLang="en-US" sz="6000" dirty="0">
                <a:ln>
                  <a:noFill/>
                </a:ln>
                <a:solidFill>
                  <a:schemeClr val="tx1"/>
                </a:solidFill>
                <a:latin typeface="Arial" panose="020B0604020202020204" pitchFamily="34" charset="0"/>
              </a:rPr>
            </a:br>
            <a:endParaRPr lang="en-IN" dirty="0"/>
          </a:p>
        </p:txBody>
      </p:sp>
    </p:spTree>
    <p:extLst>
      <p:ext uri="{BB962C8B-B14F-4D97-AF65-F5344CB8AC3E}">
        <p14:creationId xmlns:p14="http://schemas.microsoft.com/office/powerpoint/2010/main" val="269592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B0DF9-FAAF-7F44-CB2F-F1650130A741}"/>
              </a:ext>
            </a:extLst>
          </p:cNvPr>
          <p:cNvSpPr>
            <a:spLocks noGrp="1"/>
          </p:cNvSpPr>
          <p:nvPr>
            <p:ph type="title"/>
          </p:nvPr>
        </p:nvSpPr>
        <p:spPr>
          <a:xfrm>
            <a:off x="1295402" y="4767551"/>
            <a:ext cx="9601196" cy="1303867"/>
          </a:xfrm>
        </p:spPr>
        <p:txBody>
          <a:bodyPr>
            <a:normAutofit fontScale="90000"/>
          </a:bodyPr>
          <a:lstStyle/>
          <a:p>
            <a:pPr lvl="0" defTabSz="914400" eaLnBrk="0" fontAlgn="base" hangingPunct="0">
              <a:spcAft>
                <a:spcPct val="0"/>
              </a:spcAft>
            </a:pPr>
            <a:r>
              <a:rPr lang="en-US" altLang="en-US" dirty="0">
                <a:ln>
                  <a:noFill/>
                </a:ln>
                <a:solidFill>
                  <a:srgbClr val="001D35"/>
                </a:solidFill>
                <a:latin typeface="Google Sans"/>
              </a:rPr>
              <a:t>The UN officially came into existence in 1945, with operations beginning on October 24th of that year. </a:t>
            </a:r>
            <a:br>
              <a:rPr lang="en-US" altLang="en-US" dirty="0">
                <a:ln>
                  <a:noFill/>
                </a:ln>
                <a:solidFill>
                  <a:srgbClr val="001D35"/>
                </a:solidFill>
                <a:latin typeface="Google Sans"/>
              </a:rPr>
            </a:br>
            <a:br>
              <a:rPr lang="en-US" altLang="en-US" dirty="0">
                <a:ln>
                  <a:noFill/>
                </a:ln>
                <a:solidFill>
                  <a:srgbClr val="001D35"/>
                </a:solidFill>
                <a:latin typeface="Google Sans"/>
              </a:rPr>
            </a:br>
            <a:r>
              <a:rPr lang="en-US" altLang="en-US" sz="5400" dirty="0">
                <a:ln>
                  <a:noFill/>
                </a:ln>
                <a:solidFill>
                  <a:srgbClr val="001D35"/>
                </a:solidFill>
                <a:latin typeface="Google Sans"/>
              </a:rPr>
              <a:t> </a:t>
            </a:r>
            <a:br>
              <a:rPr lang="en-US" altLang="en-US" sz="2400" dirty="0">
                <a:ln>
                  <a:noFill/>
                </a:ln>
                <a:solidFill>
                  <a:schemeClr val="tx1"/>
                </a:solidFill>
              </a:rPr>
            </a:br>
            <a:br>
              <a:rPr lang="en-US" altLang="en-US" dirty="0">
                <a:ln>
                  <a:noFill/>
                </a:ln>
                <a:solidFill>
                  <a:srgbClr val="001D35"/>
                </a:solidFill>
                <a:latin typeface="Google Sans"/>
              </a:rPr>
            </a:br>
            <a:br>
              <a:rPr lang="en-US" altLang="en-US" dirty="0">
                <a:ln>
                  <a:noFill/>
                </a:ln>
                <a:solidFill>
                  <a:srgbClr val="001D35"/>
                </a:solidFill>
                <a:latin typeface="Google Sans"/>
              </a:rPr>
            </a:br>
            <a:br>
              <a:rPr lang="en-US" altLang="en-US" dirty="0">
                <a:ln>
                  <a:noFill/>
                </a:ln>
                <a:solidFill>
                  <a:srgbClr val="001D35"/>
                </a:solidFill>
                <a:latin typeface="Google Sans"/>
              </a:rPr>
            </a:br>
            <a:r>
              <a:rPr lang="en-US" altLang="en-US" sz="5400" dirty="0">
                <a:ln>
                  <a:noFill/>
                </a:ln>
                <a:solidFill>
                  <a:srgbClr val="001D35"/>
                </a:solidFill>
                <a:latin typeface="Google Sans"/>
              </a:rPr>
              <a:t> </a:t>
            </a:r>
            <a:br>
              <a:rPr lang="en-US" altLang="en-US" sz="2400" dirty="0">
                <a:ln>
                  <a:noFill/>
                </a:ln>
                <a:solidFill>
                  <a:schemeClr val="tx1"/>
                </a:solidFill>
              </a:rPr>
            </a:br>
            <a:endParaRPr lang="en-IN" dirty="0"/>
          </a:p>
        </p:txBody>
      </p:sp>
    </p:spTree>
    <p:extLst>
      <p:ext uri="{BB962C8B-B14F-4D97-AF65-F5344CB8AC3E}">
        <p14:creationId xmlns:p14="http://schemas.microsoft.com/office/powerpoint/2010/main" val="3166921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2C4DF-4FDF-30F2-E756-F6F6E82AD8A0}"/>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Who coined the term "United Nations"?</a:t>
            </a:r>
            <a:r>
              <a:rPr lang="en-US" altLang="en-US" dirty="0">
                <a:ln>
                  <a:noFill/>
                </a:ln>
                <a:solidFill>
                  <a:srgbClr val="001D35"/>
                </a:solidFill>
                <a:latin typeface="Google Sans"/>
              </a:rPr>
              <a:t> </a:t>
            </a:r>
            <a:br>
              <a:rPr lang="en-US" altLang="en-US" dirty="0">
                <a:ln>
                  <a:noFill/>
                </a:ln>
                <a:solidFill>
                  <a:srgbClr val="001D35"/>
                </a:solidFill>
                <a:latin typeface="Google Sans"/>
              </a:rPr>
            </a:br>
            <a:endParaRPr lang="en-IN" dirty="0"/>
          </a:p>
        </p:txBody>
      </p:sp>
      <p:sp>
        <p:nvSpPr>
          <p:cNvPr id="3" name="Content Placeholder 2">
            <a:extLst>
              <a:ext uri="{FF2B5EF4-FFF2-40B4-BE49-F238E27FC236}">
                <a16:creationId xmlns:a16="http://schemas.microsoft.com/office/drawing/2014/main" id="{494E0426-E99E-F387-7684-E4B2834178C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26354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891C-07AE-72CA-4B7B-30C57EB52995}"/>
              </a:ext>
            </a:extLst>
          </p:cNvPr>
          <p:cNvSpPr>
            <a:spLocks noGrp="1"/>
          </p:cNvSpPr>
          <p:nvPr>
            <p:ph type="title"/>
          </p:nvPr>
        </p:nvSpPr>
        <p:spPr/>
        <p:txBody>
          <a:bodyPr>
            <a:normAutofit fontScale="90000"/>
          </a:bodyPr>
          <a:lstStyle/>
          <a:p>
            <a:r>
              <a:rPr lang="en-US" altLang="en-US" dirty="0">
                <a:ln>
                  <a:noFill/>
                </a:ln>
                <a:solidFill>
                  <a:srgbClr val="001D35"/>
                </a:solidFill>
                <a:latin typeface="Google Sans"/>
              </a:rPr>
              <a:t>President Franklin D. Roosevelt is credited with coining the term "United Nations". </a:t>
            </a:r>
            <a:endParaRPr lang="en-IN" dirty="0"/>
          </a:p>
        </p:txBody>
      </p:sp>
      <p:sp>
        <p:nvSpPr>
          <p:cNvPr id="3" name="Content Placeholder 2">
            <a:extLst>
              <a:ext uri="{FF2B5EF4-FFF2-40B4-BE49-F238E27FC236}">
                <a16:creationId xmlns:a16="http://schemas.microsoft.com/office/drawing/2014/main" id="{A6CDD306-DFF5-1F2C-3BFE-473128A46E6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34544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AD834-28C3-5319-61EF-4CB4FFB36965}"/>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How many member states does the UN currently have?</a:t>
            </a:r>
            <a:r>
              <a:rPr lang="en-US" altLang="en-US" dirty="0">
                <a:ln>
                  <a:noFill/>
                </a:ln>
                <a:solidFill>
                  <a:srgbClr val="001D35"/>
                </a:solidFill>
                <a:latin typeface="Google Sans"/>
              </a:rPr>
              <a:t> </a:t>
            </a:r>
            <a:endParaRPr lang="en-IN" dirty="0"/>
          </a:p>
        </p:txBody>
      </p:sp>
      <p:sp>
        <p:nvSpPr>
          <p:cNvPr id="3" name="Content Placeholder 2">
            <a:extLst>
              <a:ext uri="{FF2B5EF4-FFF2-40B4-BE49-F238E27FC236}">
                <a16:creationId xmlns:a16="http://schemas.microsoft.com/office/drawing/2014/main" id="{3243D834-A5C6-F622-A151-CA6E64C4746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82532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B22C8-6404-574F-E424-AF533702FD8E}"/>
              </a:ext>
            </a:extLst>
          </p:cNvPr>
          <p:cNvSpPr>
            <a:spLocks noGrp="1"/>
          </p:cNvSpPr>
          <p:nvPr>
            <p:ph type="title"/>
          </p:nvPr>
        </p:nvSpPr>
        <p:spPr/>
        <p:txBody>
          <a:bodyPr>
            <a:normAutofit fontScale="90000"/>
          </a:bodyPr>
          <a:lstStyle/>
          <a:p>
            <a:r>
              <a:rPr lang="en-US" altLang="en-US" dirty="0">
                <a:ln>
                  <a:noFill/>
                </a:ln>
                <a:solidFill>
                  <a:srgbClr val="001D35"/>
                </a:solidFill>
                <a:latin typeface="Google Sans"/>
              </a:rPr>
              <a:t>The UN currently has 193 member states. </a:t>
            </a:r>
            <a:br>
              <a:rPr lang="en-US" altLang="en-US" dirty="0">
                <a:ln>
                  <a:noFill/>
                </a:ln>
                <a:solidFill>
                  <a:srgbClr val="001D35"/>
                </a:solidFill>
                <a:latin typeface="Google Sans"/>
              </a:rPr>
            </a:br>
            <a:endParaRPr lang="en-IN" dirty="0"/>
          </a:p>
        </p:txBody>
      </p:sp>
      <p:sp>
        <p:nvSpPr>
          <p:cNvPr id="3" name="Content Placeholder 2">
            <a:extLst>
              <a:ext uri="{FF2B5EF4-FFF2-40B4-BE49-F238E27FC236}">
                <a16:creationId xmlns:a16="http://schemas.microsoft.com/office/drawing/2014/main" id="{798E27F2-847F-053C-0B0D-EFB81DBECFB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84886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74154-48F4-C0A5-7AA3-AE8BC18C9578}"/>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Where is the headquarters of the United Nations located?</a:t>
            </a:r>
            <a:r>
              <a:rPr lang="en-US" altLang="en-US" dirty="0">
                <a:ln>
                  <a:noFill/>
                </a:ln>
                <a:solidFill>
                  <a:srgbClr val="001D35"/>
                </a:solidFill>
                <a:latin typeface="Google Sans"/>
              </a:rPr>
              <a:t> </a:t>
            </a:r>
            <a:endParaRPr lang="en-IN" dirty="0"/>
          </a:p>
        </p:txBody>
      </p:sp>
      <p:sp>
        <p:nvSpPr>
          <p:cNvPr id="3" name="Content Placeholder 2">
            <a:extLst>
              <a:ext uri="{FF2B5EF4-FFF2-40B4-BE49-F238E27FC236}">
                <a16:creationId xmlns:a16="http://schemas.microsoft.com/office/drawing/2014/main" id="{80DA2B6F-C825-D684-8660-E4E7E805033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87453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75E47-7FC0-314D-B157-916C1F807B90}"/>
              </a:ext>
            </a:extLst>
          </p:cNvPr>
          <p:cNvSpPr>
            <a:spLocks noGrp="1"/>
          </p:cNvSpPr>
          <p:nvPr>
            <p:ph type="title"/>
          </p:nvPr>
        </p:nvSpPr>
        <p:spPr/>
        <p:txBody>
          <a:bodyPr>
            <a:normAutofit fontScale="90000"/>
          </a:bodyPr>
          <a:lstStyle/>
          <a:p>
            <a:r>
              <a:rPr lang="en-US" altLang="en-US" dirty="0">
                <a:ln>
                  <a:noFill/>
                </a:ln>
                <a:solidFill>
                  <a:srgbClr val="001D35"/>
                </a:solidFill>
                <a:latin typeface="Google Sans"/>
              </a:rPr>
              <a:t>The main headquarters of the United Nations is located in New York, USA.</a:t>
            </a:r>
            <a:br>
              <a:rPr lang="en-US" altLang="en-US" dirty="0">
                <a:ln>
                  <a:noFill/>
                </a:ln>
                <a:solidFill>
                  <a:srgbClr val="001D35"/>
                </a:solidFill>
                <a:latin typeface="Google Sans"/>
              </a:rPr>
            </a:br>
            <a:endParaRPr lang="en-IN" dirty="0"/>
          </a:p>
        </p:txBody>
      </p:sp>
      <p:sp>
        <p:nvSpPr>
          <p:cNvPr id="3" name="Content Placeholder 2">
            <a:extLst>
              <a:ext uri="{FF2B5EF4-FFF2-40B4-BE49-F238E27FC236}">
                <a16:creationId xmlns:a16="http://schemas.microsoft.com/office/drawing/2014/main" id="{239A4951-D06A-AD44-78BB-AE566BAE5E7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96105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1DCC2-60AA-2ED1-DC37-C01767B310C3}"/>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How many countries signed the UN Charter in 1945?</a:t>
            </a:r>
            <a:r>
              <a:rPr lang="en-US" altLang="en-US" dirty="0">
                <a:ln>
                  <a:noFill/>
                </a:ln>
                <a:solidFill>
                  <a:srgbClr val="001D35"/>
                </a:solidFill>
                <a:latin typeface="Google Sans"/>
              </a:rPr>
              <a:t> </a:t>
            </a:r>
            <a:endParaRPr lang="en-IN" dirty="0"/>
          </a:p>
        </p:txBody>
      </p:sp>
      <p:sp>
        <p:nvSpPr>
          <p:cNvPr id="3" name="Content Placeholder 2">
            <a:extLst>
              <a:ext uri="{FF2B5EF4-FFF2-40B4-BE49-F238E27FC236}">
                <a16:creationId xmlns:a16="http://schemas.microsoft.com/office/drawing/2014/main" id="{F6E6EFF0-382F-9E44-ABB7-4D43750E709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40501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1A39E-E54D-CF73-E8B1-D396A240957E}"/>
              </a:ext>
            </a:extLst>
          </p:cNvPr>
          <p:cNvSpPr>
            <a:spLocks noGrp="1"/>
          </p:cNvSpPr>
          <p:nvPr>
            <p:ph type="title"/>
          </p:nvPr>
        </p:nvSpPr>
        <p:spPr/>
        <p:txBody>
          <a:bodyPr>
            <a:normAutofit fontScale="90000"/>
          </a:bodyPr>
          <a:lstStyle/>
          <a:p>
            <a:r>
              <a:rPr lang="en-US" altLang="en-US" dirty="0">
                <a:ln>
                  <a:noFill/>
                </a:ln>
                <a:solidFill>
                  <a:srgbClr val="001D35"/>
                </a:solidFill>
                <a:latin typeface="Google Sans"/>
              </a:rPr>
              <a:t>50 countries signed the UN Charter in 1945. </a:t>
            </a:r>
            <a:endParaRPr lang="en-IN" dirty="0"/>
          </a:p>
        </p:txBody>
      </p:sp>
      <p:sp>
        <p:nvSpPr>
          <p:cNvPr id="3" name="Content Placeholder 2">
            <a:extLst>
              <a:ext uri="{FF2B5EF4-FFF2-40B4-BE49-F238E27FC236}">
                <a16:creationId xmlns:a16="http://schemas.microsoft.com/office/drawing/2014/main" id="{64DC568D-25CB-26C6-2521-CB627D0D5D6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373544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D308C-2840-4C01-AF44-A07D5829E4F3}"/>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What are the main areas of the UN's work?</a:t>
            </a:r>
            <a:r>
              <a:rPr lang="en-US" altLang="en-US" dirty="0">
                <a:ln>
                  <a:noFill/>
                </a:ln>
                <a:solidFill>
                  <a:srgbClr val="001D35"/>
                </a:solidFill>
                <a:latin typeface="Google Sans"/>
              </a:rPr>
              <a:t> </a:t>
            </a:r>
            <a:br>
              <a:rPr lang="en-US" altLang="en-US" dirty="0">
                <a:ln>
                  <a:noFill/>
                </a:ln>
                <a:solidFill>
                  <a:srgbClr val="001D35"/>
                </a:solidFill>
                <a:latin typeface="Google Sans"/>
              </a:rPr>
            </a:br>
            <a:endParaRPr lang="en-IN" dirty="0"/>
          </a:p>
        </p:txBody>
      </p:sp>
      <p:sp>
        <p:nvSpPr>
          <p:cNvPr id="3" name="Content Placeholder 2">
            <a:extLst>
              <a:ext uri="{FF2B5EF4-FFF2-40B4-BE49-F238E27FC236}">
                <a16:creationId xmlns:a16="http://schemas.microsoft.com/office/drawing/2014/main" id="{D07644FB-F572-D10E-36F5-179CC76C966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515965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82FB-E5CC-5EAC-F1DB-6570AB9CD5E5}"/>
              </a:ext>
            </a:extLst>
          </p:cNvPr>
          <p:cNvSpPr>
            <a:spLocks noGrp="1"/>
          </p:cNvSpPr>
          <p:nvPr>
            <p:ph type="title"/>
          </p:nvPr>
        </p:nvSpPr>
        <p:spPr>
          <a:xfrm>
            <a:off x="1295402" y="982132"/>
            <a:ext cx="9601196" cy="4130642"/>
          </a:xfrm>
        </p:spPr>
        <p:txBody>
          <a:bodyPr>
            <a:normAutofit fontScale="90000"/>
          </a:bodyPr>
          <a:lstStyle/>
          <a:p>
            <a:r>
              <a:rPr lang="en-US" altLang="en-US" dirty="0">
                <a:ln>
                  <a:noFill/>
                </a:ln>
                <a:solidFill>
                  <a:srgbClr val="001D35"/>
                </a:solidFill>
                <a:latin typeface="Google Sans"/>
              </a:rPr>
              <a:t>The UN's work covers five main areas: maintaining international peace and security, protecting human rights, delivering humanitarian aid, supporting sustainable development and climate action, and upholding international law. </a:t>
            </a:r>
            <a:br>
              <a:rPr lang="en-US" altLang="en-US" dirty="0">
                <a:ln>
                  <a:noFill/>
                </a:ln>
                <a:solidFill>
                  <a:srgbClr val="001D35"/>
                </a:solidFill>
                <a:latin typeface="Google Sans"/>
              </a:rPr>
            </a:br>
            <a:endParaRPr lang="en-IN" dirty="0"/>
          </a:p>
        </p:txBody>
      </p:sp>
    </p:spTree>
    <p:extLst>
      <p:ext uri="{BB962C8B-B14F-4D97-AF65-F5344CB8AC3E}">
        <p14:creationId xmlns:p14="http://schemas.microsoft.com/office/powerpoint/2010/main" val="1858575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BDD6B-FFE0-F245-BF08-50F41E34A125}"/>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What is the name of the UN body that settles legal disputes between member states?</a:t>
            </a:r>
            <a:r>
              <a:rPr lang="en-US" altLang="en-US" dirty="0">
                <a:ln>
                  <a:noFill/>
                </a:ln>
                <a:solidFill>
                  <a:srgbClr val="001D35"/>
                </a:solidFill>
                <a:latin typeface="Google Sans"/>
              </a:rPr>
              <a:t> </a:t>
            </a:r>
            <a:br>
              <a:rPr lang="en-US" altLang="en-US" dirty="0">
                <a:ln>
                  <a:noFill/>
                </a:ln>
                <a:solidFill>
                  <a:srgbClr val="001D35"/>
                </a:solidFill>
                <a:latin typeface="Google Sans"/>
              </a:rPr>
            </a:br>
            <a:endParaRPr lang="en-IN" dirty="0"/>
          </a:p>
        </p:txBody>
      </p:sp>
      <p:sp>
        <p:nvSpPr>
          <p:cNvPr id="3" name="Content Placeholder 2">
            <a:extLst>
              <a:ext uri="{FF2B5EF4-FFF2-40B4-BE49-F238E27FC236}">
                <a16:creationId xmlns:a16="http://schemas.microsoft.com/office/drawing/2014/main" id="{0A87AC28-268C-CC9E-A15E-CD431A2B3BE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80258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C02FD-859B-DD0D-18D6-4EC6845710CD}"/>
              </a:ext>
            </a:extLst>
          </p:cNvPr>
          <p:cNvSpPr>
            <a:spLocks noGrp="1"/>
          </p:cNvSpPr>
          <p:nvPr>
            <p:ph type="title"/>
          </p:nvPr>
        </p:nvSpPr>
        <p:spPr/>
        <p:txBody>
          <a:bodyPr>
            <a:normAutofit fontScale="90000"/>
          </a:bodyPr>
          <a:lstStyle/>
          <a:p>
            <a:r>
              <a:rPr lang="en-US" altLang="en-US" dirty="0">
                <a:ln>
                  <a:noFill/>
                </a:ln>
                <a:solidFill>
                  <a:srgbClr val="001D35"/>
                </a:solidFill>
                <a:latin typeface="Google Sans"/>
              </a:rPr>
              <a:t>The International Court of Justice (ICJ) settles legal disputes between member states. </a:t>
            </a:r>
            <a:endParaRPr lang="en-IN" dirty="0"/>
          </a:p>
        </p:txBody>
      </p:sp>
      <p:sp>
        <p:nvSpPr>
          <p:cNvPr id="3" name="Content Placeholder 2">
            <a:extLst>
              <a:ext uri="{FF2B5EF4-FFF2-40B4-BE49-F238E27FC236}">
                <a16:creationId xmlns:a16="http://schemas.microsoft.com/office/drawing/2014/main" id="{F9E8F8FD-1FA8-CD16-6069-7F7F772898A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61931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36C3-702F-4141-6F4A-6FD825E8B0DF}"/>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What are the six principal organs of the UN?</a:t>
            </a:r>
            <a:r>
              <a:rPr lang="en-US" altLang="en-US" dirty="0">
                <a:ln>
                  <a:noFill/>
                </a:ln>
                <a:solidFill>
                  <a:srgbClr val="001D35"/>
                </a:solidFill>
                <a:latin typeface="Google Sans"/>
              </a:rPr>
              <a:t> </a:t>
            </a:r>
            <a:br>
              <a:rPr lang="en-US" altLang="en-US" dirty="0">
                <a:ln>
                  <a:noFill/>
                </a:ln>
                <a:solidFill>
                  <a:srgbClr val="001D35"/>
                </a:solidFill>
                <a:latin typeface="Google Sans"/>
              </a:rPr>
            </a:br>
            <a:endParaRPr lang="en-IN" dirty="0"/>
          </a:p>
        </p:txBody>
      </p:sp>
      <p:sp>
        <p:nvSpPr>
          <p:cNvPr id="3" name="Content Placeholder 2">
            <a:extLst>
              <a:ext uri="{FF2B5EF4-FFF2-40B4-BE49-F238E27FC236}">
                <a16:creationId xmlns:a16="http://schemas.microsoft.com/office/drawing/2014/main" id="{CC72A011-67F2-2AC6-DB56-D30B97A5407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9781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EA06F-FAD7-16C5-E1EC-BFD3B65038C8}"/>
              </a:ext>
            </a:extLst>
          </p:cNvPr>
          <p:cNvSpPr>
            <a:spLocks noGrp="1"/>
          </p:cNvSpPr>
          <p:nvPr>
            <p:ph type="title"/>
          </p:nvPr>
        </p:nvSpPr>
        <p:spPr>
          <a:xfrm>
            <a:off x="1295402" y="1218106"/>
            <a:ext cx="9601196" cy="2970436"/>
          </a:xfrm>
        </p:spPr>
        <p:txBody>
          <a:bodyPr>
            <a:normAutofit fontScale="90000"/>
          </a:bodyPr>
          <a:lstStyle/>
          <a:p>
            <a:r>
              <a:rPr lang="en-US" altLang="en-US" dirty="0">
                <a:ln>
                  <a:noFill/>
                </a:ln>
                <a:solidFill>
                  <a:srgbClr val="001D35"/>
                </a:solidFill>
                <a:latin typeface="Google Sans"/>
              </a:rPr>
              <a:t>The six principal organs are the General Assembly, the Security Council, the Economic and Social Council, the Trusteeship Council, the International Court of Justice, and the UN Secretariat. </a:t>
            </a:r>
            <a:endParaRPr lang="en-IN" dirty="0"/>
          </a:p>
        </p:txBody>
      </p:sp>
    </p:spTree>
    <p:extLst>
      <p:ext uri="{BB962C8B-B14F-4D97-AF65-F5344CB8AC3E}">
        <p14:creationId xmlns:p14="http://schemas.microsoft.com/office/powerpoint/2010/main" val="175010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3746C-2E3B-962B-E7F1-D657634F21D8}"/>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Which UN organ has primary responsibility for maintaining international peace and security?</a:t>
            </a:r>
            <a:r>
              <a:rPr lang="en-US" altLang="en-US" dirty="0">
                <a:ln>
                  <a:noFill/>
                </a:ln>
                <a:solidFill>
                  <a:srgbClr val="001D35"/>
                </a:solidFill>
                <a:latin typeface="Google Sans"/>
              </a:rPr>
              <a:t> </a:t>
            </a:r>
            <a:br>
              <a:rPr lang="en-US" altLang="en-US" dirty="0">
                <a:ln>
                  <a:noFill/>
                </a:ln>
                <a:solidFill>
                  <a:srgbClr val="001D35"/>
                </a:solidFill>
                <a:latin typeface="Google Sans"/>
              </a:rPr>
            </a:br>
            <a:endParaRPr lang="en-IN" dirty="0"/>
          </a:p>
        </p:txBody>
      </p:sp>
      <p:sp>
        <p:nvSpPr>
          <p:cNvPr id="3" name="Content Placeholder 2">
            <a:extLst>
              <a:ext uri="{FF2B5EF4-FFF2-40B4-BE49-F238E27FC236}">
                <a16:creationId xmlns:a16="http://schemas.microsoft.com/office/drawing/2014/main" id="{FC2A8420-067D-E35D-11CE-1A2C9890FEB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22066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12D31-DAB3-F759-AA79-3D4E1B46A44A}"/>
              </a:ext>
            </a:extLst>
          </p:cNvPr>
          <p:cNvSpPr>
            <a:spLocks noGrp="1"/>
          </p:cNvSpPr>
          <p:nvPr>
            <p:ph type="title"/>
          </p:nvPr>
        </p:nvSpPr>
        <p:spPr/>
        <p:txBody>
          <a:bodyPr>
            <a:normAutofit fontScale="90000"/>
          </a:bodyPr>
          <a:lstStyle/>
          <a:p>
            <a:r>
              <a:rPr lang="en-US" altLang="en-US" dirty="0">
                <a:ln>
                  <a:noFill/>
                </a:ln>
                <a:solidFill>
                  <a:srgbClr val="001D35"/>
                </a:solidFill>
                <a:latin typeface="Google Sans"/>
              </a:rPr>
              <a:t>The Security Council is responsible for maintaining international peace and security. </a:t>
            </a:r>
            <a:endParaRPr lang="en-IN" dirty="0"/>
          </a:p>
        </p:txBody>
      </p:sp>
      <p:sp>
        <p:nvSpPr>
          <p:cNvPr id="3" name="Content Placeholder 2">
            <a:extLst>
              <a:ext uri="{FF2B5EF4-FFF2-40B4-BE49-F238E27FC236}">
                <a16:creationId xmlns:a16="http://schemas.microsoft.com/office/drawing/2014/main" id="{CDBCC098-ACC2-DF68-972A-67BBADC9E11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548339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3CA67-C1E2-C38C-A448-978E4CFDA0B5}"/>
              </a:ext>
            </a:extLst>
          </p:cNvPr>
          <p:cNvSpPr>
            <a:spLocks noGrp="1"/>
          </p:cNvSpPr>
          <p:nvPr>
            <p:ph type="title"/>
          </p:nvPr>
        </p:nvSpPr>
        <p:spPr/>
        <p:txBody>
          <a:bodyPr>
            <a:normAutofit fontScale="90000"/>
          </a:bodyPr>
          <a:lstStyle/>
          <a:p>
            <a:r>
              <a:rPr lang="en-US" altLang="en-US" b="1" dirty="0">
                <a:ln>
                  <a:noFill/>
                </a:ln>
                <a:solidFill>
                  <a:srgbClr val="001D35"/>
                </a:solidFill>
                <a:latin typeface="Google Sans"/>
              </a:rPr>
              <a:t>How many official languages does the UN have?</a:t>
            </a:r>
            <a:r>
              <a:rPr lang="en-US" altLang="en-US" dirty="0">
                <a:ln>
                  <a:noFill/>
                </a:ln>
                <a:solidFill>
                  <a:srgbClr val="001D35"/>
                </a:solidFill>
                <a:latin typeface="Google Sans"/>
              </a:rPr>
              <a:t> . </a:t>
            </a:r>
            <a:endParaRPr lang="en-IN" dirty="0"/>
          </a:p>
        </p:txBody>
      </p:sp>
      <p:sp>
        <p:nvSpPr>
          <p:cNvPr id="3" name="Content Placeholder 2">
            <a:extLst>
              <a:ext uri="{FF2B5EF4-FFF2-40B4-BE49-F238E27FC236}">
                <a16:creationId xmlns:a16="http://schemas.microsoft.com/office/drawing/2014/main" id="{13226F41-35C3-3696-2512-F4053A2A4DF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47971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AA85E-CE96-0C3F-72CE-98A7B7DE1FDB}"/>
              </a:ext>
            </a:extLst>
          </p:cNvPr>
          <p:cNvSpPr>
            <a:spLocks noGrp="1"/>
          </p:cNvSpPr>
          <p:nvPr>
            <p:ph type="title"/>
          </p:nvPr>
        </p:nvSpPr>
        <p:spPr/>
        <p:txBody>
          <a:bodyPr/>
          <a:lstStyle/>
          <a:p>
            <a:r>
              <a:rPr lang="en-US" altLang="en-US" dirty="0">
                <a:ln>
                  <a:noFill/>
                </a:ln>
                <a:solidFill>
                  <a:srgbClr val="001D35"/>
                </a:solidFill>
                <a:latin typeface="Google Sans"/>
              </a:rPr>
              <a:t>The UN has six official languages</a:t>
            </a:r>
            <a:endParaRPr lang="en-IN" dirty="0"/>
          </a:p>
        </p:txBody>
      </p:sp>
      <p:sp>
        <p:nvSpPr>
          <p:cNvPr id="3" name="Content Placeholder 2">
            <a:extLst>
              <a:ext uri="{FF2B5EF4-FFF2-40B4-BE49-F238E27FC236}">
                <a16:creationId xmlns:a16="http://schemas.microsoft.com/office/drawing/2014/main" id="{F59A44F7-4682-CDD2-D598-496C52E3303A}"/>
              </a:ext>
            </a:extLst>
          </p:cNvPr>
          <p:cNvSpPr>
            <a:spLocks noGrp="1"/>
          </p:cNvSpPr>
          <p:nvPr>
            <p:ph idx="1"/>
          </p:nvPr>
        </p:nvSpPr>
        <p:spPr/>
        <p:txBody>
          <a:bodyPr>
            <a:normAutofit/>
          </a:bodyPr>
          <a:lstStyle/>
          <a:p>
            <a:r>
              <a:rPr lang="en-US" sz="3600" b="1" dirty="0"/>
              <a:t>Arabic, Chinese, English, French, Russian and Spanish.</a:t>
            </a:r>
            <a:endParaRPr lang="en-IN" sz="3600" b="1" dirty="0"/>
          </a:p>
        </p:txBody>
      </p:sp>
    </p:spTree>
    <p:extLst>
      <p:ext uri="{BB962C8B-B14F-4D97-AF65-F5344CB8AC3E}">
        <p14:creationId xmlns:p14="http://schemas.microsoft.com/office/powerpoint/2010/main" val="2223854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D8FAD-36D2-DFF5-4B68-736DCE1E8E48}"/>
              </a:ext>
            </a:extLst>
          </p:cNvPr>
          <p:cNvSpPr>
            <a:spLocks noGrp="1"/>
          </p:cNvSpPr>
          <p:nvPr>
            <p:ph type="title"/>
          </p:nvPr>
        </p:nvSpPr>
        <p:spPr/>
        <p:txBody>
          <a:bodyPr/>
          <a:lstStyle/>
          <a:p>
            <a:r>
              <a:rPr lang="en-US" b="1" dirty="0"/>
              <a:t> What is the United Nations Charter?</a:t>
            </a:r>
            <a:endParaRPr lang="en-IN" dirty="0"/>
          </a:p>
        </p:txBody>
      </p:sp>
      <p:sp>
        <p:nvSpPr>
          <p:cNvPr id="3" name="Content Placeholder 2">
            <a:extLst>
              <a:ext uri="{FF2B5EF4-FFF2-40B4-BE49-F238E27FC236}">
                <a16:creationId xmlns:a16="http://schemas.microsoft.com/office/drawing/2014/main" id="{21352F30-DEC5-CF01-2B6B-1B7749C8816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07219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EEE5F-B02A-C917-2B78-9418E467CC1E}"/>
              </a:ext>
            </a:extLst>
          </p:cNvPr>
          <p:cNvSpPr>
            <a:spLocks noGrp="1"/>
          </p:cNvSpPr>
          <p:nvPr>
            <p:ph type="title"/>
          </p:nvPr>
        </p:nvSpPr>
        <p:spPr/>
        <p:txBody>
          <a:bodyPr/>
          <a:lstStyle/>
          <a:p>
            <a:r>
              <a:rPr lang="en-US" dirty="0"/>
              <a:t>A treaty, according to International Law.</a:t>
            </a:r>
            <a:endParaRPr lang="en-IN" dirty="0"/>
          </a:p>
        </p:txBody>
      </p:sp>
      <p:sp>
        <p:nvSpPr>
          <p:cNvPr id="3" name="Content Placeholder 2">
            <a:extLst>
              <a:ext uri="{FF2B5EF4-FFF2-40B4-BE49-F238E27FC236}">
                <a16:creationId xmlns:a16="http://schemas.microsoft.com/office/drawing/2014/main" id="{63DDEFE8-15C1-ECAA-1BF8-58D033D1CB5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784863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E96-676A-0F89-68C7-A4C515D40629}"/>
              </a:ext>
            </a:extLst>
          </p:cNvPr>
          <p:cNvSpPr>
            <a:spLocks noGrp="1"/>
          </p:cNvSpPr>
          <p:nvPr>
            <p:ph type="title"/>
          </p:nvPr>
        </p:nvSpPr>
        <p:spPr/>
        <p:txBody>
          <a:bodyPr>
            <a:normAutofit fontScale="90000"/>
          </a:bodyPr>
          <a:lstStyle/>
          <a:p>
            <a:r>
              <a:rPr lang="en-US" b="1" dirty="0"/>
              <a:t>When was the term 'United Nations' created?</a:t>
            </a:r>
            <a:endParaRPr lang="en-IN" dirty="0"/>
          </a:p>
        </p:txBody>
      </p:sp>
      <p:sp>
        <p:nvSpPr>
          <p:cNvPr id="3" name="Content Placeholder 2">
            <a:extLst>
              <a:ext uri="{FF2B5EF4-FFF2-40B4-BE49-F238E27FC236}">
                <a16:creationId xmlns:a16="http://schemas.microsoft.com/office/drawing/2014/main" id="{B07874D8-DE3B-41E9-17C9-8C8442E430B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960833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63590-15D5-A160-E551-B8A5185B5201}"/>
              </a:ext>
            </a:extLst>
          </p:cNvPr>
          <p:cNvSpPr>
            <a:spLocks noGrp="1"/>
          </p:cNvSpPr>
          <p:nvPr>
            <p:ph type="title"/>
          </p:nvPr>
        </p:nvSpPr>
        <p:spPr/>
        <p:txBody>
          <a:bodyPr/>
          <a:lstStyle/>
          <a:p>
            <a:r>
              <a:rPr lang="en-IN" dirty="0"/>
              <a:t>During World War II.</a:t>
            </a:r>
          </a:p>
        </p:txBody>
      </p:sp>
      <p:sp>
        <p:nvSpPr>
          <p:cNvPr id="3" name="Content Placeholder 2">
            <a:extLst>
              <a:ext uri="{FF2B5EF4-FFF2-40B4-BE49-F238E27FC236}">
                <a16:creationId xmlns:a16="http://schemas.microsoft.com/office/drawing/2014/main" id="{D13FD1FF-4EBD-4700-F6C3-5AFBD04E72C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29235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E35D3-45DE-8575-682A-5B0AF21D6D29}"/>
              </a:ext>
            </a:extLst>
          </p:cNvPr>
          <p:cNvSpPr>
            <a:spLocks noGrp="1"/>
          </p:cNvSpPr>
          <p:nvPr>
            <p:ph type="title"/>
          </p:nvPr>
        </p:nvSpPr>
        <p:spPr/>
        <p:txBody>
          <a:bodyPr>
            <a:normAutofit fontScale="90000"/>
          </a:bodyPr>
          <a:lstStyle/>
          <a:p>
            <a:r>
              <a:rPr lang="en-US" b="1" dirty="0"/>
              <a:t>Which is the name given to those countries?</a:t>
            </a:r>
            <a:endParaRPr lang="en-IN" dirty="0"/>
          </a:p>
        </p:txBody>
      </p:sp>
      <p:sp>
        <p:nvSpPr>
          <p:cNvPr id="3" name="Content Placeholder 2">
            <a:extLst>
              <a:ext uri="{FF2B5EF4-FFF2-40B4-BE49-F238E27FC236}">
                <a16:creationId xmlns:a16="http://schemas.microsoft.com/office/drawing/2014/main" id="{FDEADB18-10C7-73A9-35D4-4534A166E3C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116800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F102-7834-319E-7173-C4699A92C03B}"/>
              </a:ext>
            </a:extLst>
          </p:cNvPr>
          <p:cNvSpPr>
            <a:spLocks noGrp="1"/>
          </p:cNvSpPr>
          <p:nvPr>
            <p:ph type="title"/>
          </p:nvPr>
        </p:nvSpPr>
        <p:spPr/>
        <p:txBody>
          <a:bodyPr/>
          <a:lstStyle/>
          <a:p>
            <a:r>
              <a:rPr lang="en-IN" dirty="0"/>
              <a:t>Original members.</a:t>
            </a:r>
          </a:p>
        </p:txBody>
      </p:sp>
      <p:sp>
        <p:nvSpPr>
          <p:cNvPr id="3" name="Content Placeholder 2">
            <a:extLst>
              <a:ext uri="{FF2B5EF4-FFF2-40B4-BE49-F238E27FC236}">
                <a16:creationId xmlns:a16="http://schemas.microsoft.com/office/drawing/2014/main" id="{94FE656B-5C90-55CF-50E5-F5FD807EBA0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742635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AD898-08C6-6288-DE4D-8844CD8821DB}"/>
              </a:ext>
            </a:extLst>
          </p:cNvPr>
          <p:cNvSpPr>
            <a:spLocks noGrp="1"/>
          </p:cNvSpPr>
          <p:nvPr>
            <p:ph type="title"/>
          </p:nvPr>
        </p:nvSpPr>
        <p:spPr/>
        <p:txBody>
          <a:bodyPr>
            <a:normAutofit fontScale="90000"/>
          </a:bodyPr>
          <a:lstStyle/>
          <a:p>
            <a:r>
              <a:rPr lang="en-US" b="1" dirty="0"/>
              <a:t>Name the country which did not sign the Charter at San Francisco but is still considered an original member..</a:t>
            </a:r>
            <a:endParaRPr lang="en-IN" b="1" dirty="0"/>
          </a:p>
        </p:txBody>
      </p:sp>
      <p:sp>
        <p:nvSpPr>
          <p:cNvPr id="3" name="Content Placeholder 2">
            <a:extLst>
              <a:ext uri="{FF2B5EF4-FFF2-40B4-BE49-F238E27FC236}">
                <a16:creationId xmlns:a16="http://schemas.microsoft.com/office/drawing/2014/main" id="{765DF6CF-8360-C9B0-F4E6-00869A5F84E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07203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37390-EDBF-2858-33F7-0C3DA895572C}"/>
              </a:ext>
            </a:extLst>
          </p:cNvPr>
          <p:cNvSpPr>
            <a:spLocks noGrp="1"/>
          </p:cNvSpPr>
          <p:nvPr>
            <p:ph type="title"/>
          </p:nvPr>
        </p:nvSpPr>
        <p:spPr/>
        <p:txBody>
          <a:bodyPr>
            <a:normAutofit fontScale="90000"/>
          </a:bodyPr>
          <a:lstStyle/>
          <a:p>
            <a:r>
              <a:rPr lang="en-US" b="1" dirty="0"/>
              <a:t> Poland - which was not able to send a representative</a:t>
            </a:r>
            <a:endParaRPr lang="en-IN" b="1" dirty="0"/>
          </a:p>
        </p:txBody>
      </p:sp>
      <p:sp>
        <p:nvSpPr>
          <p:cNvPr id="3" name="Content Placeholder 2">
            <a:extLst>
              <a:ext uri="{FF2B5EF4-FFF2-40B4-BE49-F238E27FC236}">
                <a16:creationId xmlns:a16="http://schemas.microsoft.com/office/drawing/2014/main" id="{31D597BB-2E82-57ED-E055-92351CB09E8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587090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2FF6E-C98C-2242-BAD0-D928598C0D63}"/>
              </a:ext>
            </a:extLst>
          </p:cNvPr>
          <p:cNvSpPr>
            <a:spLocks noGrp="1"/>
          </p:cNvSpPr>
          <p:nvPr>
            <p:ph type="title"/>
          </p:nvPr>
        </p:nvSpPr>
        <p:spPr/>
        <p:txBody>
          <a:bodyPr>
            <a:normAutofit fontScale="90000"/>
          </a:bodyPr>
          <a:lstStyle/>
          <a:p>
            <a:r>
              <a:rPr lang="en-US" b="1" dirty="0"/>
              <a:t>What is the opening statement of the UN Charter?  </a:t>
            </a:r>
            <a:endParaRPr lang="en-IN" b="1" dirty="0"/>
          </a:p>
        </p:txBody>
      </p:sp>
      <p:sp>
        <p:nvSpPr>
          <p:cNvPr id="3" name="Content Placeholder 2">
            <a:extLst>
              <a:ext uri="{FF2B5EF4-FFF2-40B4-BE49-F238E27FC236}">
                <a16:creationId xmlns:a16="http://schemas.microsoft.com/office/drawing/2014/main" id="{2A9DE50E-F497-B7DF-3524-DBF4C180148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13647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A1EBB-A242-9B73-989A-A237AF3711E9}"/>
              </a:ext>
            </a:extLst>
          </p:cNvPr>
          <p:cNvSpPr>
            <a:spLocks noGrp="1"/>
          </p:cNvSpPr>
          <p:nvPr>
            <p:ph type="title"/>
          </p:nvPr>
        </p:nvSpPr>
        <p:spPr/>
        <p:txBody>
          <a:bodyPr>
            <a:normAutofit fontScale="90000"/>
          </a:bodyPr>
          <a:lstStyle/>
          <a:p>
            <a:r>
              <a:rPr lang="en-US" b="1" dirty="0"/>
              <a:t>“We the peoples of the United Nations determined to save succeeding generations from the scourge of war.”</a:t>
            </a:r>
            <a:endParaRPr lang="en-IN" b="1" dirty="0"/>
          </a:p>
        </p:txBody>
      </p:sp>
      <p:sp>
        <p:nvSpPr>
          <p:cNvPr id="3" name="Content Placeholder 2">
            <a:extLst>
              <a:ext uri="{FF2B5EF4-FFF2-40B4-BE49-F238E27FC236}">
                <a16:creationId xmlns:a16="http://schemas.microsoft.com/office/drawing/2014/main" id="{D7DB15FA-0230-FBA5-EA4B-28E3E4A594A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568756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F2367-B1DA-D674-8FE2-F0AC51F0B0AE}"/>
              </a:ext>
            </a:extLst>
          </p:cNvPr>
          <p:cNvSpPr>
            <a:spLocks noGrp="1"/>
          </p:cNvSpPr>
          <p:nvPr>
            <p:ph type="title"/>
          </p:nvPr>
        </p:nvSpPr>
        <p:spPr/>
        <p:txBody>
          <a:bodyPr>
            <a:normAutofit/>
          </a:bodyPr>
          <a:lstStyle/>
          <a:p>
            <a:r>
              <a:rPr lang="en-US" b="1" dirty="0"/>
              <a:t>Name the principal Organs of the UN.  </a:t>
            </a:r>
            <a:endParaRPr lang="en-IN" b="1" dirty="0"/>
          </a:p>
        </p:txBody>
      </p:sp>
      <p:sp>
        <p:nvSpPr>
          <p:cNvPr id="3" name="Content Placeholder 2">
            <a:extLst>
              <a:ext uri="{FF2B5EF4-FFF2-40B4-BE49-F238E27FC236}">
                <a16:creationId xmlns:a16="http://schemas.microsoft.com/office/drawing/2014/main" id="{05FCB5F2-DE39-5E9E-8813-CA12C89EE08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319721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6FEF4-9D4A-F669-402B-9D2831059BDA}"/>
              </a:ext>
            </a:extLst>
          </p:cNvPr>
          <p:cNvSpPr>
            <a:spLocks noGrp="1"/>
          </p:cNvSpPr>
          <p:nvPr>
            <p:ph type="title"/>
          </p:nvPr>
        </p:nvSpPr>
        <p:spPr/>
        <p:txBody>
          <a:bodyPr>
            <a:normAutofit fontScale="90000"/>
          </a:bodyPr>
          <a:lstStyle/>
          <a:p>
            <a:r>
              <a:rPr lang="en-US" b="1" dirty="0"/>
              <a:t>(</a:t>
            </a:r>
            <a:r>
              <a:rPr lang="en-US" b="1" dirty="0" err="1"/>
              <a:t>i</a:t>
            </a:r>
            <a:r>
              <a:rPr lang="en-US" b="1" dirty="0"/>
              <a:t>) General Assembly; (ii) Security Council; (iii) International Court of Justice; (iv) Economic and Social Council; and (v) Secretariat</a:t>
            </a:r>
            <a:endParaRPr lang="en-IN" b="1" dirty="0"/>
          </a:p>
        </p:txBody>
      </p:sp>
      <p:sp>
        <p:nvSpPr>
          <p:cNvPr id="3" name="Content Placeholder 2">
            <a:extLst>
              <a:ext uri="{FF2B5EF4-FFF2-40B4-BE49-F238E27FC236}">
                <a16:creationId xmlns:a16="http://schemas.microsoft.com/office/drawing/2014/main" id="{1F16CB0D-74AF-47EB-B9FE-2F60848A34D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05078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EEA4-044E-9DF9-F1ED-D574C2678E82}"/>
              </a:ext>
            </a:extLst>
          </p:cNvPr>
          <p:cNvSpPr>
            <a:spLocks noGrp="1"/>
          </p:cNvSpPr>
          <p:nvPr>
            <p:ph type="title"/>
          </p:nvPr>
        </p:nvSpPr>
        <p:spPr/>
        <p:txBody>
          <a:bodyPr>
            <a:normAutofit fontScale="90000"/>
          </a:bodyPr>
          <a:lstStyle/>
          <a:p>
            <a:r>
              <a:rPr lang="en-US" b="1" dirty="0"/>
              <a:t>When and how is the General Assembly called in Session?   </a:t>
            </a:r>
            <a:endParaRPr lang="en-IN" b="1" dirty="0"/>
          </a:p>
        </p:txBody>
      </p:sp>
      <p:sp>
        <p:nvSpPr>
          <p:cNvPr id="3" name="Content Placeholder 2">
            <a:extLst>
              <a:ext uri="{FF2B5EF4-FFF2-40B4-BE49-F238E27FC236}">
                <a16:creationId xmlns:a16="http://schemas.microsoft.com/office/drawing/2014/main" id="{EE6E2C37-34D5-4CD7-777F-714866B35EB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887467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80B5-36FB-CB26-303C-B4F40048A57B}"/>
              </a:ext>
            </a:extLst>
          </p:cNvPr>
          <p:cNvSpPr>
            <a:spLocks noGrp="1"/>
          </p:cNvSpPr>
          <p:nvPr>
            <p:ph type="title"/>
          </p:nvPr>
        </p:nvSpPr>
        <p:spPr/>
        <p:txBody>
          <a:bodyPr>
            <a:normAutofit fontScale="90000"/>
          </a:bodyPr>
          <a:lstStyle/>
          <a:p>
            <a:r>
              <a:rPr lang="en-US" b="1" dirty="0"/>
              <a:t>The General Assembly’s regular session begins each year on the third Tuesday in September and continues usually until mid-December.</a:t>
            </a:r>
            <a:endParaRPr lang="en-IN" b="1" dirty="0"/>
          </a:p>
        </p:txBody>
      </p:sp>
      <p:sp>
        <p:nvSpPr>
          <p:cNvPr id="3" name="Content Placeholder 2">
            <a:extLst>
              <a:ext uri="{FF2B5EF4-FFF2-40B4-BE49-F238E27FC236}">
                <a16:creationId xmlns:a16="http://schemas.microsoft.com/office/drawing/2014/main" id="{562CC9B6-74B7-EC49-A5D5-68046EFCC50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7480728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08042-40A7-66A6-150B-2E3A5C41E061}"/>
              </a:ext>
            </a:extLst>
          </p:cNvPr>
          <p:cNvSpPr>
            <a:spLocks noGrp="1"/>
          </p:cNvSpPr>
          <p:nvPr>
            <p:ph type="title"/>
          </p:nvPr>
        </p:nvSpPr>
        <p:spPr/>
        <p:txBody>
          <a:bodyPr>
            <a:normAutofit fontScale="90000"/>
          </a:bodyPr>
          <a:lstStyle/>
          <a:p>
            <a:r>
              <a:rPr lang="en-US" b="1" dirty="0"/>
              <a:t>Are the decisions of the General Assembly binding on the Governments?  </a:t>
            </a:r>
            <a:endParaRPr lang="en-IN" b="1" dirty="0"/>
          </a:p>
        </p:txBody>
      </p:sp>
      <p:sp>
        <p:nvSpPr>
          <p:cNvPr id="3" name="Content Placeholder 2">
            <a:extLst>
              <a:ext uri="{FF2B5EF4-FFF2-40B4-BE49-F238E27FC236}">
                <a16:creationId xmlns:a16="http://schemas.microsoft.com/office/drawing/2014/main" id="{D50A6775-74ED-7804-AAC8-2F999078D8A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358359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80F12-5CE2-18C8-0E6B-F197BF33418F}"/>
              </a:ext>
            </a:extLst>
          </p:cNvPr>
          <p:cNvSpPr>
            <a:spLocks noGrp="1"/>
          </p:cNvSpPr>
          <p:nvPr>
            <p:ph type="title"/>
          </p:nvPr>
        </p:nvSpPr>
        <p:spPr>
          <a:xfrm>
            <a:off x="1197080" y="2338984"/>
            <a:ext cx="9601196" cy="3318936"/>
          </a:xfrm>
        </p:spPr>
        <p:txBody>
          <a:bodyPr>
            <a:normAutofit fontScale="90000"/>
          </a:bodyPr>
          <a:lstStyle/>
          <a:p>
            <a:r>
              <a:rPr lang="en-US" b="1" dirty="0"/>
              <a:t>While the decisions of the GA have no legally binding force for Governments, they carry the weight of world opinion as well as the moral authority of the world community.</a:t>
            </a:r>
            <a:endParaRPr lang="en-IN" b="1" dirty="0"/>
          </a:p>
        </p:txBody>
      </p:sp>
    </p:spTree>
    <p:extLst>
      <p:ext uri="{BB962C8B-B14F-4D97-AF65-F5344CB8AC3E}">
        <p14:creationId xmlns:p14="http://schemas.microsoft.com/office/powerpoint/2010/main" val="39985357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950BF-3D14-74FF-D689-A567F779038C}"/>
              </a:ext>
            </a:extLst>
          </p:cNvPr>
          <p:cNvSpPr>
            <a:spLocks noGrp="1"/>
          </p:cNvSpPr>
          <p:nvPr>
            <p:ph type="title"/>
          </p:nvPr>
        </p:nvSpPr>
        <p:spPr/>
        <p:txBody>
          <a:bodyPr>
            <a:normAutofit fontScale="90000"/>
          </a:bodyPr>
          <a:lstStyle/>
          <a:p>
            <a:r>
              <a:rPr lang="en-US" b="1" dirty="0"/>
              <a:t>How many representatives can each country have in the General Assembly?  </a:t>
            </a:r>
            <a:endParaRPr lang="en-IN" b="1" dirty="0"/>
          </a:p>
        </p:txBody>
      </p:sp>
      <p:sp>
        <p:nvSpPr>
          <p:cNvPr id="3" name="Content Placeholder 2">
            <a:extLst>
              <a:ext uri="{FF2B5EF4-FFF2-40B4-BE49-F238E27FC236}">
                <a16:creationId xmlns:a16="http://schemas.microsoft.com/office/drawing/2014/main" id="{4DAB6111-9377-09D9-4E6F-611C6729D70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045246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2432-41BD-875B-B8C2-8C5BE0E50155}"/>
              </a:ext>
            </a:extLst>
          </p:cNvPr>
          <p:cNvSpPr>
            <a:spLocks noGrp="1"/>
          </p:cNvSpPr>
          <p:nvPr>
            <p:ph type="title"/>
          </p:nvPr>
        </p:nvSpPr>
        <p:spPr/>
        <p:txBody>
          <a:bodyPr/>
          <a:lstStyle/>
          <a:p>
            <a:r>
              <a:rPr lang="en-US" b="1" dirty="0"/>
              <a:t>Not more than five.</a:t>
            </a:r>
            <a:endParaRPr lang="en-IN" b="1" dirty="0"/>
          </a:p>
        </p:txBody>
      </p:sp>
      <p:sp>
        <p:nvSpPr>
          <p:cNvPr id="3" name="Content Placeholder 2">
            <a:extLst>
              <a:ext uri="{FF2B5EF4-FFF2-40B4-BE49-F238E27FC236}">
                <a16:creationId xmlns:a16="http://schemas.microsoft.com/office/drawing/2014/main" id="{9C4B24DA-F33C-EAAC-AD27-AB47167FEEF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117997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12E7-533A-560E-EB16-431AF1D0D3E8}"/>
              </a:ext>
            </a:extLst>
          </p:cNvPr>
          <p:cNvSpPr>
            <a:spLocks noGrp="1"/>
          </p:cNvSpPr>
          <p:nvPr>
            <p:ph type="title"/>
          </p:nvPr>
        </p:nvSpPr>
        <p:spPr/>
        <p:txBody>
          <a:bodyPr>
            <a:normAutofit fontScale="90000"/>
          </a:bodyPr>
          <a:lstStyle/>
          <a:p>
            <a:r>
              <a:rPr lang="en-US" b="1" dirty="0"/>
              <a:t>Does UN Charter provide for the suspension or expulsion of Member States?  </a:t>
            </a:r>
            <a:endParaRPr lang="en-IN" b="1" dirty="0"/>
          </a:p>
        </p:txBody>
      </p:sp>
      <p:sp>
        <p:nvSpPr>
          <p:cNvPr id="3" name="Content Placeholder 2">
            <a:extLst>
              <a:ext uri="{FF2B5EF4-FFF2-40B4-BE49-F238E27FC236}">
                <a16:creationId xmlns:a16="http://schemas.microsoft.com/office/drawing/2014/main" id="{9EE0483A-8D83-C1F6-66AF-AEA6FFBAD8D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411030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08EDD-5687-1C13-7D1B-41AB7C662FA6}"/>
              </a:ext>
            </a:extLst>
          </p:cNvPr>
          <p:cNvSpPr>
            <a:spLocks noGrp="1"/>
          </p:cNvSpPr>
          <p:nvPr>
            <p:ph type="title"/>
          </p:nvPr>
        </p:nvSpPr>
        <p:spPr/>
        <p:txBody>
          <a:bodyPr>
            <a:normAutofit fontScale="90000"/>
          </a:bodyPr>
          <a:lstStyle/>
          <a:p>
            <a:r>
              <a:rPr lang="en-US" b="1" dirty="0"/>
              <a:t>Yes, for violation of the principles of the Charter.</a:t>
            </a:r>
            <a:endParaRPr lang="en-IN" b="1" dirty="0"/>
          </a:p>
        </p:txBody>
      </p:sp>
      <p:sp>
        <p:nvSpPr>
          <p:cNvPr id="3" name="Content Placeholder 2">
            <a:extLst>
              <a:ext uri="{FF2B5EF4-FFF2-40B4-BE49-F238E27FC236}">
                <a16:creationId xmlns:a16="http://schemas.microsoft.com/office/drawing/2014/main" id="{082C5375-657C-E615-3251-CCF6167AADC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630215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A40A0-D8E1-3D6A-6093-3C6BF696CA59}"/>
              </a:ext>
            </a:extLst>
          </p:cNvPr>
          <p:cNvSpPr>
            <a:spLocks noGrp="1"/>
          </p:cNvSpPr>
          <p:nvPr>
            <p:ph type="title"/>
          </p:nvPr>
        </p:nvSpPr>
        <p:spPr/>
        <p:txBody>
          <a:bodyPr>
            <a:normAutofit fontScale="90000"/>
          </a:bodyPr>
          <a:lstStyle/>
          <a:p>
            <a:r>
              <a:rPr lang="en-US" b="1" dirty="0"/>
              <a:t>What is the main function of the Security Council ?</a:t>
            </a:r>
            <a:endParaRPr lang="en-IN" b="1" dirty="0"/>
          </a:p>
        </p:txBody>
      </p:sp>
      <p:sp>
        <p:nvSpPr>
          <p:cNvPr id="3" name="Content Placeholder 2">
            <a:extLst>
              <a:ext uri="{FF2B5EF4-FFF2-40B4-BE49-F238E27FC236}">
                <a16:creationId xmlns:a16="http://schemas.microsoft.com/office/drawing/2014/main" id="{D678122C-0C41-7234-9B7C-D51C4806DFD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2863053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B7613-8F39-D97E-681A-C991E61B647C}"/>
              </a:ext>
            </a:extLst>
          </p:cNvPr>
          <p:cNvSpPr>
            <a:spLocks noGrp="1"/>
          </p:cNvSpPr>
          <p:nvPr>
            <p:ph type="title"/>
          </p:nvPr>
        </p:nvSpPr>
        <p:spPr/>
        <p:txBody>
          <a:bodyPr>
            <a:normAutofit fontScale="90000"/>
          </a:bodyPr>
          <a:lstStyle/>
          <a:p>
            <a:r>
              <a:rPr lang="en-US" b="1" dirty="0"/>
              <a:t>maintenance of International Peace and Security.</a:t>
            </a:r>
            <a:endParaRPr lang="en-IN" b="1" dirty="0"/>
          </a:p>
        </p:txBody>
      </p:sp>
      <p:sp>
        <p:nvSpPr>
          <p:cNvPr id="3" name="Content Placeholder 2">
            <a:extLst>
              <a:ext uri="{FF2B5EF4-FFF2-40B4-BE49-F238E27FC236}">
                <a16:creationId xmlns:a16="http://schemas.microsoft.com/office/drawing/2014/main" id="{A128C2A9-E61B-AB8B-AF3C-C873AEC5C8B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999155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893F-8969-F4D6-29B3-7A24287B15FA}"/>
              </a:ext>
            </a:extLst>
          </p:cNvPr>
          <p:cNvSpPr>
            <a:spLocks noGrp="1"/>
          </p:cNvSpPr>
          <p:nvPr>
            <p:ph type="title"/>
          </p:nvPr>
        </p:nvSpPr>
        <p:spPr/>
        <p:txBody>
          <a:bodyPr>
            <a:normAutofit fontScale="90000"/>
          </a:bodyPr>
          <a:lstStyle/>
          <a:p>
            <a:r>
              <a:rPr lang="en-US" b="1" dirty="0"/>
              <a:t>Who are the members of the Security Council ?  </a:t>
            </a:r>
            <a:endParaRPr lang="en-IN" b="1" dirty="0"/>
          </a:p>
        </p:txBody>
      </p:sp>
      <p:sp>
        <p:nvSpPr>
          <p:cNvPr id="3" name="Content Placeholder 2">
            <a:extLst>
              <a:ext uri="{FF2B5EF4-FFF2-40B4-BE49-F238E27FC236}">
                <a16:creationId xmlns:a16="http://schemas.microsoft.com/office/drawing/2014/main" id="{5309C241-087C-FB45-DB70-6C8C8DFD36D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586624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875D1-FEF4-6F47-E215-80101F5ED28E}"/>
              </a:ext>
            </a:extLst>
          </p:cNvPr>
          <p:cNvSpPr>
            <a:spLocks noGrp="1"/>
          </p:cNvSpPr>
          <p:nvPr>
            <p:ph type="title"/>
          </p:nvPr>
        </p:nvSpPr>
        <p:spPr>
          <a:xfrm>
            <a:off x="1295402" y="2732274"/>
            <a:ext cx="9601196" cy="2351003"/>
          </a:xfrm>
        </p:spPr>
        <p:txBody>
          <a:bodyPr>
            <a:normAutofit fontScale="90000"/>
          </a:bodyPr>
          <a:lstStyle/>
          <a:p>
            <a:r>
              <a:rPr lang="en-US" b="1" dirty="0"/>
              <a:t>The Council has 15 members; five permanent members - China, France, The Russian Federation, UK and USA - and 10 elected by the General Assembly for 2 year terms.</a:t>
            </a:r>
            <a:endParaRPr lang="en-IN" b="1" dirty="0"/>
          </a:p>
        </p:txBody>
      </p:sp>
    </p:spTree>
    <p:extLst>
      <p:ext uri="{BB962C8B-B14F-4D97-AF65-F5344CB8AC3E}">
        <p14:creationId xmlns:p14="http://schemas.microsoft.com/office/powerpoint/2010/main" val="10065996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5504B-5212-8149-97C3-9409C57A2341}"/>
              </a:ext>
            </a:extLst>
          </p:cNvPr>
          <p:cNvSpPr>
            <a:spLocks noGrp="1"/>
          </p:cNvSpPr>
          <p:nvPr>
            <p:ph type="title"/>
          </p:nvPr>
        </p:nvSpPr>
        <p:spPr/>
        <p:txBody>
          <a:bodyPr/>
          <a:lstStyle/>
          <a:p>
            <a:r>
              <a:rPr lang="en-US" b="1" dirty="0"/>
              <a:t>What is the ‘Veto’ power?</a:t>
            </a:r>
            <a:endParaRPr lang="en-IN" b="1" dirty="0"/>
          </a:p>
        </p:txBody>
      </p:sp>
      <p:sp>
        <p:nvSpPr>
          <p:cNvPr id="3" name="Content Placeholder 2">
            <a:extLst>
              <a:ext uri="{FF2B5EF4-FFF2-40B4-BE49-F238E27FC236}">
                <a16:creationId xmlns:a16="http://schemas.microsoft.com/office/drawing/2014/main" id="{79D0D4EB-3E4C-9305-D311-6976CF89A78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558473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324C4-5722-F61A-B364-9900E14B3609}"/>
              </a:ext>
            </a:extLst>
          </p:cNvPr>
          <p:cNvSpPr>
            <a:spLocks noGrp="1"/>
          </p:cNvSpPr>
          <p:nvPr>
            <p:ph type="title"/>
          </p:nvPr>
        </p:nvSpPr>
        <p:spPr/>
        <p:txBody>
          <a:bodyPr>
            <a:normAutofit fontScale="90000"/>
          </a:bodyPr>
          <a:lstStyle/>
          <a:p>
            <a:r>
              <a:rPr lang="en-US" b="1" dirty="0"/>
              <a:t>The power to Veto any decision by a negative vote in the Security Council.</a:t>
            </a:r>
            <a:endParaRPr lang="en-IN" b="1" dirty="0"/>
          </a:p>
        </p:txBody>
      </p:sp>
      <p:sp>
        <p:nvSpPr>
          <p:cNvPr id="3" name="Content Placeholder 2">
            <a:extLst>
              <a:ext uri="{FF2B5EF4-FFF2-40B4-BE49-F238E27FC236}">
                <a16:creationId xmlns:a16="http://schemas.microsoft.com/office/drawing/2014/main" id="{78598839-E11F-C6EA-812E-4563460580B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010283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827E1-13A4-B472-11AE-BFEE9F7C6C0E}"/>
              </a:ext>
            </a:extLst>
          </p:cNvPr>
          <p:cNvSpPr>
            <a:spLocks noGrp="1"/>
          </p:cNvSpPr>
          <p:nvPr>
            <p:ph type="title"/>
          </p:nvPr>
        </p:nvSpPr>
        <p:spPr/>
        <p:txBody>
          <a:bodyPr>
            <a:normAutofit fontScale="90000"/>
          </a:bodyPr>
          <a:lstStyle/>
          <a:p>
            <a:r>
              <a:rPr lang="en-US" b="1" dirty="0"/>
              <a:t>Who elects non-permanent members of the Security Council?</a:t>
            </a:r>
            <a:endParaRPr lang="en-IN" b="1" dirty="0"/>
          </a:p>
        </p:txBody>
      </p:sp>
      <p:sp>
        <p:nvSpPr>
          <p:cNvPr id="3" name="Content Placeholder 2">
            <a:extLst>
              <a:ext uri="{FF2B5EF4-FFF2-40B4-BE49-F238E27FC236}">
                <a16:creationId xmlns:a16="http://schemas.microsoft.com/office/drawing/2014/main" id="{0E1AD81E-FB77-83CB-D9F6-51714E05903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293261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4FAAF-2D95-8C47-15EF-A5BE9BD90563}"/>
              </a:ext>
            </a:extLst>
          </p:cNvPr>
          <p:cNvSpPr>
            <a:spLocks noGrp="1"/>
          </p:cNvSpPr>
          <p:nvPr>
            <p:ph type="title"/>
          </p:nvPr>
        </p:nvSpPr>
        <p:spPr/>
        <p:txBody>
          <a:bodyPr/>
          <a:lstStyle/>
          <a:p>
            <a:r>
              <a:rPr lang="en-IN" b="1" dirty="0"/>
              <a:t>The UN General Assembly.</a:t>
            </a:r>
          </a:p>
        </p:txBody>
      </p:sp>
      <p:sp>
        <p:nvSpPr>
          <p:cNvPr id="3" name="Content Placeholder 2">
            <a:extLst>
              <a:ext uri="{FF2B5EF4-FFF2-40B4-BE49-F238E27FC236}">
                <a16:creationId xmlns:a16="http://schemas.microsoft.com/office/drawing/2014/main" id="{563D912B-5238-E2E3-2430-BB93BBC4D5F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342559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B970F-C2C3-C162-43AF-08D855B203F1}"/>
              </a:ext>
            </a:extLst>
          </p:cNvPr>
          <p:cNvSpPr>
            <a:spLocks noGrp="1"/>
          </p:cNvSpPr>
          <p:nvPr>
            <p:ph type="title"/>
          </p:nvPr>
        </p:nvSpPr>
        <p:spPr/>
        <p:txBody>
          <a:bodyPr>
            <a:normAutofit fontScale="90000"/>
          </a:bodyPr>
          <a:lstStyle/>
          <a:p>
            <a:r>
              <a:rPr lang="en-US" b="1" dirty="0"/>
              <a:t>Can the Security Council meet elsewhere than at its Headquarters in New York and has it so far met elsewhere?  </a:t>
            </a:r>
            <a:endParaRPr lang="en-IN" b="1" dirty="0"/>
          </a:p>
        </p:txBody>
      </p:sp>
      <p:sp>
        <p:nvSpPr>
          <p:cNvPr id="3" name="Content Placeholder 2">
            <a:extLst>
              <a:ext uri="{FF2B5EF4-FFF2-40B4-BE49-F238E27FC236}">
                <a16:creationId xmlns:a16="http://schemas.microsoft.com/office/drawing/2014/main" id="{8F73B104-BE37-6539-4F94-982D7901853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889102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66B0F-8FD4-7196-300B-329E54D3DF88}"/>
              </a:ext>
            </a:extLst>
          </p:cNvPr>
          <p:cNvSpPr>
            <a:spLocks noGrp="1"/>
          </p:cNvSpPr>
          <p:nvPr>
            <p:ph type="title"/>
          </p:nvPr>
        </p:nvSpPr>
        <p:spPr/>
        <p:txBody>
          <a:bodyPr>
            <a:normAutofit fontScale="90000"/>
          </a:bodyPr>
          <a:lstStyle/>
          <a:p>
            <a:r>
              <a:rPr lang="en-US" b="1" dirty="0"/>
              <a:t>Yes, in 1972 in Addis Ababa, Ethiopia and in 1973 in Panama City, Panama</a:t>
            </a:r>
            <a:endParaRPr lang="en-IN" b="1" dirty="0"/>
          </a:p>
        </p:txBody>
      </p:sp>
      <p:sp>
        <p:nvSpPr>
          <p:cNvPr id="3" name="Content Placeholder 2">
            <a:extLst>
              <a:ext uri="{FF2B5EF4-FFF2-40B4-BE49-F238E27FC236}">
                <a16:creationId xmlns:a16="http://schemas.microsoft.com/office/drawing/2014/main" id="{D1898364-3B53-AB1A-9779-D3CAC2C20CB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997459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CB4D-8667-05BC-7DB4-02D9ECDBD0BF}"/>
              </a:ext>
            </a:extLst>
          </p:cNvPr>
          <p:cNvSpPr>
            <a:spLocks noGrp="1"/>
          </p:cNvSpPr>
          <p:nvPr>
            <p:ph type="title"/>
          </p:nvPr>
        </p:nvSpPr>
        <p:spPr/>
        <p:txBody>
          <a:bodyPr>
            <a:normAutofit fontScale="90000"/>
          </a:bodyPr>
          <a:lstStyle/>
          <a:p>
            <a:r>
              <a:rPr lang="en-US" b="1" dirty="0"/>
              <a:t>How is the President of the Security Council elected?  </a:t>
            </a:r>
            <a:endParaRPr lang="en-IN" b="1" dirty="0"/>
          </a:p>
        </p:txBody>
      </p:sp>
      <p:sp>
        <p:nvSpPr>
          <p:cNvPr id="3" name="Content Placeholder 2">
            <a:extLst>
              <a:ext uri="{FF2B5EF4-FFF2-40B4-BE49-F238E27FC236}">
                <a16:creationId xmlns:a16="http://schemas.microsoft.com/office/drawing/2014/main" id="{E30CD2F4-4E12-9732-A05D-A6A100262F4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890117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197E4-9A0D-67B1-E985-E5CB33801CC3}"/>
              </a:ext>
            </a:extLst>
          </p:cNvPr>
          <p:cNvSpPr>
            <a:spLocks noGrp="1"/>
          </p:cNvSpPr>
          <p:nvPr>
            <p:ph type="title"/>
          </p:nvPr>
        </p:nvSpPr>
        <p:spPr/>
        <p:txBody>
          <a:bodyPr>
            <a:normAutofit fontScale="90000"/>
          </a:bodyPr>
          <a:lstStyle/>
          <a:p>
            <a:r>
              <a:rPr lang="en-US" b="1" dirty="0"/>
              <a:t>The members take monthly turn in the presidency in English alphabetical order.</a:t>
            </a:r>
            <a:endParaRPr lang="en-IN" b="1" dirty="0"/>
          </a:p>
        </p:txBody>
      </p:sp>
      <p:sp>
        <p:nvSpPr>
          <p:cNvPr id="3" name="Content Placeholder 2">
            <a:extLst>
              <a:ext uri="{FF2B5EF4-FFF2-40B4-BE49-F238E27FC236}">
                <a16:creationId xmlns:a16="http://schemas.microsoft.com/office/drawing/2014/main" id="{9D46B353-93AB-A5E8-18D3-85C248AA202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788636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022EC-ADE6-22C2-CF84-7998ADCA7CBA}"/>
              </a:ext>
            </a:extLst>
          </p:cNvPr>
          <p:cNvSpPr>
            <a:spLocks noGrp="1"/>
          </p:cNvSpPr>
          <p:nvPr>
            <p:ph type="title"/>
          </p:nvPr>
        </p:nvSpPr>
        <p:spPr/>
        <p:txBody>
          <a:bodyPr>
            <a:normAutofit fontScale="90000"/>
          </a:bodyPr>
          <a:lstStyle/>
          <a:p>
            <a:r>
              <a:rPr lang="en-US" b="1" dirty="0"/>
              <a:t>What and where is the International Court of Justice?</a:t>
            </a:r>
            <a:endParaRPr lang="en-IN" b="1" dirty="0"/>
          </a:p>
        </p:txBody>
      </p:sp>
      <p:sp>
        <p:nvSpPr>
          <p:cNvPr id="3" name="Content Placeholder 2">
            <a:extLst>
              <a:ext uri="{FF2B5EF4-FFF2-40B4-BE49-F238E27FC236}">
                <a16:creationId xmlns:a16="http://schemas.microsoft.com/office/drawing/2014/main" id="{1648E0FF-9604-28C1-B7EC-A4E7081046F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832244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9FDB0-AAF0-B78C-A3ED-3CFF277794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E6FBF2-E73A-5588-2E1F-31E106066907}"/>
              </a:ext>
            </a:extLst>
          </p:cNvPr>
          <p:cNvSpPr>
            <a:spLocks noGrp="1"/>
          </p:cNvSpPr>
          <p:nvPr>
            <p:ph idx="1"/>
          </p:nvPr>
        </p:nvSpPr>
        <p:spPr/>
        <p:txBody>
          <a:bodyPr>
            <a:normAutofit/>
          </a:bodyPr>
          <a:lstStyle/>
          <a:p>
            <a:r>
              <a:rPr lang="en-US" sz="3200" b="1" dirty="0"/>
              <a:t>The International Court of Justice is the judicial organ of the United Nations. It only deals with cases brought by nations, not individuals. It consists of 15 Judges. The court sits in permanent session at The Hague, Netherlands</a:t>
            </a:r>
            <a:endParaRPr lang="en-IN" sz="3200" b="1" dirty="0"/>
          </a:p>
        </p:txBody>
      </p:sp>
    </p:spTree>
    <p:extLst>
      <p:ext uri="{BB962C8B-B14F-4D97-AF65-F5344CB8AC3E}">
        <p14:creationId xmlns:p14="http://schemas.microsoft.com/office/powerpoint/2010/main" val="42094542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610F7-ACFF-2B58-B92E-CD56E186C802}"/>
              </a:ext>
            </a:extLst>
          </p:cNvPr>
          <p:cNvSpPr>
            <a:spLocks noGrp="1"/>
          </p:cNvSpPr>
          <p:nvPr>
            <p:ph type="title"/>
          </p:nvPr>
        </p:nvSpPr>
        <p:spPr/>
        <p:txBody>
          <a:bodyPr>
            <a:normAutofit fontScale="90000"/>
          </a:bodyPr>
          <a:lstStyle/>
          <a:p>
            <a:r>
              <a:rPr lang="en-US" b="1" dirty="0"/>
              <a:t>Who appoints the UN Secretary-General and what is his diplomatic status?  </a:t>
            </a:r>
            <a:endParaRPr lang="en-IN" b="1" dirty="0"/>
          </a:p>
        </p:txBody>
      </p:sp>
      <p:sp>
        <p:nvSpPr>
          <p:cNvPr id="3" name="Content Placeholder 2">
            <a:extLst>
              <a:ext uri="{FF2B5EF4-FFF2-40B4-BE49-F238E27FC236}">
                <a16:creationId xmlns:a16="http://schemas.microsoft.com/office/drawing/2014/main" id="{64FC4A5D-6F17-D419-FA03-289D9EBB40A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238584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D751D-E59B-899A-742A-F488AF3BC991}"/>
              </a:ext>
            </a:extLst>
          </p:cNvPr>
          <p:cNvSpPr>
            <a:spLocks noGrp="1"/>
          </p:cNvSpPr>
          <p:nvPr>
            <p:ph type="title"/>
          </p:nvPr>
        </p:nvSpPr>
        <p:spPr/>
        <p:txBody>
          <a:bodyPr>
            <a:normAutofit fontScale="90000"/>
          </a:bodyPr>
          <a:lstStyle/>
          <a:p>
            <a:r>
              <a:rPr lang="en-US" b="1" dirty="0"/>
              <a:t>The General Assembly appoints on the recommendation of the Security Council. He holds the status of a Head of the State.</a:t>
            </a:r>
            <a:endParaRPr lang="en-IN" b="1" dirty="0"/>
          </a:p>
        </p:txBody>
      </p:sp>
      <p:sp>
        <p:nvSpPr>
          <p:cNvPr id="3" name="Content Placeholder 2">
            <a:extLst>
              <a:ext uri="{FF2B5EF4-FFF2-40B4-BE49-F238E27FC236}">
                <a16:creationId xmlns:a16="http://schemas.microsoft.com/office/drawing/2014/main" id="{D73DAF88-1B97-0CA5-A0D1-125BB93CA8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108439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430B-9F70-257B-2249-9FB1B0F5C7C4}"/>
              </a:ext>
            </a:extLst>
          </p:cNvPr>
          <p:cNvSpPr>
            <a:spLocks noGrp="1"/>
          </p:cNvSpPr>
          <p:nvPr>
            <p:ph type="title"/>
          </p:nvPr>
        </p:nvSpPr>
        <p:spPr/>
        <p:txBody>
          <a:bodyPr>
            <a:normAutofit/>
          </a:bodyPr>
          <a:lstStyle/>
          <a:p>
            <a:r>
              <a:rPr lang="en-US" b="1" dirty="0"/>
              <a:t>What is the tenure of his office?  </a:t>
            </a:r>
            <a:endParaRPr lang="en-IN" b="1" dirty="0"/>
          </a:p>
        </p:txBody>
      </p:sp>
      <p:sp>
        <p:nvSpPr>
          <p:cNvPr id="3" name="Content Placeholder 2">
            <a:extLst>
              <a:ext uri="{FF2B5EF4-FFF2-40B4-BE49-F238E27FC236}">
                <a16:creationId xmlns:a16="http://schemas.microsoft.com/office/drawing/2014/main" id="{179A7B68-285D-3B97-5F2E-38896816481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92888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004F1-01E5-138F-4E16-C348F5C9F5BA}"/>
              </a:ext>
            </a:extLst>
          </p:cNvPr>
          <p:cNvSpPr>
            <a:spLocks noGrp="1"/>
          </p:cNvSpPr>
          <p:nvPr>
            <p:ph type="title"/>
          </p:nvPr>
        </p:nvSpPr>
        <p:spPr/>
        <p:txBody>
          <a:bodyPr/>
          <a:lstStyle/>
          <a:p>
            <a:r>
              <a:rPr lang="en-US" b="1" dirty="0"/>
              <a:t>Five years, but may be re-appointed.</a:t>
            </a:r>
            <a:endParaRPr lang="en-IN" b="1" dirty="0"/>
          </a:p>
        </p:txBody>
      </p:sp>
      <p:sp>
        <p:nvSpPr>
          <p:cNvPr id="3" name="Content Placeholder 2">
            <a:extLst>
              <a:ext uri="{FF2B5EF4-FFF2-40B4-BE49-F238E27FC236}">
                <a16:creationId xmlns:a16="http://schemas.microsoft.com/office/drawing/2014/main" id="{05EFB9FB-8985-15D5-1F54-76B07F19047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152933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D40E4-F575-4FB0-C3DC-FE28EF822AC6}"/>
              </a:ext>
            </a:extLst>
          </p:cNvPr>
          <p:cNvSpPr>
            <a:spLocks noGrp="1"/>
          </p:cNvSpPr>
          <p:nvPr>
            <p:ph type="title"/>
          </p:nvPr>
        </p:nvSpPr>
        <p:spPr/>
        <p:txBody>
          <a:bodyPr>
            <a:normAutofit fontScale="90000"/>
          </a:bodyPr>
          <a:lstStyle/>
          <a:p>
            <a:r>
              <a:rPr lang="en-US" b="1" dirty="0"/>
              <a:t>Who holds the record for delivering the longest speech at the UN General Assembly?  </a:t>
            </a:r>
            <a:endParaRPr lang="en-IN" b="1" dirty="0"/>
          </a:p>
        </p:txBody>
      </p:sp>
      <p:sp>
        <p:nvSpPr>
          <p:cNvPr id="3" name="Content Placeholder 2">
            <a:extLst>
              <a:ext uri="{FF2B5EF4-FFF2-40B4-BE49-F238E27FC236}">
                <a16:creationId xmlns:a16="http://schemas.microsoft.com/office/drawing/2014/main" id="{B7BF202A-9A72-D377-8301-C5A84080C9D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147520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3C120-49FD-7210-B4D3-8FFA828BC1DD}"/>
              </a:ext>
            </a:extLst>
          </p:cNvPr>
          <p:cNvSpPr>
            <a:spLocks noGrp="1"/>
          </p:cNvSpPr>
          <p:nvPr>
            <p:ph type="title"/>
          </p:nvPr>
        </p:nvSpPr>
        <p:spPr/>
        <p:txBody>
          <a:bodyPr>
            <a:normAutofit fontScale="90000"/>
          </a:bodyPr>
          <a:lstStyle/>
          <a:p>
            <a:r>
              <a:rPr lang="en-US" b="1" dirty="0"/>
              <a:t>Mr. V.K Krishna Menon of India, on January 23, 1957. His speech ran for 7 hours and 48 minutes over two sessions</a:t>
            </a:r>
            <a:endParaRPr lang="en-IN" b="1" dirty="0"/>
          </a:p>
        </p:txBody>
      </p:sp>
      <p:sp>
        <p:nvSpPr>
          <p:cNvPr id="3" name="Content Placeholder 2">
            <a:extLst>
              <a:ext uri="{FF2B5EF4-FFF2-40B4-BE49-F238E27FC236}">
                <a16:creationId xmlns:a16="http://schemas.microsoft.com/office/drawing/2014/main" id="{82A79F30-9DE8-80D2-367D-7387DF15F64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1951901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BAFC-B840-92E4-FD91-D67DC915D009}"/>
              </a:ext>
            </a:extLst>
          </p:cNvPr>
          <p:cNvSpPr>
            <a:spLocks noGrp="1"/>
          </p:cNvSpPr>
          <p:nvPr>
            <p:ph type="title"/>
          </p:nvPr>
        </p:nvSpPr>
        <p:spPr/>
        <p:txBody>
          <a:bodyPr>
            <a:normAutofit fontScale="90000"/>
          </a:bodyPr>
          <a:lstStyle/>
          <a:p>
            <a:r>
              <a:rPr lang="en-IN" b="1" dirty="0"/>
              <a:t>Which Head of State </a:t>
            </a:r>
            <a:r>
              <a:rPr lang="en-US" b="1" dirty="0"/>
              <a:t> holds the record for delivering the longest speech at the UN General Assembly? </a:t>
            </a:r>
            <a:endParaRPr lang="en-IN" dirty="0"/>
          </a:p>
        </p:txBody>
      </p:sp>
      <p:sp>
        <p:nvSpPr>
          <p:cNvPr id="3" name="Content Placeholder 2">
            <a:extLst>
              <a:ext uri="{FF2B5EF4-FFF2-40B4-BE49-F238E27FC236}">
                <a16:creationId xmlns:a16="http://schemas.microsoft.com/office/drawing/2014/main" id="{0CED0FC0-0BA7-0B97-A109-EE53A3C0900F}"/>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3791005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8B50B-A475-A41D-31BF-129DDC09F906}"/>
              </a:ext>
            </a:extLst>
          </p:cNvPr>
          <p:cNvSpPr>
            <a:spLocks noGrp="1"/>
          </p:cNvSpPr>
          <p:nvPr>
            <p:ph type="title"/>
          </p:nvPr>
        </p:nvSpPr>
        <p:spPr/>
        <p:txBody>
          <a:bodyPr>
            <a:normAutofit fontScale="90000"/>
          </a:bodyPr>
          <a:lstStyle/>
          <a:p>
            <a:r>
              <a:rPr lang="en-US" dirty="0"/>
              <a:t>Fidel Castro delivered the longest speech in the history of the UN General Assembly on September 26, 1960, a 269-minute (4 hour, 29 minute) address. </a:t>
            </a:r>
            <a:endParaRPr lang="en-IN" dirty="0"/>
          </a:p>
        </p:txBody>
      </p:sp>
      <p:sp>
        <p:nvSpPr>
          <p:cNvPr id="3" name="Content Placeholder 2">
            <a:extLst>
              <a:ext uri="{FF2B5EF4-FFF2-40B4-BE49-F238E27FC236}">
                <a16:creationId xmlns:a16="http://schemas.microsoft.com/office/drawing/2014/main" id="{18721270-9DB3-D3B5-2F12-D4B5A560753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82746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84659-51A9-F84B-A413-279F7FEFD5E3}"/>
              </a:ext>
            </a:extLst>
          </p:cNvPr>
          <p:cNvSpPr>
            <a:spLocks noGrp="1"/>
          </p:cNvSpPr>
          <p:nvPr>
            <p:ph type="title"/>
          </p:nvPr>
        </p:nvSpPr>
        <p:spPr>
          <a:xfrm>
            <a:off x="1193391" y="2880852"/>
            <a:ext cx="9805217" cy="2006326"/>
          </a:xfrm>
        </p:spPr>
        <p:txBody>
          <a:bodyPr>
            <a:normAutofit fontScale="90000"/>
          </a:bodyPr>
          <a:lstStyle/>
          <a:p>
            <a:r>
              <a:rPr lang="en-US" b="1" dirty="0"/>
              <a:t>Fidel Castro delivered the longest speech in the history of the UN General Assembly on September 26, 1960, a 269-minute (4 hour, 29 minute) address. </a:t>
            </a:r>
            <a:endParaRPr lang="en-IN" b="1" dirty="0"/>
          </a:p>
        </p:txBody>
      </p:sp>
    </p:spTree>
    <p:extLst>
      <p:ext uri="{BB962C8B-B14F-4D97-AF65-F5344CB8AC3E}">
        <p14:creationId xmlns:p14="http://schemas.microsoft.com/office/powerpoint/2010/main" val="36502573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C4A3-B830-BE86-620A-62E742467290}"/>
              </a:ext>
            </a:extLst>
          </p:cNvPr>
          <p:cNvSpPr>
            <a:spLocks noGrp="1"/>
          </p:cNvSpPr>
          <p:nvPr>
            <p:ph type="title"/>
          </p:nvPr>
        </p:nvSpPr>
        <p:spPr/>
        <p:txBody>
          <a:bodyPr>
            <a:normAutofit fontScale="90000"/>
          </a:bodyPr>
          <a:lstStyle/>
          <a:p>
            <a:r>
              <a:rPr lang="en-US" b="1" dirty="0"/>
              <a:t> Only one Indian has so far been the President of the UN General Assembly. Who is that person ? When and at which session</a:t>
            </a:r>
            <a:endParaRPr lang="en-IN" b="1" dirty="0"/>
          </a:p>
        </p:txBody>
      </p:sp>
      <p:sp>
        <p:nvSpPr>
          <p:cNvPr id="3" name="Content Placeholder 2">
            <a:extLst>
              <a:ext uri="{FF2B5EF4-FFF2-40B4-BE49-F238E27FC236}">
                <a16:creationId xmlns:a16="http://schemas.microsoft.com/office/drawing/2014/main" id="{F73144B2-7A11-D0E1-CC74-A69C45F8D587}"/>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206011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106E0-A051-6A15-A9D9-5212D1F995C6}"/>
              </a:ext>
            </a:extLst>
          </p:cNvPr>
          <p:cNvSpPr>
            <a:spLocks noGrp="1"/>
          </p:cNvSpPr>
          <p:nvPr>
            <p:ph type="title"/>
          </p:nvPr>
        </p:nvSpPr>
        <p:spPr/>
        <p:txBody>
          <a:bodyPr>
            <a:normAutofit fontScale="90000"/>
          </a:bodyPr>
          <a:lstStyle/>
          <a:p>
            <a:r>
              <a:rPr lang="en-US" b="1" dirty="0"/>
              <a:t> Mrs. </a:t>
            </a:r>
            <a:r>
              <a:rPr lang="en-US" b="1" dirty="0" err="1"/>
              <a:t>Vijaylakshmi</a:t>
            </a:r>
            <a:r>
              <a:rPr lang="en-US" b="1" dirty="0"/>
              <a:t> Pandit. At the eight session in 1953.</a:t>
            </a:r>
            <a:endParaRPr lang="en-IN" b="1" dirty="0"/>
          </a:p>
        </p:txBody>
      </p:sp>
      <p:sp>
        <p:nvSpPr>
          <p:cNvPr id="3" name="Content Placeholder 2">
            <a:extLst>
              <a:ext uri="{FF2B5EF4-FFF2-40B4-BE49-F238E27FC236}">
                <a16:creationId xmlns:a16="http://schemas.microsoft.com/office/drawing/2014/main" id="{D2CA0F6C-EB2D-54C8-750D-F7370CBA969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303134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0F982-2CF5-6635-5985-29D4CF8F13BE}"/>
              </a:ext>
            </a:extLst>
          </p:cNvPr>
          <p:cNvSpPr>
            <a:spLocks noGrp="1"/>
          </p:cNvSpPr>
          <p:nvPr>
            <p:ph type="title"/>
          </p:nvPr>
        </p:nvSpPr>
        <p:spPr/>
        <p:txBody>
          <a:bodyPr>
            <a:normAutofit fontScale="90000"/>
          </a:bodyPr>
          <a:lstStyle/>
          <a:p>
            <a:r>
              <a:rPr lang="en-US" b="1" dirty="0"/>
              <a:t>When and where did the first meeting of the UN General Assembly take place?  </a:t>
            </a:r>
            <a:endParaRPr lang="en-IN" b="1" dirty="0"/>
          </a:p>
        </p:txBody>
      </p:sp>
      <p:sp>
        <p:nvSpPr>
          <p:cNvPr id="3" name="Content Placeholder 2">
            <a:extLst>
              <a:ext uri="{FF2B5EF4-FFF2-40B4-BE49-F238E27FC236}">
                <a16:creationId xmlns:a16="http://schemas.microsoft.com/office/drawing/2014/main" id="{5A6569D0-848D-776B-2AB4-72158BCE483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964806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B8850-9EF3-EF8D-3AE8-FCE02FC76361}"/>
              </a:ext>
            </a:extLst>
          </p:cNvPr>
          <p:cNvSpPr>
            <a:spLocks noGrp="1"/>
          </p:cNvSpPr>
          <p:nvPr>
            <p:ph type="title"/>
          </p:nvPr>
        </p:nvSpPr>
        <p:spPr/>
        <p:txBody>
          <a:bodyPr>
            <a:normAutofit fontScale="90000"/>
          </a:bodyPr>
          <a:lstStyle/>
          <a:p>
            <a:r>
              <a:rPr lang="en-US" b="1" dirty="0"/>
              <a:t>On January 10, 1946 in Central Hall, Westminster, London</a:t>
            </a:r>
            <a:endParaRPr lang="en-IN" b="1" dirty="0"/>
          </a:p>
        </p:txBody>
      </p:sp>
      <p:sp>
        <p:nvSpPr>
          <p:cNvPr id="3" name="Content Placeholder 2">
            <a:extLst>
              <a:ext uri="{FF2B5EF4-FFF2-40B4-BE49-F238E27FC236}">
                <a16:creationId xmlns:a16="http://schemas.microsoft.com/office/drawing/2014/main" id="{29316B1B-CFC8-4510-1DBD-51F20E28090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92746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051DC-B0D1-2069-AE29-2018C49A4104}"/>
              </a:ext>
            </a:extLst>
          </p:cNvPr>
          <p:cNvSpPr>
            <a:spLocks noGrp="1"/>
          </p:cNvSpPr>
          <p:nvPr>
            <p:ph type="title"/>
          </p:nvPr>
        </p:nvSpPr>
        <p:spPr/>
        <p:txBody>
          <a:bodyPr>
            <a:normAutofit fontScale="90000"/>
          </a:bodyPr>
          <a:lstStyle/>
          <a:p>
            <a:r>
              <a:rPr lang="en-US" b="1" dirty="0"/>
              <a:t>Give the date and venue of the first meeting of the Security Council</a:t>
            </a:r>
            <a:endParaRPr lang="en-IN" b="1" dirty="0"/>
          </a:p>
        </p:txBody>
      </p:sp>
      <p:sp>
        <p:nvSpPr>
          <p:cNvPr id="3" name="Content Placeholder 2">
            <a:extLst>
              <a:ext uri="{FF2B5EF4-FFF2-40B4-BE49-F238E27FC236}">
                <a16:creationId xmlns:a16="http://schemas.microsoft.com/office/drawing/2014/main" id="{AFFA2A58-36DE-31DB-9836-5C7705B6458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071784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67FC8-1926-DEDF-1531-4614FCE6A154}"/>
              </a:ext>
            </a:extLst>
          </p:cNvPr>
          <p:cNvSpPr>
            <a:spLocks noGrp="1"/>
          </p:cNvSpPr>
          <p:nvPr>
            <p:ph type="title"/>
          </p:nvPr>
        </p:nvSpPr>
        <p:spPr/>
        <p:txBody>
          <a:bodyPr>
            <a:normAutofit fontScale="90000"/>
          </a:bodyPr>
          <a:lstStyle/>
          <a:p>
            <a:r>
              <a:rPr lang="en-US" b="1" dirty="0"/>
              <a:t>.  On January 17, 1946 at Westminster, London</a:t>
            </a:r>
            <a:endParaRPr lang="en-IN" b="1" dirty="0"/>
          </a:p>
        </p:txBody>
      </p:sp>
      <p:sp>
        <p:nvSpPr>
          <p:cNvPr id="3" name="Content Placeholder 2">
            <a:extLst>
              <a:ext uri="{FF2B5EF4-FFF2-40B4-BE49-F238E27FC236}">
                <a16:creationId xmlns:a16="http://schemas.microsoft.com/office/drawing/2014/main" id="{980DB88F-ADCD-8CD0-BC82-F2484348A55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624200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E1E89-1D76-3CD8-7336-1E904CDE56D4}"/>
              </a:ext>
            </a:extLst>
          </p:cNvPr>
          <p:cNvSpPr>
            <a:spLocks noGrp="1"/>
          </p:cNvSpPr>
          <p:nvPr>
            <p:ph type="title"/>
          </p:nvPr>
        </p:nvSpPr>
        <p:spPr/>
        <p:txBody>
          <a:bodyPr>
            <a:normAutofit/>
          </a:bodyPr>
          <a:lstStyle/>
          <a:p>
            <a:r>
              <a:rPr lang="en-US" dirty="0"/>
              <a:t>Give the date of India’s admission to UN</a:t>
            </a:r>
            <a:endParaRPr lang="en-IN" dirty="0"/>
          </a:p>
        </p:txBody>
      </p:sp>
      <p:sp>
        <p:nvSpPr>
          <p:cNvPr id="3" name="Content Placeholder 2">
            <a:extLst>
              <a:ext uri="{FF2B5EF4-FFF2-40B4-BE49-F238E27FC236}">
                <a16:creationId xmlns:a16="http://schemas.microsoft.com/office/drawing/2014/main" id="{BE895BBE-7213-463E-9373-0D99C641CDA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180765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E4CE7-1DF8-5181-D897-91CF629DF1AE}"/>
              </a:ext>
            </a:extLst>
          </p:cNvPr>
          <p:cNvSpPr>
            <a:spLocks noGrp="1"/>
          </p:cNvSpPr>
          <p:nvPr>
            <p:ph type="title"/>
          </p:nvPr>
        </p:nvSpPr>
        <p:spPr/>
        <p:txBody>
          <a:bodyPr/>
          <a:lstStyle/>
          <a:p>
            <a:r>
              <a:rPr lang="en-US" b="1" dirty="0"/>
              <a:t>October 30, 1945.</a:t>
            </a:r>
            <a:endParaRPr lang="en-IN" b="1" dirty="0"/>
          </a:p>
        </p:txBody>
      </p:sp>
      <p:sp>
        <p:nvSpPr>
          <p:cNvPr id="3" name="Content Placeholder 2">
            <a:extLst>
              <a:ext uri="{FF2B5EF4-FFF2-40B4-BE49-F238E27FC236}">
                <a16:creationId xmlns:a16="http://schemas.microsoft.com/office/drawing/2014/main" id="{6C6FA097-F2C4-3BD0-E54B-61F17F24988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153335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DE927-6460-AB4E-CAB4-209954FC9169}"/>
              </a:ext>
            </a:extLst>
          </p:cNvPr>
          <p:cNvSpPr>
            <a:spLocks noGrp="1"/>
          </p:cNvSpPr>
          <p:nvPr>
            <p:ph type="title"/>
          </p:nvPr>
        </p:nvSpPr>
        <p:spPr/>
        <p:txBody>
          <a:bodyPr>
            <a:normAutofit fontScale="90000"/>
          </a:bodyPr>
          <a:lstStyle/>
          <a:p>
            <a:r>
              <a:rPr lang="en-US" b="1" dirty="0"/>
              <a:t>What is the Universal Declaration of Human Rights?</a:t>
            </a:r>
            <a:endParaRPr lang="en-IN" b="1" dirty="0"/>
          </a:p>
        </p:txBody>
      </p:sp>
      <p:sp>
        <p:nvSpPr>
          <p:cNvPr id="3" name="Content Placeholder 2">
            <a:extLst>
              <a:ext uri="{FF2B5EF4-FFF2-40B4-BE49-F238E27FC236}">
                <a16:creationId xmlns:a16="http://schemas.microsoft.com/office/drawing/2014/main" id="{FD29B2FA-FFC4-B907-5E07-F9533E44ED8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284612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4F50C-B75D-A800-61B2-B4EA7783D4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F7CBBD-FA5D-032F-065B-98FBFAACD149}"/>
              </a:ext>
            </a:extLst>
          </p:cNvPr>
          <p:cNvSpPr>
            <a:spLocks noGrp="1"/>
          </p:cNvSpPr>
          <p:nvPr>
            <p:ph idx="1"/>
          </p:nvPr>
        </p:nvSpPr>
        <p:spPr/>
        <p:txBody>
          <a:bodyPr/>
          <a:lstStyle/>
          <a:p>
            <a:r>
              <a:rPr lang="en-US" b="1" dirty="0"/>
              <a:t>The Universal Declaration is a standard, but it is not law. However, several covenants, which include the main points of the Declaration, were signed in the 1960s and came into force in 1976 after most of the countries had ratified them. These countries are obliged to abide by them. They also gave the right to the UN to monitor whether or not Governments are observing their citizens’ Human Rights.</a:t>
            </a:r>
            <a:endParaRPr lang="en-IN" b="1" dirty="0"/>
          </a:p>
        </p:txBody>
      </p:sp>
    </p:spTree>
    <p:extLst>
      <p:ext uri="{BB962C8B-B14F-4D97-AF65-F5344CB8AC3E}">
        <p14:creationId xmlns:p14="http://schemas.microsoft.com/office/powerpoint/2010/main" val="16001774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B9E10-80F2-8EF9-3C34-083467D88897}"/>
              </a:ext>
            </a:extLst>
          </p:cNvPr>
          <p:cNvSpPr>
            <a:spLocks noGrp="1"/>
          </p:cNvSpPr>
          <p:nvPr>
            <p:ph type="title"/>
          </p:nvPr>
        </p:nvSpPr>
        <p:spPr/>
        <p:txBody>
          <a:bodyPr>
            <a:normAutofit fontScale="90000"/>
          </a:bodyPr>
          <a:lstStyle/>
          <a:p>
            <a:r>
              <a:rPr lang="en-US" b="1" dirty="0"/>
              <a:t>When was the Human Rights Declaration adopted?.</a:t>
            </a:r>
            <a:endParaRPr lang="en-IN" b="1" dirty="0"/>
          </a:p>
        </p:txBody>
      </p:sp>
      <p:sp>
        <p:nvSpPr>
          <p:cNvPr id="3" name="Content Placeholder 2">
            <a:extLst>
              <a:ext uri="{FF2B5EF4-FFF2-40B4-BE49-F238E27FC236}">
                <a16:creationId xmlns:a16="http://schemas.microsoft.com/office/drawing/2014/main" id="{C511D8FB-AF52-7F32-EAD1-4C2CAC0177C5}"/>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9675889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9797B-2E6D-3E35-DD27-33278B72B6F1}"/>
              </a:ext>
            </a:extLst>
          </p:cNvPr>
          <p:cNvSpPr>
            <a:spLocks noGrp="1"/>
          </p:cNvSpPr>
          <p:nvPr>
            <p:ph type="title"/>
          </p:nvPr>
        </p:nvSpPr>
        <p:spPr/>
        <p:txBody>
          <a:bodyPr>
            <a:normAutofit fontScale="90000"/>
          </a:bodyPr>
          <a:lstStyle/>
          <a:p>
            <a:r>
              <a:rPr lang="en-US" b="1" dirty="0"/>
              <a:t>On December 10, 1948 by the UN General Assembly. December 10 is observed as Human Rights Day around the world</a:t>
            </a:r>
            <a:endParaRPr lang="en-IN" b="1" dirty="0"/>
          </a:p>
        </p:txBody>
      </p:sp>
      <p:sp>
        <p:nvSpPr>
          <p:cNvPr id="3" name="Content Placeholder 2">
            <a:extLst>
              <a:ext uri="{FF2B5EF4-FFF2-40B4-BE49-F238E27FC236}">
                <a16:creationId xmlns:a16="http://schemas.microsoft.com/office/drawing/2014/main" id="{DF55640C-F702-A473-951A-B6A8F78A64B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59057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01777-CAA8-FD38-50AA-4E0F1947FFCA}"/>
              </a:ext>
            </a:extLst>
          </p:cNvPr>
          <p:cNvSpPr>
            <a:spLocks noGrp="1"/>
          </p:cNvSpPr>
          <p:nvPr>
            <p:ph type="title"/>
          </p:nvPr>
        </p:nvSpPr>
        <p:spPr/>
        <p:txBody>
          <a:bodyPr>
            <a:normAutofit/>
          </a:bodyPr>
          <a:lstStyle/>
          <a:p>
            <a:r>
              <a:rPr lang="en-US" b="1" dirty="0"/>
              <a:t>What is UNDP and its role ? </a:t>
            </a:r>
            <a:endParaRPr lang="en-IN" b="1" dirty="0"/>
          </a:p>
        </p:txBody>
      </p:sp>
      <p:sp>
        <p:nvSpPr>
          <p:cNvPr id="3" name="Content Placeholder 2">
            <a:extLst>
              <a:ext uri="{FF2B5EF4-FFF2-40B4-BE49-F238E27FC236}">
                <a16:creationId xmlns:a16="http://schemas.microsoft.com/office/drawing/2014/main" id="{E5A81541-9C32-CC96-786B-1C51C35D2DE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748103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6D7E7-6FB2-D5F2-A92C-B5A0E3108880}"/>
              </a:ext>
            </a:extLst>
          </p:cNvPr>
          <p:cNvSpPr>
            <a:spLocks noGrp="1"/>
          </p:cNvSpPr>
          <p:nvPr>
            <p:ph type="title"/>
          </p:nvPr>
        </p:nvSpPr>
        <p:spPr>
          <a:xfrm>
            <a:off x="1295402" y="982132"/>
            <a:ext cx="9601196" cy="2342959"/>
          </a:xfrm>
        </p:spPr>
        <p:txBody>
          <a:bodyPr>
            <a:noAutofit/>
          </a:bodyPr>
          <a:lstStyle/>
          <a:p>
            <a:r>
              <a:rPr lang="en-US" sz="2800" b="1" dirty="0"/>
              <a:t> United Nations Development </a:t>
            </a:r>
            <a:r>
              <a:rPr lang="en-US" sz="2800" b="1" dirty="0" err="1"/>
              <a:t>Programme</a:t>
            </a:r>
            <a:r>
              <a:rPr lang="en-US" sz="2800" b="1" dirty="0"/>
              <a:t> (UNDP) is the world’s largest multilateral source of grant funding for development cooperation. It was created in 1965. Its funds come from the yearly voluntary contributions of Member States of the UN or its affiliated agencies</a:t>
            </a:r>
            <a:endParaRPr lang="en-IN" sz="2800" b="1" dirty="0"/>
          </a:p>
        </p:txBody>
      </p:sp>
    </p:spTree>
    <p:extLst>
      <p:ext uri="{BB962C8B-B14F-4D97-AF65-F5344CB8AC3E}">
        <p14:creationId xmlns:p14="http://schemas.microsoft.com/office/powerpoint/2010/main" val="9672096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6604-1911-8B89-2526-B90EC66F579F}"/>
              </a:ext>
            </a:extLst>
          </p:cNvPr>
          <p:cNvSpPr>
            <a:spLocks noGrp="1"/>
          </p:cNvSpPr>
          <p:nvPr>
            <p:ph type="title"/>
          </p:nvPr>
        </p:nvSpPr>
        <p:spPr/>
        <p:txBody>
          <a:bodyPr>
            <a:normAutofit/>
          </a:bodyPr>
          <a:lstStyle/>
          <a:p>
            <a:r>
              <a:rPr lang="en-US" dirty="0"/>
              <a:t>What is UNEP ?  </a:t>
            </a:r>
            <a:endParaRPr lang="en-IN" dirty="0"/>
          </a:p>
        </p:txBody>
      </p:sp>
      <p:sp>
        <p:nvSpPr>
          <p:cNvPr id="3" name="Content Placeholder 2">
            <a:extLst>
              <a:ext uri="{FF2B5EF4-FFF2-40B4-BE49-F238E27FC236}">
                <a16:creationId xmlns:a16="http://schemas.microsoft.com/office/drawing/2014/main" id="{546F84D5-6856-51CA-AC7F-1EC357A293E9}"/>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8303821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43D9D-0162-5455-F1A6-27A7BBBFE38D}"/>
              </a:ext>
            </a:extLst>
          </p:cNvPr>
          <p:cNvSpPr>
            <a:spLocks noGrp="1"/>
          </p:cNvSpPr>
          <p:nvPr>
            <p:ph type="title"/>
          </p:nvPr>
        </p:nvSpPr>
        <p:spPr/>
        <p:txBody>
          <a:bodyPr>
            <a:noAutofit/>
          </a:bodyPr>
          <a:lstStyle/>
          <a:p>
            <a:r>
              <a:rPr lang="en-US" sz="2400" b="1" dirty="0"/>
              <a:t>UN Environment </a:t>
            </a:r>
            <a:r>
              <a:rPr lang="en-US" sz="2400" b="1" dirty="0" err="1"/>
              <a:t>Programme</a:t>
            </a:r>
            <a:r>
              <a:rPr lang="en-US" sz="2400" b="1" dirty="0"/>
              <a:t> (UNEP) was established as a result of the UN Conference on the Human Environment in Stockholm in 1972. UNEP’s main job is to </a:t>
            </a:r>
            <a:r>
              <a:rPr lang="en-US" sz="2400" b="1" dirty="0" err="1"/>
              <a:t>catalyse</a:t>
            </a:r>
            <a:r>
              <a:rPr lang="en-US" sz="2400" b="1" dirty="0"/>
              <a:t> environmental action and awareness worldwide. It has its Headquarters in Nairobi, Kenya and is the world’s leading environmental agency.</a:t>
            </a:r>
            <a:endParaRPr lang="en-IN" sz="2400" b="1" dirty="0"/>
          </a:p>
        </p:txBody>
      </p:sp>
      <p:sp>
        <p:nvSpPr>
          <p:cNvPr id="3" name="Content Placeholder 2">
            <a:extLst>
              <a:ext uri="{FF2B5EF4-FFF2-40B4-BE49-F238E27FC236}">
                <a16:creationId xmlns:a16="http://schemas.microsoft.com/office/drawing/2014/main" id="{E8112A57-FC45-D7A3-984E-71A981909DC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579009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16086-64D5-5189-0AFF-C6007A2D040B}"/>
              </a:ext>
            </a:extLst>
          </p:cNvPr>
          <p:cNvSpPr>
            <a:spLocks noGrp="1"/>
          </p:cNvSpPr>
          <p:nvPr>
            <p:ph type="title"/>
          </p:nvPr>
        </p:nvSpPr>
        <p:spPr/>
        <p:txBody>
          <a:bodyPr>
            <a:normAutofit fontScale="90000"/>
          </a:bodyPr>
          <a:lstStyle/>
          <a:p>
            <a:r>
              <a:rPr lang="en-US" b="1" dirty="0"/>
              <a:t>Why is the World Environment Day celebrated annually on 5th June?  </a:t>
            </a:r>
            <a:endParaRPr lang="en-IN" b="1" dirty="0"/>
          </a:p>
        </p:txBody>
      </p:sp>
      <p:sp>
        <p:nvSpPr>
          <p:cNvPr id="3" name="Content Placeholder 2">
            <a:extLst>
              <a:ext uri="{FF2B5EF4-FFF2-40B4-BE49-F238E27FC236}">
                <a16:creationId xmlns:a16="http://schemas.microsoft.com/office/drawing/2014/main" id="{AA480FC0-13B2-F692-4DCA-16DEB18757B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8377799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0EBA0-0DE9-3D25-5403-230052641304}"/>
              </a:ext>
            </a:extLst>
          </p:cNvPr>
          <p:cNvSpPr>
            <a:spLocks noGrp="1"/>
          </p:cNvSpPr>
          <p:nvPr>
            <p:ph type="title"/>
          </p:nvPr>
        </p:nvSpPr>
        <p:spPr/>
        <p:txBody>
          <a:bodyPr>
            <a:normAutofit fontScale="90000"/>
          </a:bodyPr>
          <a:lstStyle/>
          <a:p>
            <a:r>
              <a:rPr lang="en-US" b="1" dirty="0"/>
              <a:t>To commemorate the anniversary of the opening day of the first UN Conference on the Human Environment in Stockholm in 1972</a:t>
            </a:r>
            <a:endParaRPr lang="en-IN" b="1" dirty="0"/>
          </a:p>
        </p:txBody>
      </p:sp>
      <p:sp>
        <p:nvSpPr>
          <p:cNvPr id="3" name="Content Placeholder 2">
            <a:extLst>
              <a:ext uri="{FF2B5EF4-FFF2-40B4-BE49-F238E27FC236}">
                <a16:creationId xmlns:a16="http://schemas.microsoft.com/office/drawing/2014/main" id="{5C047BB1-2EA7-5DEA-4B49-682AA863C56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30753683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D3BD4-A44F-BAD8-BFE1-BD042E8DEEFB}"/>
              </a:ext>
            </a:extLst>
          </p:cNvPr>
          <p:cNvSpPr>
            <a:spLocks noGrp="1"/>
          </p:cNvSpPr>
          <p:nvPr>
            <p:ph type="title"/>
          </p:nvPr>
        </p:nvSpPr>
        <p:spPr/>
        <p:txBody>
          <a:bodyPr>
            <a:normAutofit fontScale="90000"/>
          </a:bodyPr>
          <a:lstStyle/>
          <a:p>
            <a:r>
              <a:rPr lang="en-US" b="1" dirty="0"/>
              <a:t>What is the UN Democracy Fund (UNDEF)? </a:t>
            </a:r>
            <a:endParaRPr lang="en-IN" b="1" dirty="0"/>
          </a:p>
        </p:txBody>
      </p:sp>
      <p:sp>
        <p:nvSpPr>
          <p:cNvPr id="3" name="Content Placeholder 2">
            <a:extLst>
              <a:ext uri="{FF2B5EF4-FFF2-40B4-BE49-F238E27FC236}">
                <a16:creationId xmlns:a16="http://schemas.microsoft.com/office/drawing/2014/main" id="{DB2B4A87-FD80-3148-4E96-6DD7883EE4E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18295415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F3258-0B7E-DE2F-7B28-FB52DA2CAF01}"/>
              </a:ext>
            </a:extLst>
          </p:cNvPr>
          <p:cNvSpPr>
            <a:spLocks noGrp="1"/>
          </p:cNvSpPr>
          <p:nvPr>
            <p:ph type="title"/>
          </p:nvPr>
        </p:nvSpPr>
        <p:spPr>
          <a:xfrm>
            <a:off x="1295402" y="982132"/>
            <a:ext cx="9601196" cy="4327623"/>
          </a:xfrm>
        </p:spPr>
        <p:txBody>
          <a:bodyPr>
            <a:normAutofit fontScale="90000"/>
          </a:bodyPr>
          <a:lstStyle/>
          <a:p>
            <a:r>
              <a:rPr lang="en-US" b="1" dirty="0"/>
              <a:t>Ans. UN Democracy Fund was established in early 2005 to promote democracy throughout the world by providing assistance for projects that consolidates and strengthens democratic governance. However, UNDEF does not promote any sample model of democracy. The fund officially began its work on March 6, 2006</a:t>
            </a:r>
            <a:endParaRPr lang="en-IN" b="1" dirty="0"/>
          </a:p>
        </p:txBody>
      </p:sp>
    </p:spTree>
    <p:extLst>
      <p:ext uri="{BB962C8B-B14F-4D97-AF65-F5344CB8AC3E}">
        <p14:creationId xmlns:p14="http://schemas.microsoft.com/office/powerpoint/2010/main" val="13083371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20229-9E2D-FF16-9188-481593A21E95}"/>
              </a:ext>
            </a:extLst>
          </p:cNvPr>
          <p:cNvSpPr>
            <a:spLocks noGrp="1"/>
          </p:cNvSpPr>
          <p:nvPr>
            <p:ph type="title"/>
          </p:nvPr>
        </p:nvSpPr>
        <p:spPr/>
        <p:txBody>
          <a:bodyPr>
            <a:normAutofit/>
          </a:bodyPr>
          <a:lstStyle/>
          <a:p>
            <a:r>
              <a:rPr lang="en-US" b="1" dirty="0"/>
              <a:t>What is the role of UNICEF?.</a:t>
            </a:r>
            <a:endParaRPr lang="en-IN" b="1" dirty="0"/>
          </a:p>
        </p:txBody>
      </p:sp>
      <p:sp>
        <p:nvSpPr>
          <p:cNvPr id="3" name="Content Placeholder 2">
            <a:extLst>
              <a:ext uri="{FF2B5EF4-FFF2-40B4-BE49-F238E27FC236}">
                <a16:creationId xmlns:a16="http://schemas.microsoft.com/office/drawing/2014/main" id="{34E6C359-4EB7-35EB-B8D7-982B7287214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360373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6F1A8-9565-3933-742E-24CB78C170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149198-7E62-010C-2AA5-87CFE1C8E8DF}"/>
              </a:ext>
            </a:extLst>
          </p:cNvPr>
          <p:cNvSpPr>
            <a:spLocks noGrp="1"/>
          </p:cNvSpPr>
          <p:nvPr>
            <p:ph idx="1"/>
          </p:nvPr>
        </p:nvSpPr>
        <p:spPr/>
        <p:txBody>
          <a:bodyPr>
            <a:normAutofit lnSpcReduction="10000"/>
          </a:bodyPr>
          <a:lstStyle/>
          <a:p>
            <a:r>
              <a:rPr lang="en-US" b="1" dirty="0"/>
              <a:t> United Nations International Children’s Emergency Fund (UNICEF) was created by the General Assembly during its first session in 1946 with a mandate for the survival, protection and development of children. As the only UN agency devoted exclusively to the needs of children, UNICEF speaks on their behalf and promotes the implementation of the convention on the child, which became international law in September 1990. UNICEF relies entirely upon voluntary public and government contribution. UNICEF was awarded the Nobel Peace Prize in 1965</a:t>
            </a:r>
            <a:endParaRPr lang="en-IN" b="1" dirty="0"/>
          </a:p>
        </p:txBody>
      </p:sp>
    </p:spTree>
    <p:extLst>
      <p:ext uri="{BB962C8B-B14F-4D97-AF65-F5344CB8AC3E}">
        <p14:creationId xmlns:p14="http://schemas.microsoft.com/office/powerpoint/2010/main" val="35245245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4F487-3677-3D3D-8392-4E5E36E80F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E5A77FC-C9A7-3AE1-D46E-EC85AF78AD92}"/>
              </a:ext>
            </a:extLst>
          </p:cNvPr>
          <p:cNvSpPr>
            <a:spLocks noGrp="1"/>
          </p:cNvSpPr>
          <p:nvPr>
            <p:ph idx="1"/>
          </p:nvPr>
        </p:nvSpPr>
        <p:spPr/>
        <p:txBody>
          <a:bodyPr>
            <a:normAutofit/>
          </a:bodyPr>
          <a:lstStyle/>
          <a:p>
            <a:r>
              <a:rPr lang="en-IN" dirty="0"/>
              <a:t>Name the seventeen agencies, known as “Specialized Agencies” - a term used in the UN Charter.  </a:t>
            </a:r>
          </a:p>
        </p:txBody>
      </p:sp>
    </p:spTree>
    <p:extLst>
      <p:ext uri="{BB962C8B-B14F-4D97-AF65-F5344CB8AC3E}">
        <p14:creationId xmlns:p14="http://schemas.microsoft.com/office/powerpoint/2010/main" val="18093131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493E0E-8797-9753-00D5-704F44EAD45A}"/>
              </a:ext>
            </a:extLst>
          </p:cNvPr>
          <p:cNvSpPr>
            <a:spLocks noGrp="1"/>
          </p:cNvSpPr>
          <p:nvPr>
            <p:ph idx="1"/>
          </p:nvPr>
        </p:nvSpPr>
        <p:spPr>
          <a:xfrm>
            <a:off x="1295402" y="807988"/>
            <a:ext cx="9601196" cy="5242023"/>
          </a:xfrm>
        </p:spPr>
        <p:txBody>
          <a:bodyPr>
            <a:normAutofit fontScale="55000" lnSpcReduction="20000"/>
          </a:bodyPr>
          <a:lstStyle/>
          <a:p>
            <a:r>
              <a:rPr lang="en-IN" b="1" dirty="0"/>
              <a:t>(a) International Labour Organisation (</a:t>
            </a:r>
            <a:r>
              <a:rPr lang="en-IN" b="1" dirty="0" err="1"/>
              <a:t>lLO</a:t>
            </a:r>
            <a:r>
              <a:rPr lang="en-IN" b="1" dirty="0"/>
              <a:t>). </a:t>
            </a:r>
          </a:p>
          <a:p>
            <a:r>
              <a:rPr lang="en-IN" b="1" dirty="0"/>
              <a:t>(b) Food and Agriculture Organisation (FAO).</a:t>
            </a:r>
          </a:p>
          <a:p>
            <a:r>
              <a:rPr lang="en-IN" b="1" dirty="0"/>
              <a:t> (c) UN Educational, Scientific and Cultural Organisation (UNESCO). </a:t>
            </a:r>
          </a:p>
          <a:p>
            <a:r>
              <a:rPr lang="en-IN" b="1" dirty="0"/>
              <a:t>(d) World Health Organisation (WHO).</a:t>
            </a:r>
          </a:p>
          <a:p>
            <a:r>
              <a:rPr lang="en-IN" b="1" dirty="0"/>
              <a:t> (e) World Bank; International Bank for Reconstruction and Development (</a:t>
            </a:r>
            <a:r>
              <a:rPr lang="en-IN" b="1" dirty="0" err="1"/>
              <a:t>lBRD</a:t>
            </a:r>
            <a:r>
              <a:rPr lang="en-IN" b="1" dirty="0"/>
              <a:t>). (f) International Development Association (IDA) </a:t>
            </a:r>
          </a:p>
          <a:p>
            <a:r>
              <a:rPr lang="en-IN" b="1" dirty="0"/>
              <a:t>(g) International Finance Corporation (</a:t>
            </a:r>
            <a:r>
              <a:rPr lang="en-IN" b="1" dirty="0" err="1"/>
              <a:t>lFC</a:t>
            </a:r>
            <a:r>
              <a:rPr lang="en-IN" b="1" dirty="0"/>
              <a:t>). </a:t>
            </a:r>
          </a:p>
          <a:p>
            <a:r>
              <a:rPr lang="en-IN" b="1" dirty="0"/>
              <a:t>(h) Multilateral Investment Guarantee Agency (MIGA). </a:t>
            </a:r>
          </a:p>
          <a:p>
            <a:r>
              <a:rPr lang="en-IN" b="1" dirty="0"/>
              <a:t>(</a:t>
            </a:r>
            <a:r>
              <a:rPr lang="en-IN" b="1" dirty="0" err="1"/>
              <a:t>i</a:t>
            </a:r>
            <a:r>
              <a:rPr lang="en-IN" b="1" dirty="0"/>
              <a:t>) International Monetary Fund (</a:t>
            </a:r>
            <a:r>
              <a:rPr lang="en-IN" b="1" dirty="0" err="1"/>
              <a:t>lMF</a:t>
            </a:r>
            <a:r>
              <a:rPr lang="en-IN" b="1" dirty="0"/>
              <a:t>).</a:t>
            </a:r>
          </a:p>
          <a:p>
            <a:r>
              <a:rPr lang="en-IN" b="1" dirty="0"/>
              <a:t> (j) International Civil Aviation Organisation (</a:t>
            </a:r>
            <a:r>
              <a:rPr lang="en-IN" b="1" dirty="0" err="1"/>
              <a:t>lCAO</a:t>
            </a:r>
            <a:r>
              <a:rPr lang="en-IN" b="1" dirty="0"/>
              <a:t>).</a:t>
            </a:r>
          </a:p>
          <a:p>
            <a:r>
              <a:rPr lang="en-IN" b="1" dirty="0"/>
              <a:t> (k) Universal Postal Union (UPU). </a:t>
            </a:r>
          </a:p>
          <a:p>
            <a:pPr marL="0" indent="0">
              <a:buNone/>
            </a:pPr>
            <a:r>
              <a:rPr lang="en-IN" b="1" dirty="0"/>
              <a:t>(l) International Telecommunication Union (</a:t>
            </a:r>
            <a:r>
              <a:rPr lang="en-IN" b="1" dirty="0" err="1"/>
              <a:t>lTU</a:t>
            </a:r>
            <a:r>
              <a:rPr lang="en-IN" b="1" dirty="0"/>
              <a:t>). </a:t>
            </a:r>
          </a:p>
          <a:p>
            <a:pPr marL="0" indent="0">
              <a:buNone/>
            </a:pPr>
            <a:r>
              <a:rPr lang="en-IN" b="1" dirty="0"/>
              <a:t>(m) World Meteorological Organisation (WMO). </a:t>
            </a:r>
          </a:p>
          <a:p>
            <a:pPr marL="0" indent="0">
              <a:buNone/>
            </a:pPr>
            <a:r>
              <a:rPr lang="en-IN" b="1" dirty="0"/>
              <a:t>(n) International Maritime Organisation (IMO)</a:t>
            </a:r>
          </a:p>
          <a:p>
            <a:pPr marL="0" indent="0">
              <a:buNone/>
            </a:pPr>
            <a:r>
              <a:rPr lang="en-IN" b="1" dirty="0"/>
              <a:t> (o) World Intellectual Property Organisation (WIPO)</a:t>
            </a:r>
          </a:p>
          <a:p>
            <a:pPr marL="0" indent="0">
              <a:buNone/>
            </a:pPr>
            <a:r>
              <a:rPr lang="en-IN" b="1" dirty="0"/>
              <a:t> (p) International Fund for Agricultural Development (IFAD) </a:t>
            </a:r>
          </a:p>
          <a:p>
            <a:pPr marL="0" indent="0">
              <a:buNone/>
            </a:pPr>
            <a:r>
              <a:rPr lang="en-IN" b="1" dirty="0"/>
              <a:t>(q) United Nations Industrial Development Organisation (UNIDO) </a:t>
            </a:r>
          </a:p>
          <a:p>
            <a:endParaRPr lang="en-IN" b="1" dirty="0"/>
          </a:p>
          <a:p>
            <a:r>
              <a:rPr lang="en-IN" b="1" dirty="0"/>
              <a:t>The International Atomic Energy Agency (</a:t>
            </a:r>
            <a:r>
              <a:rPr lang="en-IN" b="1" dirty="0" err="1"/>
              <a:t>lAEA</a:t>
            </a:r>
            <a:r>
              <a:rPr lang="en-IN" b="1" dirty="0"/>
              <a:t>) and the General Agreement on Tariffs and Trade (GATT) do not have the formal status of a specialised agency.</a:t>
            </a:r>
          </a:p>
        </p:txBody>
      </p:sp>
    </p:spTree>
    <p:extLst>
      <p:ext uri="{BB962C8B-B14F-4D97-AF65-F5344CB8AC3E}">
        <p14:creationId xmlns:p14="http://schemas.microsoft.com/office/powerpoint/2010/main" val="41047764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45354-0510-B647-0DBE-580A97B8BD34}"/>
              </a:ext>
            </a:extLst>
          </p:cNvPr>
          <p:cNvSpPr>
            <a:spLocks noGrp="1"/>
          </p:cNvSpPr>
          <p:nvPr>
            <p:ph type="title"/>
          </p:nvPr>
        </p:nvSpPr>
        <p:spPr/>
        <p:txBody>
          <a:bodyPr/>
          <a:lstStyle/>
          <a:p>
            <a:r>
              <a:rPr lang="en-US" b="1" dirty="0"/>
              <a:t>What is the World Bank?</a:t>
            </a:r>
            <a:endParaRPr lang="en-IN" b="1" dirty="0"/>
          </a:p>
        </p:txBody>
      </p:sp>
      <p:sp>
        <p:nvSpPr>
          <p:cNvPr id="3" name="Content Placeholder 2">
            <a:extLst>
              <a:ext uri="{FF2B5EF4-FFF2-40B4-BE49-F238E27FC236}">
                <a16:creationId xmlns:a16="http://schemas.microsoft.com/office/drawing/2014/main" id="{F4A0149D-42D0-EFE7-B800-84B6E03897A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292639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08CEE-B99F-6BBF-1D55-950166CE6F27}"/>
              </a:ext>
            </a:extLst>
          </p:cNvPr>
          <p:cNvSpPr>
            <a:spLocks noGrp="1"/>
          </p:cNvSpPr>
          <p:nvPr>
            <p:ph idx="1"/>
          </p:nvPr>
        </p:nvSpPr>
        <p:spPr>
          <a:xfrm>
            <a:off x="1295401" y="696191"/>
            <a:ext cx="9601196" cy="5179677"/>
          </a:xfrm>
        </p:spPr>
        <p:txBody>
          <a:bodyPr/>
          <a:lstStyle/>
          <a:p>
            <a:r>
              <a:rPr lang="en-US" b="1" dirty="0"/>
              <a:t>The World Bank is a group of four institutions; </a:t>
            </a:r>
          </a:p>
          <a:p>
            <a:r>
              <a:rPr lang="en-US" b="1" dirty="0"/>
              <a:t>The International Bank for Reconstruction and Development (IBRD), established in 1945, the International Finance Corporation (IFC), established in 1956, the International Development Association (IDA), established in 1960, and the Multilateral Investment Guarantee Agency (MIGA), established in 1988.</a:t>
            </a:r>
          </a:p>
          <a:p>
            <a:r>
              <a:rPr lang="en-US" b="1" dirty="0"/>
              <a:t> The Common objective of all four institutions is to help raise standards of living in developing countries by channeling financial resources to those countries from developed countries.</a:t>
            </a:r>
            <a:endParaRPr lang="en-IN" b="1" dirty="0"/>
          </a:p>
        </p:txBody>
      </p:sp>
    </p:spTree>
    <p:extLst>
      <p:ext uri="{BB962C8B-B14F-4D97-AF65-F5344CB8AC3E}">
        <p14:creationId xmlns:p14="http://schemas.microsoft.com/office/powerpoint/2010/main" val="53030701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8F485-CE40-F519-6D09-B7EB8477EEA8}"/>
              </a:ext>
            </a:extLst>
          </p:cNvPr>
          <p:cNvSpPr>
            <a:spLocks noGrp="1"/>
          </p:cNvSpPr>
          <p:nvPr>
            <p:ph type="title"/>
          </p:nvPr>
        </p:nvSpPr>
        <p:spPr/>
        <p:txBody>
          <a:bodyPr>
            <a:normAutofit fontScale="90000"/>
          </a:bodyPr>
          <a:lstStyle/>
          <a:p>
            <a:r>
              <a:rPr lang="en-US" b="1" dirty="0"/>
              <a:t>What was the Bretten Woods Conference? </a:t>
            </a:r>
            <a:endParaRPr lang="en-IN" b="1" dirty="0"/>
          </a:p>
        </p:txBody>
      </p:sp>
      <p:sp>
        <p:nvSpPr>
          <p:cNvPr id="3" name="Content Placeholder 2">
            <a:extLst>
              <a:ext uri="{FF2B5EF4-FFF2-40B4-BE49-F238E27FC236}">
                <a16:creationId xmlns:a16="http://schemas.microsoft.com/office/drawing/2014/main" id="{B4FD3D1A-7319-6D2F-FD27-8F0DEDA3F09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7374622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26814-448D-9DD7-873A-F9EF54C97044}"/>
              </a:ext>
            </a:extLst>
          </p:cNvPr>
          <p:cNvSpPr>
            <a:spLocks noGrp="1"/>
          </p:cNvSpPr>
          <p:nvPr>
            <p:ph type="title"/>
          </p:nvPr>
        </p:nvSpPr>
        <p:spPr>
          <a:xfrm>
            <a:off x="1295402" y="982132"/>
            <a:ext cx="9601196" cy="3465177"/>
          </a:xfrm>
        </p:spPr>
        <p:txBody>
          <a:bodyPr>
            <a:normAutofit fontScale="90000"/>
          </a:bodyPr>
          <a:lstStyle/>
          <a:p>
            <a:r>
              <a:rPr lang="en-US" dirty="0"/>
              <a:t>Ans. It was a United Nations Monetary and Financial Conference of 44 Governments held in 1944 at Bretten Woods, USA. It led to the establishment of IBRD - the International Bank for Reconstruction and Development.</a:t>
            </a:r>
            <a:endParaRPr lang="en-IN" dirty="0"/>
          </a:p>
        </p:txBody>
      </p:sp>
    </p:spTree>
    <p:extLst>
      <p:ext uri="{BB962C8B-B14F-4D97-AF65-F5344CB8AC3E}">
        <p14:creationId xmlns:p14="http://schemas.microsoft.com/office/powerpoint/2010/main" val="14832528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8C99B-C128-9F63-0519-F719DF15EBC7}"/>
              </a:ext>
            </a:extLst>
          </p:cNvPr>
          <p:cNvSpPr>
            <a:spLocks noGrp="1"/>
          </p:cNvSpPr>
          <p:nvPr>
            <p:ph type="title"/>
          </p:nvPr>
        </p:nvSpPr>
        <p:spPr/>
        <p:txBody>
          <a:bodyPr>
            <a:normAutofit/>
          </a:bodyPr>
          <a:lstStyle/>
          <a:p>
            <a:r>
              <a:rPr lang="en-US" b="1" dirty="0"/>
              <a:t>What is IMF? </a:t>
            </a:r>
            <a:endParaRPr lang="en-IN" b="1" dirty="0"/>
          </a:p>
        </p:txBody>
      </p:sp>
      <p:sp>
        <p:nvSpPr>
          <p:cNvPr id="3" name="Content Placeholder 2">
            <a:extLst>
              <a:ext uri="{FF2B5EF4-FFF2-40B4-BE49-F238E27FC236}">
                <a16:creationId xmlns:a16="http://schemas.microsoft.com/office/drawing/2014/main" id="{6FCC4B06-0112-2CD2-516E-461109EED4C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13527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B27BB-F144-D134-48A5-CCA23D6435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C038A8-73E7-9019-14DF-2DFED7650BEE}"/>
              </a:ext>
            </a:extLst>
          </p:cNvPr>
          <p:cNvSpPr>
            <a:spLocks noGrp="1"/>
          </p:cNvSpPr>
          <p:nvPr>
            <p:ph idx="1"/>
          </p:nvPr>
        </p:nvSpPr>
        <p:spPr/>
        <p:txBody>
          <a:bodyPr/>
          <a:lstStyle/>
          <a:p>
            <a:r>
              <a:rPr lang="en-US" b="1" dirty="0"/>
              <a:t> The International Monetary Fund (IMF) founded in December 1945 is an intergovernmental organization to : (a) promote cooperation on international monetary issues; (b) to promote exchange stability; (c) to facilitate balanced growth of international trade; and (d) to make the general resources of the fund temporarily available to members to permit them to correct maladjustments in their balance of payments.</a:t>
            </a:r>
            <a:endParaRPr lang="en-IN" b="1" dirty="0"/>
          </a:p>
        </p:txBody>
      </p:sp>
    </p:spTree>
    <p:extLst>
      <p:ext uri="{BB962C8B-B14F-4D97-AF65-F5344CB8AC3E}">
        <p14:creationId xmlns:p14="http://schemas.microsoft.com/office/powerpoint/2010/main" val="179397502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EE74E-6E7E-F0C1-2734-EAB7EF235B7B}"/>
              </a:ext>
            </a:extLst>
          </p:cNvPr>
          <p:cNvSpPr>
            <a:spLocks noGrp="1"/>
          </p:cNvSpPr>
          <p:nvPr>
            <p:ph type="title"/>
          </p:nvPr>
        </p:nvSpPr>
        <p:spPr/>
        <p:txBody>
          <a:bodyPr>
            <a:normAutofit fontScale="90000"/>
          </a:bodyPr>
          <a:lstStyle/>
          <a:p>
            <a:r>
              <a:rPr lang="en-US" dirty="0"/>
              <a:t>Was India among the original 51 Member States of the UN in 1945 ?  </a:t>
            </a:r>
            <a:endParaRPr lang="en-IN" dirty="0"/>
          </a:p>
        </p:txBody>
      </p:sp>
      <p:sp>
        <p:nvSpPr>
          <p:cNvPr id="3" name="Content Placeholder 2">
            <a:extLst>
              <a:ext uri="{FF2B5EF4-FFF2-40B4-BE49-F238E27FC236}">
                <a16:creationId xmlns:a16="http://schemas.microsoft.com/office/drawing/2014/main" id="{6E4C5BAC-C590-1ACC-8D85-F38CE610CD9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0320411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B55CC-A7A7-8225-BC63-F41930BF9EB6}"/>
              </a:ext>
            </a:extLst>
          </p:cNvPr>
          <p:cNvSpPr>
            <a:spLocks noGrp="1"/>
          </p:cNvSpPr>
          <p:nvPr>
            <p:ph type="title"/>
          </p:nvPr>
        </p:nvSpPr>
        <p:spPr/>
        <p:txBody>
          <a:bodyPr/>
          <a:lstStyle/>
          <a:p>
            <a:r>
              <a:rPr lang="en-IN" b="1" dirty="0"/>
              <a:t>Yes </a:t>
            </a:r>
          </a:p>
        </p:txBody>
      </p:sp>
      <p:sp>
        <p:nvSpPr>
          <p:cNvPr id="3" name="Content Placeholder 2">
            <a:extLst>
              <a:ext uri="{FF2B5EF4-FFF2-40B4-BE49-F238E27FC236}">
                <a16:creationId xmlns:a16="http://schemas.microsoft.com/office/drawing/2014/main" id="{E2D082F9-23D8-A043-A9F5-297AF55DC94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1635491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5609E-6502-0F81-456B-010A3C90E1E8}"/>
              </a:ext>
            </a:extLst>
          </p:cNvPr>
          <p:cNvSpPr>
            <a:spLocks noGrp="1"/>
          </p:cNvSpPr>
          <p:nvPr>
            <p:ph type="title"/>
          </p:nvPr>
        </p:nvSpPr>
        <p:spPr/>
        <p:txBody>
          <a:bodyPr>
            <a:normAutofit fontScale="90000"/>
          </a:bodyPr>
          <a:lstStyle/>
          <a:p>
            <a:r>
              <a:rPr lang="en-US" b="1" dirty="0"/>
              <a:t>What is IAEA? Give its date of establishment, the place of its Headquarters and its basic objectives. </a:t>
            </a:r>
            <a:endParaRPr lang="en-IN" b="1" dirty="0"/>
          </a:p>
        </p:txBody>
      </p:sp>
      <p:sp>
        <p:nvSpPr>
          <p:cNvPr id="3" name="Content Placeholder 2">
            <a:extLst>
              <a:ext uri="{FF2B5EF4-FFF2-40B4-BE49-F238E27FC236}">
                <a16:creationId xmlns:a16="http://schemas.microsoft.com/office/drawing/2014/main" id="{279BCAC4-8F67-0FB0-124A-D44D90D9961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215763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739EC-0B27-A089-201C-674212790C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3C8CCB-1443-A78A-B8E4-AE8895FCB11C}"/>
              </a:ext>
            </a:extLst>
          </p:cNvPr>
          <p:cNvSpPr>
            <a:spLocks noGrp="1"/>
          </p:cNvSpPr>
          <p:nvPr>
            <p:ph idx="1"/>
          </p:nvPr>
        </p:nvSpPr>
        <p:spPr/>
        <p:txBody>
          <a:bodyPr/>
          <a:lstStyle/>
          <a:p>
            <a:r>
              <a:rPr lang="en-US" b="1" dirty="0"/>
              <a:t> International Atomic Energy Agency was established on July 29, 1957 in Vienna. Its two main objectives are to seek to accelerate and enlarge the contribution of atomic energy to peace, health and prosperity throughout the world and to ensure that it is not used in such a way as to further any military purpose. It is administered by a 35- member Board of Governors headed by a Director General.</a:t>
            </a:r>
            <a:endParaRPr lang="en-IN" b="1" dirty="0"/>
          </a:p>
        </p:txBody>
      </p:sp>
    </p:spTree>
    <p:extLst>
      <p:ext uri="{BB962C8B-B14F-4D97-AF65-F5344CB8AC3E}">
        <p14:creationId xmlns:p14="http://schemas.microsoft.com/office/powerpoint/2010/main" val="281397368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DE15-CE2D-4C52-71C9-3EF509241961}"/>
              </a:ext>
            </a:extLst>
          </p:cNvPr>
          <p:cNvSpPr>
            <a:spLocks noGrp="1"/>
          </p:cNvSpPr>
          <p:nvPr>
            <p:ph type="title"/>
          </p:nvPr>
        </p:nvSpPr>
        <p:spPr>
          <a:xfrm>
            <a:off x="1118757" y="847050"/>
            <a:ext cx="9601196" cy="1303867"/>
          </a:xfrm>
        </p:spPr>
        <p:txBody>
          <a:bodyPr>
            <a:normAutofit fontScale="90000"/>
          </a:bodyPr>
          <a:lstStyle/>
          <a:p>
            <a:r>
              <a:rPr lang="en-US" b="1" dirty="0"/>
              <a:t>Name the first </a:t>
            </a:r>
            <a:r>
              <a:rPr lang="en-US" b="1" dirty="0" err="1"/>
              <a:t>specialised</a:t>
            </a:r>
            <a:r>
              <a:rPr lang="en-US" b="1" dirty="0"/>
              <a:t> agency of the United Nations?.</a:t>
            </a:r>
            <a:endParaRPr lang="en-IN" b="1" dirty="0"/>
          </a:p>
        </p:txBody>
      </p:sp>
      <p:sp>
        <p:nvSpPr>
          <p:cNvPr id="3" name="Content Placeholder 2">
            <a:extLst>
              <a:ext uri="{FF2B5EF4-FFF2-40B4-BE49-F238E27FC236}">
                <a16:creationId xmlns:a16="http://schemas.microsoft.com/office/drawing/2014/main" id="{A9E49D81-B620-95C4-245D-7C2893F7F86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86535452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4E22-0B35-5223-1758-0743FD50AFF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5B33E6-D65E-1A94-DDFE-7501C726DCDB}"/>
              </a:ext>
            </a:extLst>
          </p:cNvPr>
          <p:cNvSpPr>
            <a:spLocks noGrp="1"/>
          </p:cNvSpPr>
          <p:nvPr>
            <p:ph idx="1"/>
          </p:nvPr>
        </p:nvSpPr>
        <p:spPr/>
        <p:txBody>
          <a:bodyPr/>
          <a:lstStyle/>
          <a:p>
            <a:r>
              <a:rPr lang="en-US" dirty="0"/>
              <a:t> </a:t>
            </a:r>
            <a:r>
              <a:rPr lang="en-US" b="1" dirty="0"/>
              <a:t>ILO - International </a:t>
            </a:r>
            <a:r>
              <a:rPr lang="en-US" b="1" dirty="0" err="1"/>
              <a:t>Labour</a:t>
            </a:r>
            <a:r>
              <a:rPr lang="en-US" b="1" dirty="0"/>
              <a:t> </a:t>
            </a:r>
            <a:r>
              <a:rPr lang="en-US" b="1" dirty="0" err="1"/>
              <a:t>Organisation</a:t>
            </a:r>
            <a:r>
              <a:rPr lang="en-US" b="1" dirty="0"/>
              <a:t>. It was established in 1919 as an autonomous institution associated with the League of Nations. By an agreement approved on December 14, 1946, ILO became the first </a:t>
            </a:r>
            <a:r>
              <a:rPr lang="en-US" b="1" dirty="0" err="1"/>
              <a:t>specialised</a:t>
            </a:r>
            <a:r>
              <a:rPr lang="en-US" b="1" dirty="0"/>
              <a:t> agency associated with UN. Based at Geneva in Switzerland ILO works to promote social justice for working people everywhere. In ILO, workers, employers and Governments representatives have an equal voice in formulating its policies</a:t>
            </a:r>
            <a:endParaRPr lang="en-IN" b="1" dirty="0"/>
          </a:p>
        </p:txBody>
      </p:sp>
    </p:spTree>
    <p:extLst>
      <p:ext uri="{BB962C8B-B14F-4D97-AF65-F5344CB8AC3E}">
        <p14:creationId xmlns:p14="http://schemas.microsoft.com/office/powerpoint/2010/main" val="18385738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956C3-2573-D9A8-8A9E-0EEF5DE37D4A}"/>
              </a:ext>
            </a:extLst>
          </p:cNvPr>
          <p:cNvSpPr>
            <a:spLocks noGrp="1"/>
          </p:cNvSpPr>
          <p:nvPr>
            <p:ph type="title"/>
          </p:nvPr>
        </p:nvSpPr>
        <p:spPr/>
        <p:txBody>
          <a:bodyPr>
            <a:normAutofit fontScale="90000"/>
          </a:bodyPr>
          <a:lstStyle/>
          <a:p>
            <a:r>
              <a:rPr lang="en-US" b="1" dirty="0"/>
              <a:t>“Since war begins in the minds of men, it is in the minds of men that the </a:t>
            </a:r>
            <a:r>
              <a:rPr lang="en-US" b="1" dirty="0" err="1"/>
              <a:t>defences</a:t>
            </a:r>
            <a:r>
              <a:rPr lang="en-US" b="1" dirty="0"/>
              <a:t> of peace must be constructed.” Where does this well-known quotation come from. </a:t>
            </a:r>
            <a:endParaRPr lang="en-IN" b="1" dirty="0"/>
          </a:p>
        </p:txBody>
      </p:sp>
      <p:sp>
        <p:nvSpPr>
          <p:cNvPr id="3" name="Content Placeholder 2">
            <a:extLst>
              <a:ext uri="{FF2B5EF4-FFF2-40B4-BE49-F238E27FC236}">
                <a16:creationId xmlns:a16="http://schemas.microsoft.com/office/drawing/2014/main" id="{888C1756-4B60-4441-875C-84B6B276A017}"/>
              </a:ext>
            </a:extLst>
          </p:cNvPr>
          <p:cNvSpPr>
            <a:spLocks noGrp="1"/>
          </p:cNvSpPr>
          <p:nvPr>
            <p:ph idx="1"/>
          </p:nvPr>
        </p:nvSpPr>
        <p:spPr>
          <a:xfrm>
            <a:off x="1295401" y="3293918"/>
            <a:ext cx="9601196" cy="2581950"/>
          </a:xfrm>
        </p:spPr>
        <p:txBody>
          <a:bodyPr/>
          <a:lstStyle/>
          <a:p>
            <a:endParaRPr lang="en-IN" dirty="0"/>
          </a:p>
        </p:txBody>
      </p:sp>
    </p:spTree>
    <p:extLst>
      <p:ext uri="{BB962C8B-B14F-4D97-AF65-F5344CB8AC3E}">
        <p14:creationId xmlns:p14="http://schemas.microsoft.com/office/powerpoint/2010/main" val="93612469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C96B-AFFD-7E19-624E-12FB76C88CF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AFDBAB5F-63FC-078E-2499-E1767A90E789}"/>
              </a:ext>
            </a:extLst>
          </p:cNvPr>
          <p:cNvSpPr>
            <a:spLocks noGrp="1"/>
          </p:cNvSpPr>
          <p:nvPr>
            <p:ph idx="1"/>
          </p:nvPr>
        </p:nvSpPr>
        <p:spPr/>
        <p:txBody>
          <a:bodyPr/>
          <a:lstStyle/>
          <a:p>
            <a:r>
              <a:rPr lang="en-US" b="1" dirty="0"/>
              <a:t> From the constitution of UNESCO - United Nations Educational Scientific and Cultural Organization - which came into being on November 4, 1946, with Headquarters in Paris, France. UNESCO is involved in promoting education worldwide, preserving the world’s heritage and culture, improving accessibility to communication and supporting social scientific research.</a:t>
            </a:r>
            <a:endParaRPr lang="en-IN" b="1" dirty="0"/>
          </a:p>
        </p:txBody>
      </p:sp>
    </p:spTree>
    <p:extLst>
      <p:ext uri="{BB962C8B-B14F-4D97-AF65-F5344CB8AC3E}">
        <p14:creationId xmlns:p14="http://schemas.microsoft.com/office/powerpoint/2010/main" val="239174687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D8559-6574-74BA-097C-575ED7928EBC}"/>
              </a:ext>
            </a:extLst>
          </p:cNvPr>
          <p:cNvSpPr>
            <a:spLocks noGrp="1"/>
          </p:cNvSpPr>
          <p:nvPr>
            <p:ph type="title"/>
          </p:nvPr>
        </p:nvSpPr>
        <p:spPr/>
        <p:txBody>
          <a:bodyPr>
            <a:normAutofit fontScale="90000"/>
          </a:bodyPr>
          <a:lstStyle/>
          <a:p>
            <a:r>
              <a:rPr lang="en-US" b="1" dirty="0"/>
              <a:t>What and when was the first resolution adopted by the UN General Assembly. </a:t>
            </a:r>
            <a:endParaRPr lang="en-IN" b="1" dirty="0"/>
          </a:p>
        </p:txBody>
      </p:sp>
      <p:sp>
        <p:nvSpPr>
          <p:cNvPr id="3" name="Content Placeholder 2">
            <a:extLst>
              <a:ext uri="{FF2B5EF4-FFF2-40B4-BE49-F238E27FC236}">
                <a16:creationId xmlns:a16="http://schemas.microsoft.com/office/drawing/2014/main" id="{10A2331A-7B91-72FE-E4B1-0DC9561D383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1160851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40C0-1029-5031-A3F3-E5F991B184E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8640293-690D-7D41-5318-F9B87610321A}"/>
              </a:ext>
            </a:extLst>
          </p:cNvPr>
          <p:cNvSpPr>
            <a:spLocks noGrp="1"/>
          </p:cNvSpPr>
          <p:nvPr>
            <p:ph idx="1"/>
          </p:nvPr>
        </p:nvSpPr>
        <p:spPr/>
        <p:txBody>
          <a:bodyPr/>
          <a:lstStyle/>
          <a:p>
            <a:r>
              <a:rPr lang="en-US" b="1" dirty="0"/>
              <a:t> On January 24, 1946, UNGA adopts its first resolution and its main focus was peaceful uses of atomic energy and the elimination of atomic and other weapons of mass destruction.</a:t>
            </a:r>
            <a:endParaRPr lang="en-IN" b="1" dirty="0"/>
          </a:p>
        </p:txBody>
      </p:sp>
    </p:spTree>
    <p:extLst>
      <p:ext uri="{BB962C8B-B14F-4D97-AF65-F5344CB8AC3E}">
        <p14:creationId xmlns:p14="http://schemas.microsoft.com/office/powerpoint/2010/main" val="35061382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579C4-CD02-2C1C-1F21-925BB0F222BB}"/>
              </a:ext>
            </a:extLst>
          </p:cNvPr>
          <p:cNvSpPr>
            <a:spLocks noGrp="1"/>
          </p:cNvSpPr>
          <p:nvPr>
            <p:ph type="title"/>
          </p:nvPr>
        </p:nvSpPr>
        <p:spPr/>
        <p:txBody>
          <a:bodyPr>
            <a:normAutofit fontScale="90000"/>
          </a:bodyPr>
          <a:lstStyle/>
          <a:p>
            <a:r>
              <a:rPr lang="en-US" b="1" dirty="0"/>
              <a:t>What is “An Agenda for Development” ? </a:t>
            </a:r>
            <a:endParaRPr lang="en-IN" b="1" dirty="0"/>
          </a:p>
        </p:txBody>
      </p:sp>
      <p:sp>
        <p:nvSpPr>
          <p:cNvPr id="3" name="Content Placeholder 2">
            <a:extLst>
              <a:ext uri="{FF2B5EF4-FFF2-40B4-BE49-F238E27FC236}">
                <a16:creationId xmlns:a16="http://schemas.microsoft.com/office/drawing/2014/main" id="{BEC1C363-1D6D-C0D1-07F6-C9CAFED2EB1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450901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79AF3-2F1D-D820-41BB-C06F66EB518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769BE2-1938-1228-3517-CC970B21DA4B}"/>
              </a:ext>
            </a:extLst>
          </p:cNvPr>
          <p:cNvSpPr>
            <a:spLocks noGrp="1"/>
          </p:cNvSpPr>
          <p:nvPr>
            <p:ph idx="1"/>
          </p:nvPr>
        </p:nvSpPr>
        <p:spPr/>
        <p:txBody>
          <a:bodyPr/>
          <a:lstStyle/>
          <a:p>
            <a:r>
              <a:rPr lang="en-US" b="1" dirty="0"/>
              <a:t> It is a blueprint for improving the human condition. In response to the request of the General Assembly, the Secretary-General issued this report on May 6, 1994.</a:t>
            </a:r>
            <a:endParaRPr lang="en-IN" b="1" dirty="0"/>
          </a:p>
        </p:txBody>
      </p:sp>
    </p:spTree>
    <p:extLst>
      <p:ext uri="{BB962C8B-B14F-4D97-AF65-F5344CB8AC3E}">
        <p14:creationId xmlns:p14="http://schemas.microsoft.com/office/powerpoint/2010/main" val="190723391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98DE4-EA15-A785-5D7E-4012187EA711}"/>
              </a:ext>
            </a:extLst>
          </p:cNvPr>
          <p:cNvSpPr>
            <a:spLocks noGrp="1"/>
          </p:cNvSpPr>
          <p:nvPr>
            <p:ph type="title"/>
          </p:nvPr>
        </p:nvSpPr>
        <p:spPr/>
        <p:txBody>
          <a:bodyPr>
            <a:normAutofit fontScale="90000"/>
          </a:bodyPr>
          <a:lstStyle/>
          <a:p>
            <a:r>
              <a:rPr lang="en-US" b="1" dirty="0"/>
              <a:t>Name the forerunner organization of the UN and the year of its establishment? </a:t>
            </a:r>
            <a:endParaRPr lang="en-IN" b="1" dirty="0"/>
          </a:p>
        </p:txBody>
      </p:sp>
      <p:sp>
        <p:nvSpPr>
          <p:cNvPr id="3" name="Content Placeholder 2">
            <a:extLst>
              <a:ext uri="{FF2B5EF4-FFF2-40B4-BE49-F238E27FC236}">
                <a16:creationId xmlns:a16="http://schemas.microsoft.com/office/drawing/2014/main" id="{F71057EA-3BA7-E40F-EE28-FBEE102A7A2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9938115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A62D3-9D31-CF8F-C578-EB272B9D970C}"/>
              </a:ext>
            </a:extLst>
          </p:cNvPr>
          <p:cNvSpPr>
            <a:spLocks noGrp="1"/>
          </p:cNvSpPr>
          <p:nvPr>
            <p:ph type="title"/>
          </p:nvPr>
        </p:nvSpPr>
        <p:spPr/>
        <p:txBody>
          <a:bodyPr>
            <a:normAutofit fontScale="90000"/>
          </a:bodyPr>
          <a:lstStyle/>
          <a:p>
            <a:r>
              <a:rPr lang="en-US" b="1" dirty="0"/>
              <a:t> League of Nations, established in 1919 under the Treaty of Versailles.</a:t>
            </a:r>
            <a:endParaRPr lang="en-IN" b="1" dirty="0"/>
          </a:p>
        </p:txBody>
      </p:sp>
      <p:sp>
        <p:nvSpPr>
          <p:cNvPr id="3" name="Content Placeholder 2">
            <a:extLst>
              <a:ext uri="{FF2B5EF4-FFF2-40B4-BE49-F238E27FC236}">
                <a16:creationId xmlns:a16="http://schemas.microsoft.com/office/drawing/2014/main" id="{9E231BBC-FF9B-505B-8C81-C33EBCED0D3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8439943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1F4E5-4AA3-4C9B-15BA-BB447235D689}"/>
              </a:ext>
            </a:extLst>
          </p:cNvPr>
          <p:cNvSpPr>
            <a:spLocks noGrp="1"/>
          </p:cNvSpPr>
          <p:nvPr>
            <p:ph type="title"/>
          </p:nvPr>
        </p:nvSpPr>
        <p:spPr/>
        <p:txBody>
          <a:bodyPr>
            <a:normAutofit fontScale="90000"/>
          </a:bodyPr>
          <a:lstStyle/>
          <a:p>
            <a:r>
              <a:rPr lang="en-US" b="1" dirty="0"/>
              <a:t>Which day of the year is celebrated as International Day of Peace? </a:t>
            </a:r>
            <a:endParaRPr lang="en-IN" b="1" dirty="0"/>
          </a:p>
        </p:txBody>
      </p:sp>
      <p:sp>
        <p:nvSpPr>
          <p:cNvPr id="3" name="Content Placeholder 2">
            <a:extLst>
              <a:ext uri="{FF2B5EF4-FFF2-40B4-BE49-F238E27FC236}">
                <a16:creationId xmlns:a16="http://schemas.microsoft.com/office/drawing/2014/main" id="{FFF7D3AB-4313-D238-9878-56E9337EC34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1802175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F8EE8-8B6F-3032-953A-FDB7D4B7E38A}"/>
              </a:ext>
            </a:extLst>
          </p:cNvPr>
          <p:cNvSpPr>
            <a:spLocks noGrp="1"/>
          </p:cNvSpPr>
          <p:nvPr>
            <p:ph type="title"/>
          </p:nvPr>
        </p:nvSpPr>
        <p:spPr/>
        <p:txBody>
          <a:bodyPr>
            <a:normAutofit fontScale="90000"/>
          </a:bodyPr>
          <a:lstStyle/>
          <a:p>
            <a:r>
              <a:rPr lang="en-US" b="1" dirty="0"/>
              <a:t> The General Assembly has designated 21 September as the International Day of Peace.</a:t>
            </a:r>
            <a:endParaRPr lang="en-IN" b="1" dirty="0"/>
          </a:p>
        </p:txBody>
      </p:sp>
      <p:sp>
        <p:nvSpPr>
          <p:cNvPr id="3" name="Content Placeholder 2">
            <a:extLst>
              <a:ext uri="{FF2B5EF4-FFF2-40B4-BE49-F238E27FC236}">
                <a16:creationId xmlns:a16="http://schemas.microsoft.com/office/drawing/2014/main" id="{155EE63B-2AF5-5C6F-EE6B-1013E3237B6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393778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6CE88-13A1-D2C5-364E-9FBC2766520A}"/>
              </a:ext>
            </a:extLst>
          </p:cNvPr>
          <p:cNvSpPr>
            <a:spLocks noGrp="1"/>
          </p:cNvSpPr>
          <p:nvPr>
            <p:ph type="title"/>
          </p:nvPr>
        </p:nvSpPr>
        <p:spPr/>
        <p:txBody>
          <a:bodyPr>
            <a:normAutofit fontScale="90000"/>
          </a:bodyPr>
          <a:lstStyle/>
          <a:p>
            <a:r>
              <a:rPr lang="en-US" b="1" dirty="0"/>
              <a:t>What are the Millennium Development Goals adopted at the Millennium Summit in 2000.</a:t>
            </a:r>
            <a:endParaRPr lang="en-IN" b="1" dirty="0"/>
          </a:p>
        </p:txBody>
      </p:sp>
      <p:sp>
        <p:nvSpPr>
          <p:cNvPr id="3" name="Content Placeholder 2">
            <a:extLst>
              <a:ext uri="{FF2B5EF4-FFF2-40B4-BE49-F238E27FC236}">
                <a16:creationId xmlns:a16="http://schemas.microsoft.com/office/drawing/2014/main" id="{8EC8D9AC-BE4C-4A4E-BEBF-0ABA91B8E0DB}"/>
              </a:ext>
            </a:extLst>
          </p:cNvPr>
          <p:cNvSpPr>
            <a:spLocks noGrp="1"/>
          </p:cNvSpPr>
          <p:nvPr>
            <p:ph idx="1"/>
          </p:nvPr>
        </p:nvSpPr>
        <p:spPr/>
        <p:txBody>
          <a:bodyPr/>
          <a:lstStyle/>
          <a:p>
            <a:r>
              <a:rPr lang="en-US" dirty="0"/>
              <a:t> </a:t>
            </a:r>
            <a:endParaRPr lang="en-IN" dirty="0"/>
          </a:p>
        </p:txBody>
      </p:sp>
    </p:spTree>
    <p:extLst>
      <p:ext uri="{BB962C8B-B14F-4D97-AF65-F5344CB8AC3E}">
        <p14:creationId xmlns:p14="http://schemas.microsoft.com/office/powerpoint/2010/main" val="41645463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7635E-4D63-AEA8-55CB-1BD1753251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DEC866-57F8-43CF-AF72-E7690B7A5DAB}"/>
              </a:ext>
            </a:extLst>
          </p:cNvPr>
          <p:cNvSpPr>
            <a:spLocks noGrp="1"/>
          </p:cNvSpPr>
          <p:nvPr>
            <p:ph idx="1"/>
          </p:nvPr>
        </p:nvSpPr>
        <p:spPr/>
        <p:txBody>
          <a:bodyPr>
            <a:normAutofit/>
          </a:bodyPr>
          <a:lstStyle/>
          <a:p>
            <a:r>
              <a:rPr lang="en-US" sz="2800" b="1" dirty="0"/>
              <a:t>(a) Eradicate extreme poverty and hunger (b) Achieve universal primary education (c) Promote gender equality and empower women (d) Reduce child mortality (e) Improve maternal health (f) Combat HIV / AIDS, malaria and other diseases. (g) Ensure environmental sustainability (h) Develop a global partnership for development.</a:t>
            </a:r>
            <a:endParaRPr lang="en-IN" sz="2800" b="1" dirty="0"/>
          </a:p>
        </p:txBody>
      </p:sp>
    </p:spTree>
    <p:extLst>
      <p:ext uri="{BB962C8B-B14F-4D97-AF65-F5344CB8AC3E}">
        <p14:creationId xmlns:p14="http://schemas.microsoft.com/office/powerpoint/2010/main" val="6151179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960F4-F409-E973-7E6E-FF8465FB9343}"/>
              </a:ext>
            </a:extLst>
          </p:cNvPr>
          <p:cNvSpPr>
            <a:spLocks noGrp="1"/>
          </p:cNvSpPr>
          <p:nvPr>
            <p:ph type="title"/>
          </p:nvPr>
        </p:nvSpPr>
        <p:spPr/>
        <p:txBody>
          <a:bodyPr>
            <a:normAutofit fontScale="90000"/>
          </a:bodyPr>
          <a:lstStyle/>
          <a:p>
            <a:r>
              <a:rPr lang="en-US" b="1" dirty="0"/>
              <a:t>Why was the Trusteeship Council set-up and why has it suspended its operations? </a:t>
            </a:r>
            <a:endParaRPr lang="en-IN" b="1" dirty="0"/>
          </a:p>
        </p:txBody>
      </p:sp>
      <p:sp>
        <p:nvSpPr>
          <p:cNvPr id="3" name="Content Placeholder 2">
            <a:extLst>
              <a:ext uri="{FF2B5EF4-FFF2-40B4-BE49-F238E27FC236}">
                <a16:creationId xmlns:a16="http://schemas.microsoft.com/office/drawing/2014/main" id="{28072441-F69F-6DCD-DEC5-A30A6B347B0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1442994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09325-EF95-E569-3BC1-B05D8BFF9BF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BCDE33-05FB-E101-0FF3-6905EA3F7B8C}"/>
              </a:ext>
            </a:extLst>
          </p:cNvPr>
          <p:cNvSpPr>
            <a:spLocks noGrp="1"/>
          </p:cNvSpPr>
          <p:nvPr>
            <p:ph idx="1"/>
          </p:nvPr>
        </p:nvSpPr>
        <p:spPr/>
        <p:txBody>
          <a:bodyPr/>
          <a:lstStyle/>
          <a:p>
            <a:r>
              <a:rPr lang="en-US" b="1" dirty="0"/>
              <a:t> Trusteeship Council was set up by the UN to supervise the administration of Trust Territories and its major goal was to promote self-government or independence. On 1 November 1994 the Council has suspended its operation with the independence of Palau, the last remaining UN Trust territory. It will now meet as </a:t>
            </a:r>
            <a:r>
              <a:rPr lang="en-US" b="1" dirty="0" err="1"/>
              <a:t>occassions</a:t>
            </a:r>
            <a:r>
              <a:rPr lang="en-US" b="1" dirty="0"/>
              <a:t> required at the request of General Assembly or the Security Council</a:t>
            </a:r>
            <a:endParaRPr lang="en-IN" b="1" dirty="0"/>
          </a:p>
        </p:txBody>
      </p:sp>
    </p:spTree>
    <p:extLst>
      <p:ext uri="{BB962C8B-B14F-4D97-AF65-F5344CB8AC3E}">
        <p14:creationId xmlns:p14="http://schemas.microsoft.com/office/powerpoint/2010/main" val="50032852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0D89-70BE-85EF-A49A-23ED07B6F5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1D55ED-66E9-6E7C-2F3C-F2CAAD5D2003}"/>
              </a:ext>
            </a:extLst>
          </p:cNvPr>
          <p:cNvSpPr>
            <a:spLocks noGrp="1"/>
          </p:cNvSpPr>
          <p:nvPr>
            <p:ph idx="1"/>
          </p:nvPr>
        </p:nvSpPr>
        <p:spPr/>
        <p:txBody>
          <a:bodyPr>
            <a:normAutofit/>
          </a:bodyPr>
          <a:lstStyle/>
          <a:p>
            <a:r>
              <a:rPr lang="en-US" sz="4000" b="1" dirty="0"/>
              <a:t>Who are the Messengers of Peace and Goodwill Ambassadors. Who appoints them. </a:t>
            </a:r>
            <a:endParaRPr lang="en-IN" sz="4000" b="1" dirty="0"/>
          </a:p>
        </p:txBody>
      </p:sp>
    </p:spTree>
    <p:extLst>
      <p:ext uri="{BB962C8B-B14F-4D97-AF65-F5344CB8AC3E}">
        <p14:creationId xmlns:p14="http://schemas.microsoft.com/office/powerpoint/2010/main" val="41839159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C69F5-4F59-B771-42CA-EACE7B7C4FF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228116F-2642-A261-B016-2CF01CE7EC3E}"/>
              </a:ext>
            </a:extLst>
          </p:cNvPr>
          <p:cNvSpPr>
            <a:spLocks noGrp="1"/>
          </p:cNvSpPr>
          <p:nvPr>
            <p:ph idx="1"/>
          </p:nvPr>
        </p:nvSpPr>
        <p:spPr/>
        <p:txBody>
          <a:bodyPr/>
          <a:lstStyle/>
          <a:p>
            <a:r>
              <a:rPr lang="en-US" b="1" dirty="0"/>
              <a:t> They are prominent personalities who have lent their names, talents and time to support UN </a:t>
            </a:r>
            <a:r>
              <a:rPr lang="en-US" b="1" dirty="0" err="1"/>
              <a:t>programmes</a:t>
            </a:r>
            <a:r>
              <a:rPr lang="en-US" b="1" dirty="0"/>
              <a:t>. Messengers of Peace are appointed by the UN Secretary-General. The Goodwill Ambassadors are appointed by a cross-section of funds. Indian tennis player Vijay Amritraj was appointed UN Messenger of Peace on February 2001</a:t>
            </a:r>
            <a:endParaRPr lang="en-IN" b="1" dirty="0"/>
          </a:p>
        </p:txBody>
      </p:sp>
    </p:spTree>
    <p:extLst>
      <p:ext uri="{BB962C8B-B14F-4D97-AF65-F5344CB8AC3E}">
        <p14:creationId xmlns:p14="http://schemas.microsoft.com/office/powerpoint/2010/main" val="195184999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B094-F053-1986-7ADF-A45C756ABB3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E36CDD-6081-F77E-4239-1E33C946EC35}"/>
              </a:ext>
            </a:extLst>
          </p:cNvPr>
          <p:cNvSpPr>
            <a:spLocks noGrp="1"/>
          </p:cNvSpPr>
          <p:nvPr>
            <p:ph idx="1"/>
          </p:nvPr>
        </p:nvSpPr>
        <p:spPr/>
        <p:txBody>
          <a:bodyPr>
            <a:normAutofit/>
          </a:bodyPr>
          <a:lstStyle/>
          <a:p>
            <a:r>
              <a:rPr lang="en-US" sz="3600" b="1" dirty="0"/>
              <a:t>What is NPT? Has India signed it, if not why? </a:t>
            </a:r>
            <a:endParaRPr lang="en-IN" sz="3600" b="1" dirty="0"/>
          </a:p>
        </p:txBody>
      </p:sp>
    </p:spTree>
    <p:extLst>
      <p:ext uri="{BB962C8B-B14F-4D97-AF65-F5344CB8AC3E}">
        <p14:creationId xmlns:p14="http://schemas.microsoft.com/office/powerpoint/2010/main" val="132462396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C7F4C-DC10-7F6B-B3CD-E8E52556D8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D2EDC1-BC74-B730-0030-0CFEBB9B2B06}"/>
              </a:ext>
            </a:extLst>
          </p:cNvPr>
          <p:cNvSpPr>
            <a:spLocks noGrp="1"/>
          </p:cNvSpPr>
          <p:nvPr>
            <p:ph idx="1"/>
          </p:nvPr>
        </p:nvSpPr>
        <p:spPr/>
        <p:txBody>
          <a:bodyPr/>
          <a:lstStyle/>
          <a:p>
            <a:r>
              <a:rPr lang="en-US" b="1" dirty="0"/>
              <a:t> The Treaty on the Non-Proliferation of Nuclear Weapons (NPT), the most universal of all multilateral disarmament treaties, was first opened for signature in 1968 and came into force in 1970. The NPT is the cornerstone of the global nuclear nonproliferation regime and the essential foundation for the pursuit of nuclear disarmament. India is not a signatory to NPT because India considers it a discriminatory treaty.</a:t>
            </a:r>
            <a:endParaRPr lang="en-IN" b="1" dirty="0"/>
          </a:p>
        </p:txBody>
      </p:sp>
    </p:spTree>
    <p:extLst>
      <p:ext uri="{BB962C8B-B14F-4D97-AF65-F5344CB8AC3E}">
        <p14:creationId xmlns:p14="http://schemas.microsoft.com/office/powerpoint/2010/main" val="250891056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93640-B469-C44D-16F6-6744EF5B1AF2}"/>
              </a:ext>
            </a:extLst>
          </p:cNvPr>
          <p:cNvSpPr>
            <a:spLocks noGrp="1"/>
          </p:cNvSpPr>
          <p:nvPr>
            <p:ph type="title"/>
          </p:nvPr>
        </p:nvSpPr>
        <p:spPr/>
        <p:txBody>
          <a:bodyPr>
            <a:normAutofit fontScale="90000"/>
          </a:bodyPr>
          <a:lstStyle/>
          <a:p>
            <a:r>
              <a:rPr lang="en-US" b="1" dirty="0"/>
              <a:t>Name the Indian who contested for the post of UN Secretary - General? </a:t>
            </a:r>
            <a:endParaRPr lang="en-IN" b="1" dirty="0"/>
          </a:p>
        </p:txBody>
      </p:sp>
      <p:sp>
        <p:nvSpPr>
          <p:cNvPr id="3" name="Content Placeholder 2">
            <a:extLst>
              <a:ext uri="{FF2B5EF4-FFF2-40B4-BE49-F238E27FC236}">
                <a16:creationId xmlns:a16="http://schemas.microsoft.com/office/drawing/2014/main" id="{E0D0B258-3683-3C9F-7E5E-E327B11B4DC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6458708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965A-27A6-0220-F02C-AF4EEE844407}"/>
              </a:ext>
            </a:extLst>
          </p:cNvPr>
          <p:cNvSpPr>
            <a:spLocks noGrp="1"/>
          </p:cNvSpPr>
          <p:nvPr>
            <p:ph type="title"/>
          </p:nvPr>
        </p:nvSpPr>
        <p:spPr/>
        <p:txBody>
          <a:bodyPr/>
          <a:lstStyle/>
          <a:p>
            <a:r>
              <a:rPr lang="en-US" b="1" dirty="0"/>
              <a:t> Mr. Shashi Tharoor of India  </a:t>
            </a:r>
            <a:endParaRPr lang="en-IN" dirty="0"/>
          </a:p>
        </p:txBody>
      </p:sp>
      <p:sp>
        <p:nvSpPr>
          <p:cNvPr id="3" name="Content Placeholder 2">
            <a:extLst>
              <a:ext uri="{FF2B5EF4-FFF2-40B4-BE49-F238E27FC236}">
                <a16:creationId xmlns:a16="http://schemas.microsoft.com/office/drawing/2014/main" id="{AC5B1F74-0550-E77C-41A2-07A87B76F97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15427387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61</TotalTime>
  <Words>3048</Words>
  <Application>Microsoft Office PowerPoint</Application>
  <PresentationFormat>Widescreen</PresentationFormat>
  <Paragraphs>160</Paragraphs>
  <Slides>134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134</vt:i4>
      </vt:variant>
    </vt:vector>
  </HeadingPairs>
  <TitlesOfParts>
    <vt:vector size="138" baseType="lpstr">
      <vt:lpstr>Arial</vt:lpstr>
      <vt:lpstr>Garamond</vt:lpstr>
      <vt:lpstr>Google Sans</vt:lpstr>
      <vt:lpstr>Organic</vt:lpstr>
      <vt:lpstr>International Organizations </vt:lpstr>
      <vt:lpstr>Which among the following organization helps world’s poorest countries?</vt:lpstr>
      <vt:lpstr>The International Development Association (IDA) is the part of the World Bank that helps the world’s poorest countries. It complements the World Bank’s other lending arm — the International Bank for Reconstruction and Development (IBRD) — which serves middle-income countries with capital investment and advisory services.</vt:lpstr>
      <vt:lpstr>The United Nations General Assembly appoints the Secretary-General of the United Nations on recommendation of which of the following organ?</vt:lpstr>
      <vt:lpstr>The Security Council</vt:lpstr>
      <vt:lpstr>Which among the following major United Nations site is known as UNO city?</vt:lpstr>
      <vt:lpstr>Vienna</vt:lpstr>
      <vt:lpstr>Which one of the following was used as a chemical weapon in the First World War?</vt:lpstr>
      <vt:lpstr>Mustard gas</vt:lpstr>
      <vt:lpstr>Which day is celebrated as International Day of People with Disabilities?</vt:lpstr>
      <vt:lpstr>3 December</vt:lpstr>
      <vt:lpstr>Which day is celebrated as World Ozone Day?</vt:lpstr>
      <vt:lpstr>16 September</vt:lpstr>
      <vt:lpstr>In which city is the headquarters of United Nations (UN)  situated ?</vt:lpstr>
      <vt:lpstr>New York</vt:lpstr>
      <vt:lpstr>When was the UN founded?  </vt:lpstr>
      <vt:lpstr>The UN officially came into existence in 1945, with operations beginning on October 24th of that year.          </vt:lpstr>
      <vt:lpstr>Who coined the term "United Nations"?  </vt:lpstr>
      <vt:lpstr>President Franklin D. Roosevelt is credited with coining the term "United Nations". </vt:lpstr>
      <vt:lpstr>How many member states does the UN currently have? </vt:lpstr>
      <vt:lpstr>The UN currently has 193 member states.  </vt:lpstr>
      <vt:lpstr>Where is the headquarters of the United Nations located? </vt:lpstr>
      <vt:lpstr>The main headquarters of the United Nations is located in New York, USA. </vt:lpstr>
      <vt:lpstr>How many countries signed the UN Charter in 1945? </vt:lpstr>
      <vt:lpstr>50 countries signed the UN Charter in 1945. </vt:lpstr>
      <vt:lpstr>What are the main areas of the UN's work?  </vt:lpstr>
      <vt:lpstr>The UN's work covers five main areas: maintaining international peace and security, protecting human rights, delivering humanitarian aid, supporting sustainable development and climate action, and upholding international law.  </vt:lpstr>
      <vt:lpstr>What is the name of the UN body that settles legal disputes between member states?  </vt:lpstr>
      <vt:lpstr>The International Court of Justice (ICJ) settles legal disputes between member states. </vt:lpstr>
      <vt:lpstr>What are the six principal organs of the UN?  </vt:lpstr>
      <vt:lpstr>The six principal organs are the General Assembly, the Security Council, the Economic and Social Council, the Trusteeship Council, the International Court of Justice, and the UN Secretariat. </vt:lpstr>
      <vt:lpstr>Which UN organ has primary responsibility for maintaining international peace and security?  </vt:lpstr>
      <vt:lpstr>The Security Council is responsible for maintaining international peace and security. </vt:lpstr>
      <vt:lpstr>How many official languages does the UN have? . </vt:lpstr>
      <vt:lpstr>The UN has six official languages</vt:lpstr>
      <vt:lpstr> What is the United Nations Charter?</vt:lpstr>
      <vt:lpstr>A treaty, according to International Law.</vt:lpstr>
      <vt:lpstr>When was the term 'United Nations' created?</vt:lpstr>
      <vt:lpstr>During World War II.</vt:lpstr>
      <vt:lpstr>Which is the name given to those countries?</vt:lpstr>
      <vt:lpstr>Original members.</vt:lpstr>
      <vt:lpstr>Name the country which did not sign the Charter at San Francisco but is still considered an original member..</vt:lpstr>
      <vt:lpstr> Poland - which was not able to send a representative</vt:lpstr>
      <vt:lpstr>What is the opening statement of the UN Charter?  </vt:lpstr>
      <vt:lpstr>“We the peoples of the United Nations determined to save succeeding generations from the scourge of war.”</vt:lpstr>
      <vt:lpstr>Name the principal Organs of the UN.  </vt:lpstr>
      <vt:lpstr>(i) General Assembly; (ii) Security Council; (iii) International Court of Justice; (iv) Economic and Social Council; and (v) Secretariat</vt:lpstr>
      <vt:lpstr>When and how is the General Assembly called in Session?   </vt:lpstr>
      <vt:lpstr>The General Assembly’s regular session begins each year on the third Tuesday in September and continues usually until mid-December.</vt:lpstr>
      <vt:lpstr>Are the decisions of the General Assembly binding on the Governments?  </vt:lpstr>
      <vt:lpstr>While the decisions of the GA have no legally binding force for Governments, they carry the weight of world opinion as well as the moral authority of the world community.</vt:lpstr>
      <vt:lpstr>How many representatives can each country have in the General Assembly?  </vt:lpstr>
      <vt:lpstr>Not more than five.</vt:lpstr>
      <vt:lpstr>Does UN Charter provide for the suspension or expulsion of Member States?  </vt:lpstr>
      <vt:lpstr>Yes, for violation of the principles of the Charter.</vt:lpstr>
      <vt:lpstr>What is the main function of the Security Council ?</vt:lpstr>
      <vt:lpstr>maintenance of International Peace and Security.</vt:lpstr>
      <vt:lpstr>Who are the members of the Security Council ?  </vt:lpstr>
      <vt:lpstr>The Council has 15 members; five permanent members - China, France, The Russian Federation, UK and USA - and 10 elected by the General Assembly for 2 year terms.</vt:lpstr>
      <vt:lpstr>What is the ‘Veto’ power?</vt:lpstr>
      <vt:lpstr>The power to Veto any decision by a negative vote in the Security Council.</vt:lpstr>
      <vt:lpstr>Who elects non-permanent members of the Security Council?</vt:lpstr>
      <vt:lpstr>The UN General Assembly.</vt:lpstr>
      <vt:lpstr>Can the Security Council meet elsewhere than at its Headquarters in New York and has it so far met elsewhere?  </vt:lpstr>
      <vt:lpstr>Yes, in 1972 in Addis Ababa, Ethiopia and in 1973 in Panama City, Panama</vt:lpstr>
      <vt:lpstr>How is the President of the Security Council elected?  </vt:lpstr>
      <vt:lpstr>The members take monthly turn in the presidency in English alphabetical order.</vt:lpstr>
      <vt:lpstr>What and where is the International Court of Justice?</vt:lpstr>
      <vt:lpstr>PowerPoint Presentation</vt:lpstr>
      <vt:lpstr>Who appoints the UN Secretary-General and what is his diplomatic status?  </vt:lpstr>
      <vt:lpstr>The General Assembly appoints on the recommendation of the Security Council. He holds the status of a Head of the State.</vt:lpstr>
      <vt:lpstr>What is the tenure of his office?  </vt:lpstr>
      <vt:lpstr>Five years, but may be re-appointed.</vt:lpstr>
      <vt:lpstr>Who holds the record for delivering the longest speech at the UN General Assembly?  </vt:lpstr>
      <vt:lpstr>Mr. V.K Krishna Menon of India, on January 23, 1957. His speech ran for 7 hours and 48 minutes over two sessions</vt:lpstr>
      <vt:lpstr>Which Head of State  holds the record for delivering the longest speech at the UN General Assembly? </vt:lpstr>
      <vt:lpstr>Fidel Castro delivered the longest speech in the history of the UN General Assembly on September 26, 1960, a 269-minute (4 hour, 29 minute) address. </vt:lpstr>
      <vt:lpstr>Fidel Castro delivered the longest speech in the history of the UN General Assembly on September 26, 1960, a 269-minute (4 hour, 29 minute) address. </vt:lpstr>
      <vt:lpstr> Only one Indian has so far been the President of the UN General Assembly. Who is that person ? When and at which session</vt:lpstr>
      <vt:lpstr> Mrs. Vijaylakshmi Pandit. At the eight session in 1953.</vt:lpstr>
      <vt:lpstr>When and where did the first meeting of the UN General Assembly take place?  </vt:lpstr>
      <vt:lpstr>On January 10, 1946 in Central Hall, Westminster, London</vt:lpstr>
      <vt:lpstr>Give the date and venue of the first meeting of the Security Council</vt:lpstr>
      <vt:lpstr>.  On January 17, 1946 at Westminster, London</vt:lpstr>
      <vt:lpstr>Give the date of India’s admission to UN</vt:lpstr>
      <vt:lpstr>October 30, 1945.</vt:lpstr>
      <vt:lpstr>What is the Universal Declaration of Human Rights?</vt:lpstr>
      <vt:lpstr>PowerPoint Presentation</vt:lpstr>
      <vt:lpstr>When was the Human Rights Declaration adopted?.</vt:lpstr>
      <vt:lpstr>On December 10, 1948 by the UN General Assembly. December 10 is observed as Human Rights Day around the world</vt:lpstr>
      <vt:lpstr>What is UNDP and its role ? </vt:lpstr>
      <vt:lpstr> United Nations Development Programme (UNDP) is the world’s largest multilateral source of grant funding for development cooperation. It was created in 1965. Its funds come from the yearly voluntary contributions of Member States of the UN or its affiliated agencies</vt:lpstr>
      <vt:lpstr>What is UNEP ?  </vt:lpstr>
      <vt:lpstr>UN Environment Programme (UNEP) was established as a result of the UN Conference on the Human Environment in Stockholm in 1972. UNEP’s main job is to catalyse environmental action and awareness worldwide. It has its Headquarters in Nairobi, Kenya and is the world’s leading environmental agency.</vt:lpstr>
      <vt:lpstr>Why is the World Environment Day celebrated annually on 5th June?  </vt:lpstr>
      <vt:lpstr>To commemorate the anniversary of the opening day of the first UN Conference on the Human Environment in Stockholm in 1972</vt:lpstr>
      <vt:lpstr>What is the UN Democracy Fund (UNDEF)? </vt:lpstr>
      <vt:lpstr>Ans. UN Democracy Fund was established in early 2005 to promote democracy throughout the world by providing assistance for projects that consolidates and strengthens democratic governance. However, UNDEF does not promote any sample model of democracy. The fund officially began its work on March 6, 2006</vt:lpstr>
      <vt:lpstr>What is the role of UNICEF?.</vt:lpstr>
      <vt:lpstr>PowerPoint Presentation</vt:lpstr>
      <vt:lpstr>PowerPoint Presentation</vt:lpstr>
      <vt:lpstr>PowerPoint Presentation</vt:lpstr>
      <vt:lpstr>What is the World Bank?</vt:lpstr>
      <vt:lpstr>PowerPoint Presentation</vt:lpstr>
      <vt:lpstr>What was the Bretten Woods Conference? </vt:lpstr>
      <vt:lpstr>Ans. It was a United Nations Monetary and Financial Conference of 44 Governments held in 1944 at Bretten Woods, USA. It led to the establishment of IBRD - the International Bank for Reconstruction and Development.</vt:lpstr>
      <vt:lpstr>What is IMF? </vt:lpstr>
      <vt:lpstr>PowerPoint Presentation</vt:lpstr>
      <vt:lpstr>Was India among the original 51 Member States of the UN in 1945 ?  </vt:lpstr>
      <vt:lpstr>Yes </vt:lpstr>
      <vt:lpstr>What is IAEA? Give its date of establishment, the place of its Headquarters and its basic objectives. </vt:lpstr>
      <vt:lpstr>PowerPoint Presentation</vt:lpstr>
      <vt:lpstr>Name the first specialised agency of the United Nations?.</vt:lpstr>
      <vt:lpstr>PowerPoint Presentation</vt:lpstr>
      <vt:lpstr>“Since war begins in the minds of men, it is in the minds of men that the defences of peace must be constructed.” Where does this well-known quotation come from. </vt:lpstr>
      <vt:lpstr>PowerPoint Presentation</vt:lpstr>
      <vt:lpstr>What and when was the first resolution adopted by the UN General Assembly. </vt:lpstr>
      <vt:lpstr>PowerPoint Presentation</vt:lpstr>
      <vt:lpstr>What is “An Agenda for Development” ? </vt:lpstr>
      <vt:lpstr>PowerPoint Presentation</vt:lpstr>
      <vt:lpstr>Name the forerunner organization of the UN and the year of its establishment? </vt:lpstr>
      <vt:lpstr> League of Nations, established in 1919 under the Treaty of Versailles.</vt:lpstr>
      <vt:lpstr>Which day of the year is celebrated as International Day of Peace? </vt:lpstr>
      <vt:lpstr> The General Assembly has designated 21 September as the International Day of Peace.</vt:lpstr>
      <vt:lpstr>What are the Millennium Development Goals adopted at the Millennium Summit in 2000.</vt:lpstr>
      <vt:lpstr>PowerPoint Presentation</vt:lpstr>
      <vt:lpstr>Why was the Trusteeship Council set-up and why has it suspended its operations? </vt:lpstr>
      <vt:lpstr>PowerPoint Presentation</vt:lpstr>
      <vt:lpstr>PowerPoint Presentation</vt:lpstr>
      <vt:lpstr>PowerPoint Presentation</vt:lpstr>
      <vt:lpstr>PowerPoint Presentation</vt:lpstr>
      <vt:lpstr>PowerPoint Presentation</vt:lpstr>
      <vt:lpstr>Name the Indian who contested for the post of UN Secretary - General? </vt:lpstr>
      <vt:lpstr> Mr. Shashi Tharoor of India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kch institute</dc:creator>
  <cp:lastModifiedBy>kch institute</cp:lastModifiedBy>
  <cp:revision>6</cp:revision>
  <dcterms:created xsi:type="dcterms:W3CDTF">2025-10-01T14:39:33Z</dcterms:created>
  <dcterms:modified xsi:type="dcterms:W3CDTF">2025-10-01T15:40:40Z</dcterms:modified>
</cp:coreProperties>
</file>