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9"/>
  </p:notesMasterIdLst>
  <p:sldIdLst>
    <p:sldId id="256" r:id="rId2"/>
    <p:sldId id="257" r:id="rId3"/>
    <p:sldId id="258" r:id="rId4"/>
    <p:sldId id="607" r:id="rId5"/>
    <p:sldId id="608" r:id="rId6"/>
    <p:sldId id="610" r:id="rId7"/>
    <p:sldId id="609" r:id="rId8"/>
    <p:sldId id="611" r:id="rId9"/>
    <p:sldId id="612" r:id="rId10"/>
    <p:sldId id="613" r:id="rId11"/>
    <p:sldId id="614" r:id="rId12"/>
    <p:sldId id="615" r:id="rId13"/>
    <p:sldId id="616" r:id="rId14"/>
    <p:sldId id="621" r:id="rId15"/>
    <p:sldId id="622" r:id="rId16"/>
    <p:sldId id="625" r:id="rId17"/>
    <p:sldId id="626" r:id="rId18"/>
    <p:sldId id="623" r:id="rId19"/>
    <p:sldId id="624" r:id="rId20"/>
    <p:sldId id="617" r:id="rId21"/>
    <p:sldId id="618" r:id="rId22"/>
    <p:sldId id="259" r:id="rId23"/>
    <p:sldId id="260" r:id="rId24"/>
    <p:sldId id="261" r:id="rId25"/>
    <p:sldId id="262" r:id="rId26"/>
    <p:sldId id="627" r:id="rId27"/>
    <p:sldId id="628" r:id="rId28"/>
    <p:sldId id="629" r:id="rId29"/>
    <p:sldId id="630" r:id="rId30"/>
    <p:sldId id="263" r:id="rId31"/>
    <p:sldId id="264" r:id="rId32"/>
    <p:sldId id="265" r:id="rId33"/>
    <p:sldId id="266" r:id="rId34"/>
    <p:sldId id="631" r:id="rId35"/>
    <p:sldId id="632" r:id="rId36"/>
    <p:sldId id="267" r:id="rId37"/>
    <p:sldId id="268" r:id="rId38"/>
    <p:sldId id="269" r:id="rId39"/>
    <p:sldId id="270" r:id="rId40"/>
    <p:sldId id="271" r:id="rId41"/>
    <p:sldId id="272" r:id="rId42"/>
    <p:sldId id="619" r:id="rId43"/>
    <p:sldId id="620" r:id="rId44"/>
    <p:sldId id="273" r:id="rId45"/>
    <p:sldId id="274" r:id="rId46"/>
    <p:sldId id="275" r:id="rId47"/>
    <p:sldId id="276" r:id="rId48"/>
    <p:sldId id="283" r:id="rId49"/>
    <p:sldId id="284" r:id="rId50"/>
    <p:sldId id="285" r:id="rId51"/>
    <p:sldId id="286" r:id="rId52"/>
    <p:sldId id="846" r:id="rId53"/>
    <p:sldId id="841" r:id="rId54"/>
    <p:sldId id="295" r:id="rId55"/>
    <p:sldId id="296" r:id="rId56"/>
    <p:sldId id="299" r:id="rId57"/>
    <p:sldId id="300" r:id="rId58"/>
    <p:sldId id="301" r:id="rId59"/>
    <p:sldId id="302" r:id="rId60"/>
    <p:sldId id="303" r:id="rId61"/>
    <p:sldId id="304" r:id="rId62"/>
    <p:sldId id="313" r:id="rId63"/>
    <p:sldId id="585" r:id="rId64"/>
    <p:sldId id="321" r:id="rId65"/>
    <p:sldId id="322" r:id="rId66"/>
    <p:sldId id="323" r:id="rId67"/>
    <p:sldId id="324" r:id="rId68"/>
    <p:sldId id="329" r:id="rId69"/>
    <p:sldId id="330" r:id="rId70"/>
    <p:sldId id="633" r:id="rId71"/>
    <p:sldId id="853" r:id="rId72"/>
    <p:sldId id="634" r:id="rId73"/>
    <p:sldId id="854" r:id="rId74"/>
    <p:sldId id="635" r:id="rId75"/>
    <p:sldId id="855" r:id="rId76"/>
    <p:sldId id="637" r:id="rId77"/>
    <p:sldId id="856" r:id="rId78"/>
    <p:sldId id="638" r:id="rId79"/>
    <p:sldId id="857" r:id="rId80"/>
    <p:sldId id="639" r:id="rId81"/>
    <p:sldId id="858" r:id="rId82"/>
    <p:sldId id="859" r:id="rId83"/>
    <p:sldId id="860" r:id="rId84"/>
    <p:sldId id="640" r:id="rId85"/>
    <p:sldId id="861" r:id="rId86"/>
    <p:sldId id="643" r:id="rId87"/>
    <p:sldId id="644" r:id="rId88"/>
    <p:sldId id="645" r:id="rId89"/>
    <p:sldId id="646" r:id="rId90"/>
    <p:sldId id="649" r:id="rId91"/>
    <p:sldId id="862" r:id="rId92"/>
    <p:sldId id="650" r:id="rId93"/>
    <p:sldId id="651" r:id="rId94"/>
    <p:sldId id="847" r:id="rId95"/>
    <p:sldId id="848" r:id="rId96"/>
    <p:sldId id="851" r:id="rId97"/>
    <p:sldId id="852" r:id="rId98"/>
    <p:sldId id="582" r:id="rId99"/>
    <p:sldId id="583" r:id="rId100"/>
    <p:sldId id="588" r:id="rId101"/>
    <p:sldId id="589" r:id="rId102"/>
    <p:sldId id="863" r:id="rId103"/>
    <p:sldId id="864" r:id="rId104"/>
    <p:sldId id="865" r:id="rId105"/>
    <p:sldId id="866" r:id="rId106"/>
    <p:sldId id="867" r:id="rId107"/>
    <p:sldId id="868" r:id="rId108"/>
    <p:sldId id="869" r:id="rId109"/>
    <p:sldId id="870" r:id="rId110"/>
    <p:sldId id="871" r:id="rId111"/>
    <p:sldId id="872" r:id="rId112"/>
    <p:sldId id="839" r:id="rId113"/>
    <p:sldId id="840" r:id="rId114"/>
    <p:sldId id="842" r:id="rId115"/>
    <p:sldId id="843" r:id="rId116"/>
    <p:sldId id="844" r:id="rId117"/>
    <p:sldId id="845"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74" d="100"/>
          <a:sy n="74" d="100"/>
        </p:scale>
        <p:origin x="10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EEAB6-6AE0-46E8-9989-77F4E54ABEBA}" type="datetimeFigureOut">
              <a:rPr lang="en-IN" smtClean="0"/>
              <a:t>24-07-2025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030BCE-CC05-49D6-8394-71A7C8D7281A}" type="slidenum">
              <a:rPr lang="en-IN" smtClean="0"/>
              <a:t>‹#›</a:t>
            </a:fld>
            <a:endParaRPr lang="en-IN"/>
          </a:p>
        </p:txBody>
      </p:sp>
    </p:spTree>
    <p:extLst>
      <p:ext uri="{BB962C8B-B14F-4D97-AF65-F5344CB8AC3E}">
        <p14:creationId xmlns:p14="http://schemas.microsoft.com/office/powerpoint/2010/main" val="322179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902E-0608-F89D-1159-92A40B4C99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BA487A-B856-25F4-F38E-EB415D8CC4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334D16-F78E-8DD0-B491-D1A37DD18856}"/>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2B3DF8FF-7039-4460-D00E-FF1407842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C52475-B8FC-3401-60A4-B8693E772C01}"/>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591738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2F29-6F50-47A1-DF39-8D628B793B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6C2A2-6906-E423-02BB-D87DABEA36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463110-B5EE-D0A7-A72E-9C487E332591}"/>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2DFAF7B5-D9A5-BE77-39D5-A30F61009B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F55DFE-D849-3616-8750-37298E945216}"/>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349759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F436C-B1CC-7111-CA03-A224F6938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99804C-CACD-EE50-E680-BCB317A848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0AE82A-45CD-B4A6-CFF0-79AA177D0CA7}"/>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5D78CE32-5D0B-CC82-F8E8-9EEFFEC306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A7CEFF-7317-FC99-64D2-CD4B586EBD60}"/>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3178396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B9058-5BAE-2E91-C3CA-680A8B5605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B5C891-5434-DC1F-6235-4FCE716577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AAFA5E-7BE3-A54E-1BEE-E3F02D163F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C87373-D888-F0C1-006B-01A117224A9E}"/>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6" name="Footer Placeholder 5">
            <a:extLst>
              <a:ext uri="{FF2B5EF4-FFF2-40B4-BE49-F238E27FC236}">
                <a16:creationId xmlns:a16="http://schemas.microsoft.com/office/drawing/2014/main" id="{3F0365B9-A98B-A577-7A3E-391C8E34C2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93C981-E267-D7E5-B608-0C3447F5BB9A}"/>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375943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2B39-B12D-3BEF-70B0-61A34317F8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A0FBEE-608A-E692-7BFA-61F013882B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1B0BF5-A9F2-AFC1-CAE5-99086F47C7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8FEC61-0A92-0929-4744-0AB3990084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21158B-95A7-6001-A1D0-123976D28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3FC7C12-E9BD-7AD0-F1D4-C5B1126AEC02}"/>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8" name="Footer Placeholder 7">
            <a:extLst>
              <a:ext uri="{FF2B5EF4-FFF2-40B4-BE49-F238E27FC236}">
                <a16:creationId xmlns:a16="http://schemas.microsoft.com/office/drawing/2014/main" id="{93CCAFAE-8842-5C68-EC9E-B941D07520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3E3557-0F00-F5E2-8BF3-B638A4235E39}"/>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4068835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BEC9B-4EB8-870B-3E0C-D715C7AE2E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4CB19E-5E99-B223-30D4-0393F6E64FCB}"/>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4" name="Footer Placeholder 3">
            <a:extLst>
              <a:ext uri="{FF2B5EF4-FFF2-40B4-BE49-F238E27FC236}">
                <a16:creationId xmlns:a16="http://schemas.microsoft.com/office/drawing/2014/main" id="{7473D30A-C0E4-6CC6-2668-0C6BFB409D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DC22E2-BD39-A6BF-300F-63BFEC2879EA}"/>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2379680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6686EB-C20D-7DBE-3A94-42F4F4DA8CE0}"/>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3" name="Footer Placeholder 2">
            <a:extLst>
              <a:ext uri="{FF2B5EF4-FFF2-40B4-BE49-F238E27FC236}">
                <a16:creationId xmlns:a16="http://schemas.microsoft.com/office/drawing/2014/main" id="{0312497F-5F2C-D47B-674E-8593509F24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F00746-BFBA-43FD-333B-8E2CFB869C07}"/>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58208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48C22-68C4-728D-B6F9-A28E040EF6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16EF2C-DA53-245F-7FEA-7570753F6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CEEA7A-2FFF-9611-CDDA-AF9BF4CE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08AEE-5C11-AB3B-B5FD-382F1EBB0C86}"/>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6" name="Footer Placeholder 5">
            <a:extLst>
              <a:ext uri="{FF2B5EF4-FFF2-40B4-BE49-F238E27FC236}">
                <a16:creationId xmlns:a16="http://schemas.microsoft.com/office/drawing/2014/main" id="{0CB80427-85CD-5E91-BC19-12A69CAF9D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B572ED-20FA-7347-F1DF-2E1B465EDCA5}"/>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1762951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8EFD7-FF9A-8986-14EA-32A35977E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15DC47-B546-8232-9FF0-E750E70A38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0BADE3-043F-E069-D684-467590253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704FA4-B63C-9332-DD69-369230912B78}"/>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6" name="Footer Placeholder 5">
            <a:extLst>
              <a:ext uri="{FF2B5EF4-FFF2-40B4-BE49-F238E27FC236}">
                <a16:creationId xmlns:a16="http://schemas.microsoft.com/office/drawing/2014/main" id="{E3530600-828F-3A52-524E-00F4A27A74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C8B1FA-833D-1304-B606-053D160CCE96}"/>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78809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1055-DAD9-26A3-4493-B36500BF23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81239-7C7A-D26E-F295-5DD056DCBD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E6BF28-3D5F-DC78-864F-D3897DB3AF1F}"/>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D9F50AAB-830D-8F83-5BBE-E6CED7C5FA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1CB6E7-F513-29D6-59A4-54714E8D098A}"/>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163557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353B53-3B8E-F7B1-FF5D-130479174A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35CDDB-9CC4-E365-92B7-FEE1FDDF46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22C503-F011-4519-71F2-35FD86F09405}"/>
              </a:ext>
            </a:extLst>
          </p:cNvPr>
          <p:cNvSpPr>
            <a:spLocks noGrp="1"/>
          </p:cNvSpPr>
          <p:nvPr>
            <p:ph type="dt" sz="half" idx="10"/>
          </p:nvPr>
        </p:nvSpPr>
        <p:spPr/>
        <p:txBody>
          <a:body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A574A765-0A6A-A465-AA11-4B99B77BD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A2F78-873A-F043-D59E-94A567757A1C}"/>
              </a:ext>
            </a:extLst>
          </p:cNvPr>
          <p:cNvSpPr>
            <a:spLocks noGrp="1"/>
          </p:cNvSpPr>
          <p:nvPr>
            <p:ph type="sldNum" sz="quarter" idx="12"/>
          </p:nvPr>
        </p:nvSpPr>
        <p:spPr/>
        <p:txBody>
          <a:bodyPr/>
          <a:lstStyle/>
          <a:p>
            <a:fld id="{2D115BEF-DA6A-48B8-A6B9-66084CED3C2C}" type="slidenum">
              <a:rPr lang="en-IN" smtClean="0"/>
              <a:t>‹#›</a:t>
            </a:fld>
            <a:endParaRPr lang="en-IN"/>
          </a:p>
        </p:txBody>
      </p:sp>
    </p:spTree>
    <p:extLst>
      <p:ext uri="{BB962C8B-B14F-4D97-AF65-F5344CB8AC3E}">
        <p14:creationId xmlns:p14="http://schemas.microsoft.com/office/powerpoint/2010/main" val="926117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B5864D-A296-F386-E7E6-942569B07D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044E8D-E860-5D79-9E08-CF7634B0E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8897F2-4213-2E8B-FC13-53002D6E3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9807D8-5683-4DBA-87A7-A9042A99B76D}" type="datetimeFigureOut">
              <a:rPr lang="en-IN" smtClean="0"/>
              <a:t>24-07-2025</a:t>
            </a:fld>
            <a:endParaRPr lang="en-IN"/>
          </a:p>
        </p:txBody>
      </p:sp>
      <p:sp>
        <p:nvSpPr>
          <p:cNvPr id="5" name="Footer Placeholder 4">
            <a:extLst>
              <a:ext uri="{FF2B5EF4-FFF2-40B4-BE49-F238E27FC236}">
                <a16:creationId xmlns:a16="http://schemas.microsoft.com/office/drawing/2014/main" id="{4C814E1F-BE2B-E351-05A2-4B77AC06E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9ECB29-1C5F-B879-99AC-C263408C36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15BEF-DA6A-48B8-A6B9-66084CED3C2C}" type="slidenum">
              <a:rPr lang="en-IN" smtClean="0"/>
              <a:t>‹#›</a:t>
            </a:fld>
            <a:endParaRPr lang="en-IN"/>
          </a:p>
        </p:txBody>
      </p:sp>
    </p:spTree>
    <p:extLst>
      <p:ext uri="{BB962C8B-B14F-4D97-AF65-F5344CB8AC3E}">
        <p14:creationId xmlns:p14="http://schemas.microsoft.com/office/powerpoint/2010/main" val="2961584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Ilango_Adigal" TargetMode="External"/><Relationship Id="rId2" Type="http://schemas.openxmlformats.org/officeDocument/2006/relationships/hyperlink" Target="https://en.wikipedia.org/wiki/Silappatikaram"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Rukmini_Devi_Arundale" TargetMode="External"/><Relationship Id="rId2" Type="http://schemas.openxmlformats.org/officeDocument/2006/relationships/hyperlink" Target="https://en.wikipedia.org/wiki/E._Krishna_Iyer"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n.wikipedia.org/wiki/Bharata_Muni"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en.wikipedia.org/wiki/Parliament_of_India" TargetMode="External"/><Relationship Id="rId7" Type="http://schemas.openxmlformats.org/officeDocument/2006/relationships/hyperlink" Target="https://en.wikipedia.org/wiki/President_of_India" TargetMode="External"/><Relationship Id="rId2" Type="http://schemas.openxmlformats.org/officeDocument/2006/relationships/hyperlink" Target="https://en.wikipedia.org/wiki/Rajya_Sabha" TargetMode="External"/><Relationship Id="rId1" Type="http://schemas.openxmlformats.org/officeDocument/2006/relationships/slideLayout" Target="../slideLayouts/slideLayout2.xml"/><Relationship Id="rId6" Type="http://schemas.openxmlformats.org/officeDocument/2006/relationships/hyperlink" Target="https://en.wikipedia.org/wiki/Morarji_Desai" TargetMode="External"/><Relationship Id="rId5" Type="http://schemas.openxmlformats.org/officeDocument/2006/relationships/hyperlink" Target="https://en.wikipedia.org/wiki/Google_Doodle" TargetMode="External"/><Relationship Id="rId4" Type="http://schemas.openxmlformats.org/officeDocument/2006/relationships/hyperlink" Target="https://en.wikipedia.org/wiki/Institute_of_National_Importance"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9.jpg"/></Relationships>
</file>

<file path=ppt/slides/_rels/slide8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6315-E1AF-DA87-50F8-F8548770EAD7}"/>
              </a:ext>
            </a:extLst>
          </p:cNvPr>
          <p:cNvSpPr>
            <a:spLocks noGrp="1"/>
          </p:cNvSpPr>
          <p:nvPr>
            <p:ph type="ctrTitle"/>
          </p:nvPr>
        </p:nvSpPr>
        <p:spPr/>
        <p:txBody>
          <a:bodyPr>
            <a:normAutofit/>
          </a:bodyPr>
          <a:lstStyle/>
          <a:p>
            <a:r>
              <a:rPr lang="en-US" sz="7200" b="1" dirty="0">
                <a:solidFill>
                  <a:srgbClr val="C00000"/>
                </a:solidFill>
              </a:rPr>
              <a:t>Classical Dances of India</a:t>
            </a:r>
            <a:endParaRPr lang="en-IN" sz="7200" b="1" dirty="0">
              <a:solidFill>
                <a:srgbClr val="C00000"/>
              </a:solidFill>
            </a:endParaRPr>
          </a:p>
        </p:txBody>
      </p:sp>
      <p:pic>
        <p:nvPicPr>
          <p:cNvPr id="1026" name="Picture 2" descr="8 Indian Classical Dance Forms - Humsa ...">
            <a:extLst>
              <a:ext uri="{FF2B5EF4-FFF2-40B4-BE49-F238E27FC236}">
                <a16:creationId xmlns:a16="http://schemas.microsoft.com/office/drawing/2014/main" id="{7A908A77-1524-3DA9-0C76-08EDAA5A5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484" y="3628103"/>
            <a:ext cx="4581831" cy="2691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992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A67BA-D2DC-4F4C-97C4-673CED170BE4}"/>
              </a:ext>
            </a:extLst>
          </p:cNvPr>
          <p:cNvSpPr>
            <a:spLocks noGrp="1"/>
          </p:cNvSpPr>
          <p:nvPr>
            <p:ph idx="1"/>
          </p:nvPr>
        </p:nvSpPr>
        <p:spPr/>
        <p:txBody>
          <a:bodyPr>
            <a:normAutofit/>
          </a:bodyPr>
          <a:lstStyle/>
          <a:p>
            <a:r>
              <a:rPr lang="en-US" sz="6600" dirty="0"/>
              <a:t>Which dance from takes its name from words meaning, emotion, music and rhythm</a:t>
            </a:r>
          </a:p>
        </p:txBody>
      </p:sp>
    </p:spTree>
    <p:extLst>
      <p:ext uri="{BB962C8B-B14F-4D97-AF65-F5344CB8AC3E}">
        <p14:creationId xmlns:p14="http://schemas.microsoft.com/office/powerpoint/2010/main" val="988325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4EFED-AB61-4FFC-AEAC-E61C60075CBC}"/>
              </a:ext>
            </a:extLst>
          </p:cNvPr>
          <p:cNvSpPr>
            <a:spLocks noGrp="1"/>
          </p:cNvSpPr>
          <p:nvPr>
            <p:ph idx="1"/>
          </p:nvPr>
        </p:nvSpPr>
        <p:spPr/>
        <p:txBody>
          <a:bodyPr>
            <a:normAutofit/>
          </a:bodyPr>
          <a:lstStyle/>
          <a:p>
            <a:r>
              <a:rPr lang="en-US" sz="6600" dirty="0" err="1"/>
              <a:t>Bharathnatyam</a:t>
            </a:r>
            <a:r>
              <a:rPr lang="en-US" sz="6600" dirty="0"/>
              <a:t> (</a:t>
            </a:r>
            <a:r>
              <a:rPr lang="en-US" sz="6600" dirty="0" err="1"/>
              <a:t>Bhav,Raga,tala</a:t>
            </a:r>
            <a:r>
              <a:rPr lang="en-US" sz="6600" dirty="0"/>
              <a:t>)</a:t>
            </a:r>
          </a:p>
        </p:txBody>
      </p:sp>
    </p:spTree>
    <p:extLst>
      <p:ext uri="{BB962C8B-B14F-4D97-AF65-F5344CB8AC3E}">
        <p14:creationId xmlns:p14="http://schemas.microsoft.com/office/powerpoint/2010/main" val="3106594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31EC-FA8F-2513-A283-1DEA392C64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BE7C31C-49CF-05A3-8F4F-B855D5EE84D2}"/>
              </a:ext>
            </a:extLst>
          </p:cNvPr>
          <p:cNvSpPr>
            <a:spLocks noGrp="1"/>
          </p:cNvSpPr>
          <p:nvPr>
            <p:ph idx="1"/>
          </p:nvPr>
        </p:nvSpPr>
        <p:spPr/>
        <p:txBody>
          <a:bodyPr>
            <a:normAutofit/>
          </a:bodyPr>
          <a:lstStyle/>
          <a:p>
            <a:r>
              <a:rPr lang="en-US" sz="5400" b="1" dirty="0"/>
              <a:t>Who recognizes classical dances</a:t>
            </a:r>
            <a:endParaRPr lang="en-IN" sz="5400" b="1" dirty="0"/>
          </a:p>
        </p:txBody>
      </p:sp>
    </p:spTree>
    <p:extLst>
      <p:ext uri="{BB962C8B-B14F-4D97-AF65-F5344CB8AC3E}">
        <p14:creationId xmlns:p14="http://schemas.microsoft.com/office/powerpoint/2010/main" val="3163284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8CD8-59CC-4590-44F7-37C7B5FC1838}"/>
              </a:ext>
            </a:extLst>
          </p:cNvPr>
          <p:cNvSpPr>
            <a:spLocks noGrp="1"/>
          </p:cNvSpPr>
          <p:nvPr>
            <p:ph type="title"/>
          </p:nvPr>
        </p:nvSpPr>
        <p:spPr/>
        <p:txBody>
          <a:bodyPr>
            <a:normAutofit/>
          </a:bodyPr>
          <a:lstStyle/>
          <a:p>
            <a:r>
              <a:rPr lang="en-US" sz="6600" b="1" dirty="0"/>
              <a:t>Sangeet Natak </a:t>
            </a:r>
            <a:r>
              <a:rPr lang="en-US" sz="6600" b="1" dirty="0" err="1"/>
              <a:t>Akademy</a:t>
            </a:r>
            <a:r>
              <a:rPr lang="en-US" sz="6600" b="1" dirty="0"/>
              <a:t>,</a:t>
            </a:r>
            <a:endParaRPr lang="en-IN" sz="6600" b="1" dirty="0"/>
          </a:p>
        </p:txBody>
      </p:sp>
      <p:sp>
        <p:nvSpPr>
          <p:cNvPr id="3" name="Content Placeholder 2">
            <a:extLst>
              <a:ext uri="{FF2B5EF4-FFF2-40B4-BE49-F238E27FC236}">
                <a16:creationId xmlns:a16="http://schemas.microsoft.com/office/drawing/2014/main" id="{30D7241B-11B7-249E-613F-E9CF67084D05}"/>
              </a:ext>
            </a:extLst>
          </p:cNvPr>
          <p:cNvSpPr>
            <a:spLocks noGrp="1"/>
          </p:cNvSpPr>
          <p:nvPr>
            <p:ph idx="1"/>
          </p:nvPr>
        </p:nvSpPr>
        <p:spPr/>
        <p:txBody>
          <a:bodyPr/>
          <a:lstStyle/>
          <a:p>
            <a:endParaRPr lang="en-IN"/>
          </a:p>
        </p:txBody>
      </p:sp>
      <p:pic>
        <p:nvPicPr>
          <p:cNvPr id="2050" name="Picture 2" descr="Sangeet Natak Akademi Museum ...">
            <a:extLst>
              <a:ext uri="{FF2B5EF4-FFF2-40B4-BE49-F238E27FC236}">
                <a16:creationId xmlns:a16="http://schemas.microsoft.com/office/drawing/2014/main" id="{B1C6443E-34F3-C360-6DE1-D732AA5F0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7263" y="2566988"/>
            <a:ext cx="2657475"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27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C6ADE-BDD7-322E-B662-52766BAAC0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77EFE4-43BF-D893-022A-B22BD6F0ABFD}"/>
              </a:ext>
            </a:extLst>
          </p:cNvPr>
          <p:cNvSpPr>
            <a:spLocks noGrp="1"/>
          </p:cNvSpPr>
          <p:nvPr>
            <p:ph idx="1"/>
          </p:nvPr>
        </p:nvSpPr>
        <p:spPr/>
        <p:txBody>
          <a:bodyPr>
            <a:normAutofit/>
          </a:bodyPr>
          <a:lstStyle/>
          <a:p>
            <a:r>
              <a:rPr lang="en-US" sz="4800" b="1" dirty="0"/>
              <a:t>What does </a:t>
            </a:r>
            <a:r>
              <a:rPr lang="en-IN" sz="4800" b="1" i="1" dirty="0"/>
              <a:t>Bharatanatyam express ?</a:t>
            </a:r>
            <a:endParaRPr lang="en-IN" sz="4800" b="1" dirty="0"/>
          </a:p>
        </p:txBody>
      </p:sp>
    </p:spTree>
    <p:extLst>
      <p:ext uri="{BB962C8B-B14F-4D97-AF65-F5344CB8AC3E}">
        <p14:creationId xmlns:p14="http://schemas.microsoft.com/office/powerpoint/2010/main" val="16595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3F76C-67E3-D5AB-DCB6-4584350D3829}"/>
              </a:ext>
            </a:extLst>
          </p:cNvPr>
          <p:cNvSpPr>
            <a:spLocks noGrp="1"/>
          </p:cNvSpPr>
          <p:nvPr>
            <p:ph idx="1"/>
          </p:nvPr>
        </p:nvSpPr>
        <p:spPr>
          <a:xfrm>
            <a:off x="651387" y="488438"/>
            <a:ext cx="10515600" cy="4351338"/>
          </a:xfrm>
        </p:spPr>
        <p:txBody>
          <a:bodyPr>
            <a:normAutofit/>
          </a:bodyPr>
          <a:lstStyle/>
          <a:p>
            <a:r>
              <a:rPr lang="en-US" sz="4800" b="1" dirty="0"/>
              <a:t>South Indian religious themes and spiritual ideas of Hinduism and Jainism</a:t>
            </a:r>
            <a:endParaRPr lang="en-IN" sz="4800" b="1" dirty="0"/>
          </a:p>
        </p:txBody>
      </p:sp>
    </p:spTree>
    <p:extLst>
      <p:ext uri="{BB962C8B-B14F-4D97-AF65-F5344CB8AC3E}">
        <p14:creationId xmlns:p14="http://schemas.microsoft.com/office/powerpoint/2010/main" val="191435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4B614-1770-E180-4AFD-6923619C4D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54F0FE-48C5-F3B6-F508-2CE588A44298}"/>
              </a:ext>
            </a:extLst>
          </p:cNvPr>
          <p:cNvSpPr>
            <a:spLocks noGrp="1"/>
          </p:cNvSpPr>
          <p:nvPr>
            <p:ph idx="1"/>
          </p:nvPr>
        </p:nvSpPr>
        <p:spPr/>
        <p:txBody>
          <a:bodyPr>
            <a:normAutofit/>
          </a:bodyPr>
          <a:lstStyle/>
          <a:p>
            <a:r>
              <a:rPr lang="en-US" sz="6000" b="1" dirty="0"/>
              <a:t>Which is the </a:t>
            </a:r>
            <a:r>
              <a:rPr lang="en-IN" sz="6000" b="1" dirty="0"/>
              <a:t>ancient Tamil epic that refers to </a:t>
            </a:r>
            <a:r>
              <a:rPr lang="en-IN" sz="6000" b="1" dirty="0" err="1"/>
              <a:t>Bharathnatyam</a:t>
            </a:r>
            <a:r>
              <a:rPr lang="en-IN" sz="6000" b="1" dirty="0"/>
              <a:t> </a:t>
            </a:r>
          </a:p>
        </p:txBody>
      </p:sp>
    </p:spTree>
    <p:extLst>
      <p:ext uri="{BB962C8B-B14F-4D97-AF65-F5344CB8AC3E}">
        <p14:creationId xmlns:p14="http://schemas.microsoft.com/office/powerpoint/2010/main" val="2925373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AF3E-5A5B-9D7F-A439-230F6B9C43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B9912B-173F-42CF-20A3-F3D504FACB39}"/>
              </a:ext>
            </a:extLst>
          </p:cNvPr>
          <p:cNvSpPr>
            <a:spLocks noGrp="1"/>
          </p:cNvSpPr>
          <p:nvPr>
            <p:ph idx="1"/>
          </p:nvPr>
        </p:nvSpPr>
        <p:spPr/>
        <p:txBody>
          <a:bodyPr>
            <a:normAutofit/>
          </a:bodyPr>
          <a:lstStyle/>
          <a:p>
            <a:r>
              <a:rPr lang="en-IN" sz="8800" b="1" u="sng" dirty="0" err="1">
                <a:hlinkClick r:id="rId2" tooltip="Silappatikaram">
                  <a:extLst>
                    <a:ext uri="{A12FA001-AC4F-418D-AE19-62706E023703}">
                      <ahyp:hlinkClr xmlns:ahyp="http://schemas.microsoft.com/office/drawing/2018/hyperlinkcolor" val="tx"/>
                    </a:ext>
                  </a:extLst>
                </a:hlinkClick>
              </a:rPr>
              <a:t>Silappatikaram</a:t>
            </a:r>
            <a:r>
              <a:rPr lang="en-IN" sz="8800" b="1" u="sng" dirty="0"/>
              <a:t>(</a:t>
            </a:r>
            <a:r>
              <a:rPr lang="en-US" sz="4000" dirty="0"/>
              <a:t> </a:t>
            </a:r>
            <a:r>
              <a:rPr lang="en-US" sz="6000" b="1" dirty="0"/>
              <a:t>"the Tale of an Anklet“)</a:t>
            </a:r>
            <a:r>
              <a:rPr lang="en-US" dirty="0"/>
              <a:t> </a:t>
            </a:r>
            <a:r>
              <a:rPr lang="en-US" sz="4000" b="1" dirty="0"/>
              <a:t>attributed to a prince-turned-</a:t>
            </a:r>
            <a:r>
              <a:rPr lang="en-US" sz="4000" b="1" dirty="0" err="1"/>
              <a:t>jain</a:t>
            </a:r>
            <a:r>
              <a:rPr lang="en-US" sz="4000" b="1" dirty="0"/>
              <a:t>-monk </a:t>
            </a:r>
            <a:r>
              <a:rPr lang="en-US" sz="4000" b="1" dirty="0" err="1">
                <a:hlinkClick r:id="rId3" tooltip="Ilango Adigal">
                  <a:extLst>
                    <a:ext uri="{A12FA001-AC4F-418D-AE19-62706E023703}">
                      <ahyp:hlinkClr xmlns:ahyp="http://schemas.microsoft.com/office/drawing/2018/hyperlinkcolor" val="tx"/>
                    </a:ext>
                  </a:extLst>
                </a:hlinkClick>
              </a:rPr>
              <a:t>Iḷaṅkō</a:t>
            </a:r>
            <a:r>
              <a:rPr lang="en-US" sz="4000" b="1" dirty="0">
                <a:hlinkClick r:id="rId3" tooltip="Ilango Adigal">
                  <a:extLst>
                    <a:ext uri="{A12FA001-AC4F-418D-AE19-62706E023703}">
                      <ahyp:hlinkClr xmlns:ahyp="http://schemas.microsoft.com/office/drawing/2018/hyperlinkcolor" val="tx"/>
                    </a:ext>
                  </a:extLst>
                </a:hlinkClick>
              </a:rPr>
              <a:t> </a:t>
            </a:r>
            <a:r>
              <a:rPr lang="en-US" sz="4000" b="1" dirty="0" err="1">
                <a:hlinkClick r:id="rId3" tooltip="Ilango Adigal">
                  <a:extLst>
                    <a:ext uri="{A12FA001-AC4F-418D-AE19-62706E023703}">
                      <ahyp:hlinkClr xmlns:ahyp="http://schemas.microsoft.com/office/drawing/2018/hyperlinkcolor" val="tx"/>
                    </a:ext>
                  </a:extLst>
                </a:hlinkClick>
              </a:rPr>
              <a:t>Aṭikaḷ</a:t>
            </a:r>
            <a:endParaRPr lang="en-IN" sz="8800" b="1" u="sng" dirty="0"/>
          </a:p>
        </p:txBody>
      </p:sp>
      <p:pic>
        <p:nvPicPr>
          <p:cNvPr id="3074" name="Picture 2" descr="Silappadikaram Composed by Ilango ...">
            <a:extLst>
              <a:ext uri="{FF2B5EF4-FFF2-40B4-BE49-F238E27FC236}">
                <a16:creationId xmlns:a16="http://schemas.microsoft.com/office/drawing/2014/main" id="{E07D0295-B8B9-F221-CBB4-893AB9C787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4123" y="365125"/>
            <a:ext cx="1771650" cy="258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77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6E9F-EE0D-F148-324B-750A32B1D2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A433F5-4692-4D46-8C70-A013BD887981}"/>
              </a:ext>
            </a:extLst>
          </p:cNvPr>
          <p:cNvSpPr>
            <a:spLocks noGrp="1"/>
          </p:cNvSpPr>
          <p:nvPr>
            <p:ph idx="1"/>
          </p:nvPr>
        </p:nvSpPr>
        <p:spPr/>
        <p:txBody>
          <a:bodyPr/>
          <a:lstStyle/>
          <a:p>
            <a:r>
              <a:rPr lang="en-US" dirty="0"/>
              <a:t> </a:t>
            </a:r>
          </a:p>
          <a:p>
            <a:endParaRPr lang="en-US" dirty="0"/>
          </a:p>
          <a:p>
            <a:endParaRPr lang="en-US" dirty="0"/>
          </a:p>
          <a:p>
            <a:r>
              <a:rPr lang="en-US" sz="4000" b="1" dirty="0"/>
              <a:t>Which   is the oldest classical dance tradition in India.</a:t>
            </a:r>
            <a:endParaRPr lang="en-IN" sz="4000" b="1" dirty="0"/>
          </a:p>
        </p:txBody>
      </p:sp>
    </p:spTree>
    <p:extLst>
      <p:ext uri="{BB962C8B-B14F-4D97-AF65-F5344CB8AC3E}">
        <p14:creationId xmlns:p14="http://schemas.microsoft.com/office/powerpoint/2010/main" val="3290668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F5695-AAAE-31B7-87BB-EF72ABAF3C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1C44D5-93D9-28F1-BC01-86FE54DD7FC3}"/>
              </a:ext>
            </a:extLst>
          </p:cNvPr>
          <p:cNvSpPr>
            <a:spLocks noGrp="1"/>
          </p:cNvSpPr>
          <p:nvPr>
            <p:ph idx="1"/>
          </p:nvPr>
        </p:nvSpPr>
        <p:spPr/>
        <p:txBody>
          <a:bodyPr>
            <a:normAutofit/>
          </a:bodyPr>
          <a:lstStyle/>
          <a:p>
            <a:r>
              <a:rPr lang="en-US" sz="5400" b="1" dirty="0"/>
              <a:t>Bharatanatyam</a:t>
            </a:r>
            <a:endParaRPr lang="en-IN" sz="5400" b="1" dirty="0"/>
          </a:p>
        </p:txBody>
      </p:sp>
      <p:pic>
        <p:nvPicPr>
          <p:cNvPr id="4098" name="Picture 2" descr="A Bharatanatyam guru's initiative to ...">
            <a:extLst>
              <a:ext uri="{FF2B5EF4-FFF2-40B4-BE49-F238E27FC236}">
                <a16:creationId xmlns:a16="http://schemas.microsoft.com/office/drawing/2014/main" id="{FC98C30D-0AD7-A573-AA47-149DCB6EB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631" y="2691606"/>
            <a:ext cx="1743075"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391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4517-A4D5-0240-9B5A-F8F28863D9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C8D9DC-9A77-6774-C825-34147601EF56}"/>
              </a:ext>
            </a:extLst>
          </p:cNvPr>
          <p:cNvSpPr>
            <a:spLocks noGrp="1"/>
          </p:cNvSpPr>
          <p:nvPr>
            <p:ph idx="1"/>
          </p:nvPr>
        </p:nvSpPr>
        <p:spPr/>
        <p:txBody>
          <a:bodyPr>
            <a:normAutofit/>
          </a:bodyPr>
          <a:lstStyle/>
          <a:p>
            <a:r>
              <a:rPr lang="en-US" sz="4400" b="1" dirty="0"/>
              <a:t>What was the old name of Bharatanatyam</a:t>
            </a:r>
            <a:endParaRPr lang="en-IN" sz="4400" b="1" dirty="0"/>
          </a:p>
        </p:txBody>
      </p:sp>
    </p:spTree>
    <p:extLst>
      <p:ext uri="{BB962C8B-B14F-4D97-AF65-F5344CB8AC3E}">
        <p14:creationId xmlns:p14="http://schemas.microsoft.com/office/powerpoint/2010/main" val="2354890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B266-009E-81C8-4525-BBB6FEC788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E75C46-2B9D-17B6-C80B-5A4EE45B2FDD}"/>
              </a:ext>
            </a:extLst>
          </p:cNvPr>
          <p:cNvSpPr>
            <a:spLocks noGrp="1"/>
          </p:cNvSpPr>
          <p:nvPr>
            <p:ph idx="1"/>
          </p:nvPr>
        </p:nvSpPr>
        <p:spPr/>
        <p:txBody>
          <a:bodyPr>
            <a:normAutofit/>
          </a:bodyPr>
          <a:lstStyle/>
          <a:p>
            <a:r>
              <a:rPr lang="en-US" sz="4400" b="1" dirty="0" err="1"/>
              <a:t>Sadiraattam</a:t>
            </a:r>
            <a:r>
              <a:rPr lang="en-US" sz="4400" b="1" dirty="0"/>
              <a:t>, which was renamed in 1932 (</a:t>
            </a:r>
            <a:r>
              <a:rPr lang="en-IN" sz="4400" b="1" dirty="0"/>
              <a:t>In 1932, </a:t>
            </a:r>
            <a:r>
              <a:rPr lang="en-IN" sz="4400" b="1" dirty="0">
                <a:hlinkClick r:id="rId2" tooltip="E. Krishna Iyer">
                  <a:extLst>
                    <a:ext uri="{A12FA001-AC4F-418D-AE19-62706E023703}">
                      <ahyp:hlinkClr xmlns:ahyp="http://schemas.microsoft.com/office/drawing/2018/hyperlinkcolor" val="tx"/>
                    </a:ext>
                  </a:extLst>
                </a:hlinkClick>
              </a:rPr>
              <a:t>E Krishna Iyer</a:t>
            </a:r>
            <a:r>
              <a:rPr lang="en-IN" sz="4400" b="1" dirty="0"/>
              <a:t> and </a:t>
            </a:r>
            <a:r>
              <a:rPr lang="en-IN" sz="4400" b="1" dirty="0">
                <a:hlinkClick r:id="rId3" tooltip="Rukmini Devi Arundale">
                  <a:extLst>
                    <a:ext uri="{A12FA001-AC4F-418D-AE19-62706E023703}">
                      <ahyp:hlinkClr xmlns:ahyp="http://schemas.microsoft.com/office/drawing/2018/hyperlinkcolor" val="tx"/>
                    </a:ext>
                  </a:extLst>
                </a:hlinkClick>
              </a:rPr>
              <a:t>Rukmini Devi Arundale</a:t>
            </a:r>
            <a:r>
              <a:rPr lang="en-IN" sz="4400" b="1" dirty="0"/>
              <a:t> put forward a proposal to   rename </a:t>
            </a:r>
            <a:r>
              <a:rPr lang="en-IN" sz="4400" b="1" i="1" dirty="0" err="1"/>
              <a:t>Sadiraattam</a:t>
            </a:r>
            <a:endParaRPr lang="en-IN" sz="4400" b="1" dirty="0"/>
          </a:p>
          <a:p>
            <a:r>
              <a:rPr lang="en-US" sz="4400" b="1" dirty="0"/>
              <a:t>also known as Dasi Attam</a:t>
            </a:r>
            <a:r>
              <a:rPr lang="en-IN" sz="4400" b="1" i="1" dirty="0"/>
              <a:t>)</a:t>
            </a:r>
            <a:endParaRPr lang="en-IN" sz="4400" b="1" dirty="0"/>
          </a:p>
        </p:txBody>
      </p:sp>
    </p:spTree>
    <p:extLst>
      <p:ext uri="{BB962C8B-B14F-4D97-AF65-F5344CB8AC3E}">
        <p14:creationId xmlns:p14="http://schemas.microsoft.com/office/powerpoint/2010/main" val="3452705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A1084-016F-D04D-252A-DC4B6430B2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B36A18-39BE-385E-992E-615D8659206D}"/>
              </a:ext>
            </a:extLst>
          </p:cNvPr>
          <p:cNvSpPr>
            <a:spLocks noGrp="1"/>
          </p:cNvSpPr>
          <p:nvPr>
            <p:ph idx="1"/>
          </p:nvPr>
        </p:nvSpPr>
        <p:spPr/>
        <p:txBody>
          <a:bodyPr/>
          <a:lstStyle/>
          <a:p>
            <a:r>
              <a:rPr lang="en-US" sz="4800" b="1" dirty="0"/>
              <a:t>Which temple contain many poses of Bharatanatyam.</a:t>
            </a:r>
          </a:p>
          <a:p>
            <a:endParaRPr lang="en-IN" dirty="0"/>
          </a:p>
        </p:txBody>
      </p:sp>
    </p:spTree>
    <p:extLst>
      <p:ext uri="{BB962C8B-B14F-4D97-AF65-F5344CB8AC3E}">
        <p14:creationId xmlns:p14="http://schemas.microsoft.com/office/powerpoint/2010/main" val="3775829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81E190-2D39-E5C9-0EC5-8B68EF001653}"/>
              </a:ext>
            </a:extLst>
          </p:cNvPr>
          <p:cNvSpPr>
            <a:spLocks noGrp="1"/>
          </p:cNvSpPr>
          <p:nvPr>
            <p:ph idx="1"/>
          </p:nvPr>
        </p:nvSpPr>
        <p:spPr>
          <a:xfrm>
            <a:off x="838200" y="291792"/>
            <a:ext cx="10515600" cy="4351338"/>
          </a:xfrm>
        </p:spPr>
        <p:txBody>
          <a:bodyPr>
            <a:normAutofit/>
          </a:bodyPr>
          <a:lstStyle/>
          <a:p>
            <a:r>
              <a:rPr lang="en-US" sz="4800" b="1" dirty="0"/>
              <a:t>The </a:t>
            </a:r>
            <a:r>
              <a:rPr lang="en-US" sz="4800" b="1" i="1" dirty="0"/>
              <a:t>Gopurams</a:t>
            </a:r>
            <a:r>
              <a:rPr lang="en-US" sz="4800" b="1" dirty="0"/>
              <a:t> of the Chidambaram</a:t>
            </a:r>
            <a:endParaRPr lang="en-IN" sz="4800" b="1" dirty="0"/>
          </a:p>
        </p:txBody>
      </p:sp>
      <p:pic>
        <p:nvPicPr>
          <p:cNvPr id="6146" name="Picture 2" descr="Natya Sastra dance mudra ...">
            <a:extLst>
              <a:ext uri="{FF2B5EF4-FFF2-40B4-BE49-F238E27FC236}">
                <a16:creationId xmlns:a16="http://schemas.microsoft.com/office/drawing/2014/main" id="{43476A0C-8156-6294-D9EC-84762839A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52550"/>
            <a:ext cx="2667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 Gopalan on X: &quot;Chidambaram temple is ...">
            <a:extLst>
              <a:ext uri="{FF2B5EF4-FFF2-40B4-BE49-F238E27FC236}">
                <a16:creationId xmlns:a16="http://schemas.microsoft.com/office/drawing/2014/main" id="{4497BA31-2796-6681-4E12-4C794C55D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438" y="2357438"/>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hidambaram Nataraja Temple in Tamil ...">
            <a:extLst>
              <a:ext uri="{FF2B5EF4-FFF2-40B4-BE49-F238E27FC236}">
                <a16:creationId xmlns:a16="http://schemas.microsoft.com/office/drawing/2014/main" id="{B445BFDE-B422-A902-BEB8-60F4C27275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5830" y="1546737"/>
            <a:ext cx="1647825"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679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EEA76-08D6-5ECE-2F3C-915B1163AB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5DA516-B879-2212-E74C-DF1808391979}"/>
              </a:ext>
            </a:extLst>
          </p:cNvPr>
          <p:cNvSpPr>
            <a:spLocks noGrp="1"/>
          </p:cNvSpPr>
          <p:nvPr>
            <p:ph idx="1"/>
          </p:nvPr>
        </p:nvSpPr>
        <p:spPr/>
        <p:txBody>
          <a:bodyPr>
            <a:normAutofit/>
          </a:bodyPr>
          <a:lstStyle/>
          <a:p>
            <a:r>
              <a:rPr lang="en-US" sz="5400" b="1" dirty="0"/>
              <a:t>What music is played for </a:t>
            </a:r>
            <a:r>
              <a:rPr lang="en-US" sz="5400" b="1" dirty="0" err="1"/>
              <a:t>Bharathanatyam</a:t>
            </a:r>
            <a:endParaRPr lang="en-IN" sz="5400" b="1" dirty="0"/>
          </a:p>
        </p:txBody>
      </p:sp>
    </p:spTree>
    <p:extLst>
      <p:ext uri="{BB962C8B-B14F-4D97-AF65-F5344CB8AC3E}">
        <p14:creationId xmlns:p14="http://schemas.microsoft.com/office/powerpoint/2010/main" val="1284685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ACA54-79D1-CBE8-6617-3827C14CC8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32F9DC-1573-8758-BF15-BEEB1B7CEC9A}"/>
              </a:ext>
            </a:extLst>
          </p:cNvPr>
          <p:cNvSpPr>
            <a:spLocks noGrp="1"/>
          </p:cNvSpPr>
          <p:nvPr>
            <p:ph idx="1"/>
          </p:nvPr>
        </p:nvSpPr>
        <p:spPr/>
        <p:txBody>
          <a:bodyPr>
            <a:normAutofit/>
          </a:bodyPr>
          <a:lstStyle/>
          <a:p>
            <a:r>
              <a:rPr lang="en-US" sz="4400" b="1" dirty="0"/>
              <a:t>The music used in Carnatic classical music, accompanied by instruments such as flute, violin and the Mridangam.</a:t>
            </a:r>
            <a:endParaRPr lang="en-IN" sz="4400" b="1" dirty="0"/>
          </a:p>
        </p:txBody>
      </p:sp>
    </p:spTree>
    <p:extLst>
      <p:ext uri="{BB962C8B-B14F-4D97-AF65-F5344CB8AC3E}">
        <p14:creationId xmlns:p14="http://schemas.microsoft.com/office/powerpoint/2010/main" val="1036848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E7F15-5B79-92F0-18DC-CB5136AF96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419309-4BFA-81AE-B583-939BE84FA90B}"/>
              </a:ext>
            </a:extLst>
          </p:cNvPr>
          <p:cNvSpPr>
            <a:spLocks noGrp="1"/>
          </p:cNvSpPr>
          <p:nvPr>
            <p:ph idx="1"/>
          </p:nvPr>
        </p:nvSpPr>
        <p:spPr/>
        <p:txBody>
          <a:bodyPr>
            <a:normAutofit/>
          </a:bodyPr>
          <a:lstStyle/>
          <a:p>
            <a:r>
              <a:rPr lang="en-IN" sz="6000" b="1" dirty="0"/>
              <a:t>Who wrote Manimekalai?</a:t>
            </a:r>
          </a:p>
        </p:txBody>
      </p:sp>
    </p:spTree>
    <p:extLst>
      <p:ext uri="{BB962C8B-B14F-4D97-AF65-F5344CB8AC3E}">
        <p14:creationId xmlns:p14="http://schemas.microsoft.com/office/powerpoint/2010/main" val="2089308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DB4B-7F91-FEE3-6B7C-0036187BD9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606609-F42C-3D8A-A0DA-FA4AE37DFB84}"/>
              </a:ext>
            </a:extLst>
          </p:cNvPr>
          <p:cNvSpPr>
            <a:spLocks noGrp="1"/>
          </p:cNvSpPr>
          <p:nvPr>
            <p:ph idx="1"/>
          </p:nvPr>
        </p:nvSpPr>
        <p:spPr/>
        <p:txBody>
          <a:bodyPr>
            <a:normAutofit/>
          </a:bodyPr>
          <a:lstStyle/>
          <a:p>
            <a:r>
              <a:rPr lang="en-IN" sz="5400" b="1" dirty="0" err="1"/>
              <a:t>Chithalai</a:t>
            </a:r>
            <a:r>
              <a:rPr lang="en-IN" sz="5400" b="1" dirty="0"/>
              <a:t> </a:t>
            </a:r>
            <a:r>
              <a:rPr lang="en-IN" sz="5400" b="1" dirty="0" err="1"/>
              <a:t>Chathanar</a:t>
            </a:r>
            <a:endParaRPr lang="en-IN" sz="5400" b="1" dirty="0"/>
          </a:p>
        </p:txBody>
      </p:sp>
    </p:spTree>
    <p:extLst>
      <p:ext uri="{BB962C8B-B14F-4D97-AF65-F5344CB8AC3E}">
        <p14:creationId xmlns:p14="http://schemas.microsoft.com/office/powerpoint/2010/main" val="282974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627C7-723D-48BA-2FCB-147B4CAA21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8B4C5E-06E9-135F-76AB-9F12ACAB5BD7}"/>
              </a:ext>
            </a:extLst>
          </p:cNvPr>
          <p:cNvSpPr>
            <a:spLocks noGrp="1"/>
          </p:cNvSpPr>
          <p:nvPr>
            <p:ph idx="1"/>
          </p:nvPr>
        </p:nvSpPr>
        <p:spPr/>
        <p:txBody>
          <a:bodyPr>
            <a:normAutofit/>
          </a:bodyPr>
          <a:lstStyle/>
          <a:p>
            <a:r>
              <a:rPr lang="en-US" sz="6600" b="1" i="1" dirty="0"/>
              <a:t>Who wrote </a:t>
            </a:r>
            <a:r>
              <a:rPr lang="en-US" sz="6600" b="1" i="1" dirty="0" err="1"/>
              <a:t>Natya</a:t>
            </a:r>
            <a:r>
              <a:rPr lang="en-US" sz="6600" b="1" i="1" dirty="0"/>
              <a:t> Shastra</a:t>
            </a:r>
            <a:r>
              <a:rPr lang="en-US" sz="6600" b="1" dirty="0"/>
              <a:t> </a:t>
            </a:r>
            <a:endParaRPr lang="en-IN" sz="6600" b="1" dirty="0"/>
          </a:p>
        </p:txBody>
      </p:sp>
    </p:spTree>
    <p:extLst>
      <p:ext uri="{BB962C8B-B14F-4D97-AF65-F5344CB8AC3E}">
        <p14:creationId xmlns:p14="http://schemas.microsoft.com/office/powerpoint/2010/main" val="3974203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9D7F-9BA5-7E76-5A77-620CBC419F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C11FBA-B3F3-D719-9BEC-B95C58B5DD77}"/>
              </a:ext>
            </a:extLst>
          </p:cNvPr>
          <p:cNvSpPr>
            <a:spLocks noGrp="1"/>
          </p:cNvSpPr>
          <p:nvPr>
            <p:ph idx="1"/>
          </p:nvPr>
        </p:nvSpPr>
        <p:spPr/>
        <p:txBody>
          <a:bodyPr/>
          <a:lstStyle/>
          <a:p>
            <a:r>
              <a:rPr lang="en-US" dirty="0"/>
              <a:t> </a:t>
            </a:r>
            <a:r>
              <a:rPr lang="en-US" sz="5400" b="1" dirty="0">
                <a:hlinkClick r:id="rId2" tooltip="Bharata Muni">
                  <a:extLst>
                    <a:ext uri="{A12FA001-AC4F-418D-AE19-62706E023703}">
                      <ahyp:hlinkClr xmlns:ahyp="http://schemas.microsoft.com/office/drawing/2018/hyperlinkcolor" val="tx"/>
                    </a:ext>
                  </a:extLst>
                </a:hlinkClick>
              </a:rPr>
              <a:t>Bharata Muni</a:t>
            </a:r>
            <a:r>
              <a:rPr lang="en-US" sz="5400" b="1" dirty="0"/>
              <a:t>,</a:t>
            </a:r>
            <a:endParaRPr lang="en-IN" b="1" dirty="0"/>
          </a:p>
        </p:txBody>
      </p:sp>
    </p:spTree>
    <p:extLst>
      <p:ext uri="{BB962C8B-B14F-4D97-AF65-F5344CB8AC3E}">
        <p14:creationId xmlns:p14="http://schemas.microsoft.com/office/powerpoint/2010/main" val="1330009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83CF-5CD6-4DA8-9D80-A93A5A9763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542BE0-6501-478E-A4EB-3C5917C23BC1}"/>
              </a:ext>
            </a:extLst>
          </p:cNvPr>
          <p:cNvSpPr>
            <a:spLocks noGrp="1"/>
          </p:cNvSpPr>
          <p:nvPr>
            <p:ph idx="1"/>
          </p:nvPr>
        </p:nvSpPr>
        <p:spPr/>
        <p:txBody>
          <a:bodyPr>
            <a:normAutofit/>
          </a:bodyPr>
          <a:lstStyle/>
          <a:p>
            <a:r>
              <a:rPr lang="en-US" sz="6000" b="1" dirty="0"/>
              <a:t>Which dance depicts scenes from lives of gods, Rama and Krishna</a:t>
            </a:r>
          </a:p>
        </p:txBody>
      </p:sp>
    </p:spTree>
    <p:extLst>
      <p:ext uri="{BB962C8B-B14F-4D97-AF65-F5344CB8AC3E}">
        <p14:creationId xmlns:p14="http://schemas.microsoft.com/office/powerpoint/2010/main" val="275303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18057-F12C-4458-84D1-3D8FC693D0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A0ACE3-7087-4D52-93F8-45277418CC98}"/>
              </a:ext>
            </a:extLst>
          </p:cNvPr>
          <p:cNvSpPr>
            <a:spLocks noGrp="1"/>
          </p:cNvSpPr>
          <p:nvPr>
            <p:ph idx="1"/>
          </p:nvPr>
        </p:nvSpPr>
        <p:spPr/>
        <p:txBody>
          <a:bodyPr>
            <a:normAutofit/>
          </a:bodyPr>
          <a:lstStyle/>
          <a:p>
            <a:r>
              <a:rPr lang="en-US" sz="8000" dirty="0"/>
              <a:t>Kathakali</a:t>
            </a:r>
          </a:p>
        </p:txBody>
      </p:sp>
    </p:spTree>
    <p:extLst>
      <p:ext uri="{BB962C8B-B14F-4D97-AF65-F5344CB8AC3E}">
        <p14:creationId xmlns:p14="http://schemas.microsoft.com/office/powerpoint/2010/main" val="660230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8E519-008A-4801-8D4D-A22A8457C4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F78EFB-660B-40F3-ACCE-0CB722D4F352}"/>
              </a:ext>
            </a:extLst>
          </p:cNvPr>
          <p:cNvSpPr>
            <a:spLocks noGrp="1"/>
          </p:cNvSpPr>
          <p:nvPr>
            <p:ph idx="1"/>
          </p:nvPr>
        </p:nvSpPr>
        <p:spPr/>
        <p:txBody>
          <a:bodyPr>
            <a:normAutofit/>
          </a:bodyPr>
          <a:lstStyle/>
          <a:p>
            <a:r>
              <a:rPr lang="en-US" sz="7200" dirty="0"/>
              <a:t>Dance form of A P </a:t>
            </a:r>
          </a:p>
        </p:txBody>
      </p:sp>
    </p:spTree>
    <p:extLst>
      <p:ext uri="{BB962C8B-B14F-4D97-AF65-F5344CB8AC3E}">
        <p14:creationId xmlns:p14="http://schemas.microsoft.com/office/powerpoint/2010/main" val="4139433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40943-E05D-4EF5-8B28-D1B79E9C15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705037-1F79-484F-91AD-04DFEF9960CD}"/>
              </a:ext>
            </a:extLst>
          </p:cNvPr>
          <p:cNvSpPr>
            <a:spLocks noGrp="1"/>
          </p:cNvSpPr>
          <p:nvPr>
            <p:ph idx="1"/>
          </p:nvPr>
        </p:nvSpPr>
        <p:spPr>
          <a:xfrm>
            <a:off x="838199" y="1690688"/>
            <a:ext cx="10515600" cy="4351338"/>
          </a:xfrm>
        </p:spPr>
        <p:txBody>
          <a:bodyPr>
            <a:normAutofit/>
          </a:bodyPr>
          <a:lstStyle/>
          <a:p>
            <a:r>
              <a:rPr lang="en-US" sz="7200" dirty="0"/>
              <a:t>Kuchipudi</a:t>
            </a:r>
          </a:p>
        </p:txBody>
      </p:sp>
      <p:pic>
        <p:nvPicPr>
          <p:cNvPr id="7170" name="Picture 2" descr="Kuchipudi - Wikipedia">
            <a:extLst>
              <a:ext uri="{FF2B5EF4-FFF2-40B4-BE49-F238E27FC236}">
                <a16:creationId xmlns:a16="http://schemas.microsoft.com/office/drawing/2014/main" id="{C0BE64E2-6087-473A-416F-1746C53EC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4463" y="2119313"/>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Kuchipudi | South Indian, Origin ...">
            <a:extLst>
              <a:ext uri="{FF2B5EF4-FFF2-40B4-BE49-F238E27FC236}">
                <a16:creationId xmlns:a16="http://schemas.microsoft.com/office/drawing/2014/main" id="{5C0042FB-4DCB-42AB-0925-2913E1DED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2796" y="2505075"/>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24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4C803-7E4D-7B8A-88C4-00DE502E33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607BA3-9CB2-5FD9-F2C0-10DBC7E58D4C}"/>
              </a:ext>
            </a:extLst>
          </p:cNvPr>
          <p:cNvSpPr>
            <a:spLocks noGrp="1"/>
          </p:cNvSpPr>
          <p:nvPr>
            <p:ph idx="1"/>
          </p:nvPr>
        </p:nvSpPr>
        <p:spPr/>
        <p:txBody>
          <a:bodyPr>
            <a:normAutofit/>
          </a:bodyPr>
          <a:lstStyle/>
          <a:p>
            <a:r>
              <a:rPr lang="en-US" sz="6000" b="1" dirty="0"/>
              <a:t>Who originally performed Kuchipudi</a:t>
            </a:r>
            <a:endParaRPr lang="en-IN" sz="6000" b="1" dirty="0"/>
          </a:p>
        </p:txBody>
      </p:sp>
    </p:spTree>
    <p:extLst>
      <p:ext uri="{BB962C8B-B14F-4D97-AF65-F5344CB8AC3E}">
        <p14:creationId xmlns:p14="http://schemas.microsoft.com/office/powerpoint/2010/main" val="1788099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745B-D999-5C55-4F65-8601BC5238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BEA0F0-1401-47DE-03ED-CDEFE23E8A36}"/>
              </a:ext>
            </a:extLst>
          </p:cNvPr>
          <p:cNvSpPr>
            <a:spLocks noGrp="1"/>
          </p:cNvSpPr>
          <p:nvPr>
            <p:ph idx="1"/>
          </p:nvPr>
        </p:nvSpPr>
        <p:spPr/>
        <p:txBody>
          <a:bodyPr>
            <a:normAutofit/>
          </a:bodyPr>
          <a:lstStyle/>
          <a:p>
            <a:r>
              <a:rPr lang="en-US" sz="7200" b="1" dirty="0"/>
              <a:t>Bhagavathalu </a:t>
            </a:r>
            <a:endParaRPr lang="en-IN" sz="7200" b="1" dirty="0"/>
          </a:p>
        </p:txBody>
      </p:sp>
    </p:spTree>
    <p:extLst>
      <p:ext uri="{BB962C8B-B14F-4D97-AF65-F5344CB8AC3E}">
        <p14:creationId xmlns:p14="http://schemas.microsoft.com/office/powerpoint/2010/main" val="3673422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3BEB-127E-3A76-BE19-5347B0C122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8A30F0-F64B-35EE-53F2-81D575CF75FC}"/>
              </a:ext>
            </a:extLst>
          </p:cNvPr>
          <p:cNvSpPr>
            <a:spLocks noGrp="1"/>
          </p:cNvSpPr>
          <p:nvPr>
            <p:ph idx="1"/>
          </p:nvPr>
        </p:nvSpPr>
        <p:spPr/>
        <p:txBody>
          <a:bodyPr>
            <a:normAutofit/>
          </a:bodyPr>
          <a:lstStyle/>
          <a:p>
            <a:r>
              <a:rPr lang="en-US" sz="4800" b="1" dirty="0"/>
              <a:t>Who played a key role in the development of </a:t>
            </a:r>
            <a:r>
              <a:rPr lang="en-US" sz="4800" b="1" dirty="0" err="1"/>
              <a:t>Kuchupudi</a:t>
            </a:r>
            <a:r>
              <a:rPr lang="en-US" sz="4800" b="1" dirty="0"/>
              <a:t>?</a:t>
            </a:r>
            <a:endParaRPr lang="en-IN" sz="4800" b="1" dirty="0"/>
          </a:p>
        </p:txBody>
      </p:sp>
    </p:spTree>
    <p:extLst>
      <p:ext uri="{BB962C8B-B14F-4D97-AF65-F5344CB8AC3E}">
        <p14:creationId xmlns:p14="http://schemas.microsoft.com/office/powerpoint/2010/main" val="2754592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9B5E-1089-3704-69DD-4F88998A8F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625BF7-4E07-6B48-5979-67D84BFBFEFD}"/>
              </a:ext>
            </a:extLst>
          </p:cNvPr>
          <p:cNvSpPr>
            <a:spLocks noGrp="1"/>
          </p:cNvSpPr>
          <p:nvPr>
            <p:ph idx="1"/>
          </p:nvPr>
        </p:nvSpPr>
        <p:spPr/>
        <p:txBody>
          <a:bodyPr>
            <a:normAutofit/>
          </a:bodyPr>
          <a:lstStyle/>
          <a:p>
            <a:r>
              <a:rPr lang="en-US" sz="5400" b="1" dirty="0" err="1"/>
              <a:t>Siddhendra</a:t>
            </a:r>
            <a:r>
              <a:rPr lang="en-US" sz="5400" b="1" dirty="0"/>
              <a:t> Yogi </a:t>
            </a:r>
            <a:endParaRPr lang="en-IN" sz="5400" b="1" dirty="0"/>
          </a:p>
        </p:txBody>
      </p:sp>
    </p:spTree>
    <p:extLst>
      <p:ext uri="{BB962C8B-B14F-4D97-AF65-F5344CB8AC3E}">
        <p14:creationId xmlns:p14="http://schemas.microsoft.com/office/powerpoint/2010/main" val="3264652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7908D-CCDD-439C-B196-B6F456D3CF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34F494-62DE-47B5-A5FA-99C51AA74D9C}"/>
              </a:ext>
            </a:extLst>
          </p:cNvPr>
          <p:cNvSpPr>
            <a:spLocks noGrp="1"/>
          </p:cNvSpPr>
          <p:nvPr>
            <p:ph idx="1"/>
          </p:nvPr>
        </p:nvSpPr>
        <p:spPr/>
        <p:txBody>
          <a:bodyPr>
            <a:normAutofit/>
          </a:bodyPr>
          <a:lstStyle/>
          <a:p>
            <a:r>
              <a:rPr lang="en-US" sz="7200" dirty="0"/>
              <a:t>Dance that has Persian and Central Asian dance forms </a:t>
            </a:r>
          </a:p>
        </p:txBody>
      </p:sp>
    </p:spTree>
    <p:extLst>
      <p:ext uri="{BB962C8B-B14F-4D97-AF65-F5344CB8AC3E}">
        <p14:creationId xmlns:p14="http://schemas.microsoft.com/office/powerpoint/2010/main" val="2791863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9FEC-C406-4119-8A2B-4B34E48C4B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85E38C-838E-4A84-8CE6-A121F434EB33}"/>
              </a:ext>
            </a:extLst>
          </p:cNvPr>
          <p:cNvSpPr>
            <a:spLocks noGrp="1"/>
          </p:cNvSpPr>
          <p:nvPr>
            <p:ph idx="1"/>
          </p:nvPr>
        </p:nvSpPr>
        <p:spPr/>
        <p:txBody>
          <a:bodyPr>
            <a:normAutofit/>
          </a:bodyPr>
          <a:lstStyle/>
          <a:p>
            <a:r>
              <a:rPr lang="en-US" sz="7200" dirty="0"/>
              <a:t>Kathak(means story teller )</a:t>
            </a:r>
          </a:p>
        </p:txBody>
      </p:sp>
      <p:pic>
        <p:nvPicPr>
          <p:cNvPr id="8194" name="Picture 2" descr="Kathak - Wikipedia">
            <a:extLst>
              <a:ext uri="{FF2B5EF4-FFF2-40B4-BE49-F238E27FC236}">
                <a16:creationId xmlns:a16="http://schemas.microsoft.com/office/drawing/2014/main" id="{B9132A49-5E33-C9BC-F489-3BD1906D3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8439" y="3012205"/>
            <a:ext cx="1828800" cy="250507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Kathak Dance | Taal Dhamaar | Tanmoyee ...">
            <a:extLst>
              <a:ext uri="{FF2B5EF4-FFF2-40B4-BE49-F238E27FC236}">
                <a16:creationId xmlns:a16="http://schemas.microsoft.com/office/drawing/2014/main" id="{0E27433B-0E1B-84A1-173D-BDE582F4D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032" y="2849204"/>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331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7C22-6788-4A0E-B198-94D7C6C9B9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89BC8D-8160-4621-9BE3-317D2461C216}"/>
              </a:ext>
            </a:extLst>
          </p:cNvPr>
          <p:cNvSpPr>
            <a:spLocks noGrp="1"/>
          </p:cNvSpPr>
          <p:nvPr>
            <p:ph idx="1"/>
          </p:nvPr>
        </p:nvSpPr>
        <p:spPr/>
        <p:txBody>
          <a:bodyPr>
            <a:normAutofit/>
          </a:bodyPr>
          <a:lstStyle/>
          <a:p>
            <a:r>
              <a:rPr lang="en-US" sz="9600" dirty="0"/>
              <a:t>Guru </a:t>
            </a:r>
            <a:r>
              <a:rPr lang="en-US" sz="9600" dirty="0" err="1"/>
              <a:t>Kelucharan</a:t>
            </a:r>
            <a:r>
              <a:rPr lang="en-US" sz="9600" dirty="0"/>
              <a:t> Mahapatra is associated with</a:t>
            </a:r>
          </a:p>
        </p:txBody>
      </p:sp>
    </p:spTree>
    <p:extLst>
      <p:ext uri="{BB962C8B-B14F-4D97-AF65-F5344CB8AC3E}">
        <p14:creationId xmlns:p14="http://schemas.microsoft.com/office/powerpoint/2010/main" val="3382093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3BA4E-C6A1-4376-8EE6-903EAECC81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1C18E7-7D26-4660-A12C-AECE94E16040}"/>
              </a:ext>
            </a:extLst>
          </p:cNvPr>
          <p:cNvSpPr>
            <a:spLocks noGrp="1"/>
          </p:cNvSpPr>
          <p:nvPr>
            <p:ph idx="1"/>
          </p:nvPr>
        </p:nvSpPr>
        <p:spPr/>
        <p:txBody>
          <a:bodyPr>
            <a:normAutofit/>
          </a:bodyPr>
          <a:lstStyle/>
          <a:p>
            <a:r>
              <a:rPr lang="en-US" sz="11500" b="1" dirty="0"/>
              <a:t>Odissi</a:t>
            </a:r>
          </a:p>
        </p:txBody>
      </p:sp>
      <p:pic>
        <p:nvPicPr>
          <p:cNvPr id="9218" name="Picture 2" descr="Mysticamusic - Kelu Charan Mahapatra">
            <a:extLst>
              <a:ext uri="{FF2B5EF4-FFF2-40B4-BE49-F238E27FC236}">
                <a16:creationId xmlns:a16="http://schemas.microsoft.com/office/drawing/2014/main" id="{48E7F8C8-EDAA-DEBC-56C6-101E31AB0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503" y="206247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539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96E5B-B64F-48CD-F129-A564B67CD5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266C35-9C11-A236-02E0-E1FBA2C40D59}"/>
              </a:ext>
            </a:extLst>
          </p:cNvPr>
          <p:cNvSpPr>
            <a:spLocks noGrp="1"/>
          </p:cNvSpPr>
          <p:nvPr>
            <p:ph idx="1"/>
          </p:nvPr>
        </p:nvSpPr>
        <p:spPr/>
        <p:txBody>
          <a:bodyPr/>
          <a:lstStyle/>
          <a:p>
            <a:r>
              <a:rPr lang="en-US" sz="4800" b="1" dirty="0"/>
              <a:t>What is the earliest form of present-day Odissi Dance.</a:t>
            </a:r>
            <a:endParaRPr lang="en-US" sz="9600" b="1" dirty="0"/>
          </a:p>
          <a:p>
            <a:endParaRPr lang="en-IN" dirty="0"/>
          </a:p>
        </p:txBody>
      </p:sp>
    </p:spTree>
    <p:extLst>
      <p:ext uri="{BB962C8B-B14F-4D97-AF65-F5344CB8AC3E}">
        <p14:creationId xmlns:p14="http://schemas.microsoft.com/office/powerpoint/2010/main" val="452278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6A3A-AF1C-0997-313D-A4CA913B9F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1AC4FA-B371-C87F-75E9-4D3FD3585477}"/>
              </a:ext>
            </a:extLst>
          </p:cNvPr>
          <p:cNvSpPr>
            <a:spLocks noGrp="1"/>
          </p:cNvSpPr>
          <p:nvPr>
            <p:ph idx="1"/>
          </p:nvPr>
        </p:nvSpPr>
        <p:spPr/>
        <p:txBody>
          <a:bodyPr>
            <a:normAutofit/>
          </a:bodyPr>
          <a:lstStyle/>
          <a:p>
            <a:r>
              <a:rPr lang="en-US" sz="4400" b="1" dirty="0"/>
              <a:t>According to </a:t>
            </a:r>
            <a:r>
              <a:rPr lang="en-US" sz="4400" b="1" dirty="0" err="1"/>
              <a:t>Natya</a:t>
            </a:r>
            <a:r>
              <a:rPr lang="en-US" sz="4400" b="1" dirty="0"/>
              <a:t> Shastra, ‘</a:t>
            </a:r>
            <a:r>
              <a:rPr lang="en-US" sz="4400" b="1" dirty="0" err="1"/>
              <a:t>Odhra</a:t>
            </a:r>
            <a:r>
              <a:rPr lang="en-US" sz="4400" b="1" dirty="0"/>
              <a:t> Magadha’</a:t>
            </a:r>
            <a:endParaRPr lang="en-IN" sz="4400" b="1" dirty="0"/>
          </a:p>
        </p:txBody>
      </p:sp>
      <p:pic>
        <p:nvPicPr>
          <p:cNvPr id="10242" name="Picture 2" descr="Odissi Dance ~ Odisha, on the eastern ...">
            <a:extLst>
              <a:ext uri="{FF2B5EF4-FFF2-40B4-BE49-F238E27FC236}">
                <a16:creationId xmlns:a16="http://schemas.microsoft.com/office/drawing/2014/main" id="{E7002E3F-C774-4E37-CDCB-4C24AF25B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550" y="2557463"/>
            <a:ext cx="262890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istory of Odissi">
            <a:extLst>
              <a:ext uri="{FF2B5EF4-FFF2-40B4-BE49-F238E27FC236}">
                <a16:creationId xmlns:a16="http://schemas.microsoft.com/office/drawing/2014/main" id="{359A0918-4B4A-2F67-E4AF-1F04D5261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783" y="3352800"/>
            <a:ext cx="2114550"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617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4E5F-17E9-426E-8D15-8EBA4EC05C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4D8F9C-C273-48F1-B689-11760DC62BBF}"/>
              </a:ext>
            </a:extLst>
          </p:cNvPr>
          <p:cNvSpPr>
            <a:spLocks noGrp="1"/>
          </p:cNvSpPr>
          <p:nvPr>
            <p:ph idx="1"/>
          </p:nvPr>
        </p:nvSpPr>
        <p:spPr/>
        <p:txBody>
          <a:bodyPr>
            <a:normAutofit/>
          </a:bodyPr>
          <a:lstStyle/>
          <a:p>
            <a:r>
              <a:rPr lang="en-US" sz="8000" dirty="0"/>
              <a:t>Number of classical dances in India</a:t>
            </a:r>
          </a:p>
        </p:txBody>
      </p:sp>
    </p:spTree>
    <p:extLst>
      <p:ext uri="{BB962C8B-B14F-4D97-AF65-F5344CB8AC3E}">
        <p14:creationId xmlns:p14="http://schemas.microsoft.com/office/powerpoint/2010/main" val="3655491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1B310-E5A3-4E2B-B3A7-4BA75212D5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08DC05-A4AB-4B9B-A9FF-E99A070757A2}"/>
              </a:ext>
            </a:extLst>
          </p:cNvPr>
          <p:cNvSpPr>
            <a:spLocks noGrp="1"/>
          </p:cNvSpPr>
          <p:nvPr>
            <p:ph idx="1"/>
          </p:nvPr>
        </p:nvSpPr>
        <p:spPr/>
        <p:txBody>
          <a:bodyPr>
            <a:normAutofit/>
          </a:bodyPr>
          <a:lstStyle/>
          <a:p>
            <a:r>
              <a:rPr lang="en-US" sz="8800" dirty="0"/>
              <a:t>8</a:t>
            </a:r>
          </a:p>
          <a:p>
            <a:r>
              <a:rPr lang="en-IN" sz="4000" b="1" dirty="0"/>
              <a:t>Bharatanatyam, Kathak, Kathakali, Kuchipudi, Odissi, Manipuri, </a:t>
            </a:r>
            <a:r>
              <a:rPr lang="en-IN" sz="4000" b="1" dirty="0" err="1"/>
              <a:t>Mohiniyattam</a:t>
            </a:r>
            <a:r>
              <a:rPr lang="en-IN" sz="4000" b="1" dirty="0"/>
              <a:t>, and </a:t>
            </a:r>
            <a:r>
              <a:rPr lang="en-IN" sz="4000" b="1" dirty="0" err="1"/>
              <a:t>Sattriya</a:t>
            </a:r>
            <a:endParaRPr lang="en-US" sz="13800" b="1" dirty="0"/>
          </a:p>
        </p:txBody>
      </p:sp>
    </p:spTree>
    <p:extLst>
      <p:ext uri="{BB962C8B-B14F-4D97-AF65-F5344CB8AC3E}">
        <p14:creationId xmlns:p14="http://schemas.microsoft.com/office/powerpoint/2010/main" val="2181751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9C8DD-60DF-40BE-AA22-AB74ED642B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4B64FC-1C7A-4732-BCEC-EF06B3161A1C}"/>
              </a:ext>
            </a:extLst>
          </p:cNvPr>
          <p:cNvSpPr>
            <a:spLocks noGrp="1"/>
          </p:cNvSpPr>
          <p:nvPr>
            <p:ph idx="1"/>
          </p:nvPr>
        </p:nvSpPr>
        <p:spPr/>
        <p:txBody>
          <a:bodyPr>
            <a:normAutofit/>
          </a:bodyPr>
          <a:lstStyle/>
          <a:p>
            <a:r>
              <a:rPr lang="en-US" sz="4800" b="1" dirty="0"/>
              <a:t>Which classical dance form is distinguished by the special postures with three independent body movements (head, chest and pelvis –</a:t>
            </a:r>
            <a:r>
              <a:rPr lang="en-US" sz="4800" b="1" dirty="0" err="1"/>
              <a:t>tribhangi</a:t>
            </a:r>
            <a:r>
              <a:rPr lang="en-US" sz="4800" b="1" dirty="0"/>
              <a:t>)</a:t>
            </a:r>
          </a:p>
        </p:txBody>
      </p:sp>
    </p:spTree>
    <p:extLst>
      <p:ext uri="{BB962C8B-B14F-4D97-AF65-F5344CB8AC3E}">
        <p14:creationId xmlns:p14="http://schemas.microsoft.com/office/powerpoint/2010/main" val="1520114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7975-438E-4BBD-A4E4-DE0D333C00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4C829A-6FB2-43D3-9A85-272D0321927B}"/>
              </a:ext>
            </a:extLst>
          </p:cNvPr>
          <p:cNvSpPr>
            <a:spLocks noGrp="1"/>
          </p:cNvSpPr>
          <p:nvPr>
            <p:ph idx="1"/>
          </p:nvPr>
        </p:nvSpPr>
        <p:spPr/>
        <p:txBody>
          <a:bodyPr>
            <a:normAutofit/>
          </a:bodyPr>
          <a:lstStyle/>
          <a:p>
            <a:r>
              <a:rPr lang="en-US" sz="11500" b="1" dirty="0"/>
              <a:t>Odissi</a:t>
            </a:r>
          </a:p>
        </p:txBody>
      </p:sp>
      <p:pic>
        <p:nvPicPr>
          <p:cNvPr id="11266" name="Picture 2" descr="Odissi - Tribhangi Posture | P. L ...">
            <a:extLst>
              <a:ext uri="{FF2B5EF4-FFF2-40B4-BE49-F238E27FC236}">
                <a16:creationId xmlns:a16="http://schemas.microsoft.com/office/drawing/2014/main" id="{84EF5B46-1F19-E42C-AAD9-5496B0B62D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938" y="2133600"/>
            <a:ext cx="176212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Tribhanga">
            <a:extLst>
              <a:ext uri="{FF2B5EF4-FFF2-40B4-BE49-F238E27FC236}">
                <a16:creationId xmlns:a16="http://schemas.microsoft.com/office/drawing/2014/main" id="{D442DA9A-597C-71BD-437B-9C50E7398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2655" y="1027906"/>
            <a:ext cx="1447800"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333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37FF-C84B-4B18-957D-297944893B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54D29E-FDC7-4D18-B83F-432D185FA633}"/>
              </a:ext>
            </a:extLst>
          </p:cNvPr>
          <p:cNvSpPr>
            <a:spLocks noGrp="1"/>
          </p:cNvSpPr>
          <p:nvPr>
            <p:ph idx="1"/>
          </p:nvPr>
        </p:nvSpPr>
        <p:spPr/>
        <p:txBody>
          <a:bodyPr>
            <a:normAutofit/>
          </a:bodyPr>
          <a:lstStyle/>
          <a:p>
            <a:r>
              <a:rPr lang="en-US" sz="9600" b="1" dirty="0"/>
              <a:t>Which dance form enacts the Radha Krishna </a:t>
            </a:r>
            <a:r>
              <a:rPr lang="en-US" sz="9600" b="1" dirty="0" err="1"/>
              <a:t>raaslila</a:t>
            </a:r>
            <a:endParaRPr lang="en-US" sz="9600" b="1" dirty="0"/>
          </a:p>
        </p:txBody>
      </p:sp>
    </p:spTree>
    <p:extLst>
      <p:ext uri="{BB962C8B-B14F-4D97-AF65-F5344CB8AC3E}">
        <p14:creationId xmlns:p14="http://schemas.microsoft.com/office/powerpoint/2010/main" val="3717615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40FC7-DA5B-4BD9-8B52-DE39F6A134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756595-4ACB-413D-BC27-6612175602E2}"/>
              </a:ext>
            </a:extLst>
          </p:cNvPr>
          <p:cNvSpPr>
            <a:spLocks noGrp="1"/>
          </p:cNvSpPr>
          <p:nvPr>
            <p:ph idx="1"/>
          </p:nvPr>
        </p:nvSpPr>
        <p:spPr/>
        <p:txBody>
          <a:bodyPr>
            <a:normAutofit/>
          </a:bodyPr>
          <a:lstStyle/>
          <a:p>
            <a:r>
              <a:rPr lang="en-US" sz="8800" b="1" dirty="0"/>
              <a:t>Manipuri dance</a:t>
            </a:r>
          </a:p>
        </p:txBody>
      </p:sp>
      <p:pic>
        <p:nvPicPr>
          <p:cNvPr id="12290" name="Picture 2" descr="Manipuri Dance History, Culture ...">
            <a:extLst>
              <a:ext uri="{FF2B5EF4-FFF2-40B4-BE49-F238E27FC236}">
                <a16:creationId xmlns:a16="http://schemas.microsoft.com/office/drawing/2014/main" id="{EB66050C-5BBD-1230-9911-AE4E088A8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8406" y="3429000"/>
            <a:ext cx="2695575" cy="169545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Dancer- Manipuri (Original Artwork ...">
            <a:extLst>
              <a:ext uri="{FF2B5EF4-FFF2-40B4-BE49-F238E27FC236}">
                <a16:creationId xmlns:a16="http://schemas.microsoft.com/office/drawing/2014/main" id="{97487005-124A-360E-973F-C83366C9F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547" y="2143125"/>
            <a:ext cx="2143125"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292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02502-41EB-71DF-8A81-874C98A5E0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9FCD5B-7705-08D2-E090-0C28A01F4639}"/>
              </a:ext>
            </a:extLst>
          </p:cNvPr>
          <p:cNvSpPr>
            <a:spLocks noGrp="1"/>
          </p:cNvSpPr>
          <p:nvPr>
            <p:ph idx="1"/>
          </p:nvPr>
        </p:nvSpPr>
        <p:spPr/>
        <p:txBody>
          <a:bodyPr>
            <a:normAutofit/>
          </a:bodyPr>
          <a:lstStyle/>
          <a:p>
            <a:r>
              <a:rPr lang="en-IN" sz="6000" b="1" dirty="0"/>
              <a:t>  What is another name for Manipuri dance?</a:t>
            </a:r>
          </a:p>
        </p:txBody>
      </p:sp>
    </p:spTree>
    <p:extLst>
      <p:ext uri="{BB962C8B-B14F-4D97-AF65-F5344CB8AC3E}">
        <p14:creationId xmlns:p14="http://schemas.microsoft.com/office/powerpoint/2010/main" val="2023346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B7C8-F6A6-AEDE-26EE-1CCF148512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ED1C1C-87A5-532A-9F6A-F585F34E4163}"/>
              </a:ext>
            </a:extLst>
          </p:cNvPr>
          <p:cNvSpPr>
            <a:spLocks noGrp="1"/>
          </p:cNvSpPr>
          <p:nvPr>
            <p:ph idx="1"/>
          </p:nvPr>
        </p:nvSpPr>
        <p:spPr/>
        <p:txBody>
          <a:bodyPr>
            <a:normAutofit/>
          </a:bodyPr>
          <a:lstStyle/>
          <a:p>
            <a:r>
              <a:rPr lang="en-US" sz="8000" b="1" dirty="0"/>
              <a:t>Jogoi</a:t>
            </a:r>
            <a:endParaRPr lang="en-IN" sz="8000" b="1" dirty="0"/>
          </a:p>
        </p:txBody>
      </p:sp>
    </p:spTree>
    <p:extLst>
      <p:ext uri="{BB962C8B-B14F-4D97-AF65-F5344CB8AC3E}">
        <p14:creationId xmlns:p14="http://schemas.microsoft.com/office/powerpoint/2010/main" val="3525332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598A-7533-4C17-A929-1F95E74D21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415E80-CB5A-4757-9089-D4E73B6EFFAB}"/>
              </a:ext>
            </a:extLst>
          </p:cNvPr>
          <p:cNvSpPr>
            <a:spLocks noGrp="1"/>
          </p:cNvSpPr>
          <p:nvPr>
            <p:ph idx="1"/>
          </p:nvPr>
        </p:nvSpPr>
        <p:spPr/>
        <p:txBody>
          <a:bodyPr>
            <a:normAutofit/>
          </a:bodyPr>
          <a:lstStyle/>
          <a:p>
            <a:r>
              <a:rPr lang="en-US" sz="8000" dirty="0"/>
              <a:t>Who created the dance form </a:t>
            </a:r>
            <a:r>
              <a:rPr lang="en-US" sz="8000" dirty="0" err="1"/>
              <a:t>Sattriya</a:t>
            </a:r>
            <a:r>
              <a:rPr lang="en-US" sz="8000" dirty="0"/>
              <a:t> (Assam)</a:t>
            </a:r>
          </a:p>
        </p:txBody>
      </p:sp>
    </p:spTree>
    <p:extLst>
      <p:ext uri="{BB962C8B-B14F-4D97-AF65-F5344CB8AC3E}">
        <p14:creationId xmlns:p14="http://schemas.microsoft.com/office/powerpoint/2010/main" val="2861666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90D98F-CE97-4F7F-937D-766448E5AF6B}"/>
              </a:ext>
            </a:extLst>
          </p:cNvPr>
          <p:cNvSpPr>
            <a:spLocks noGrp="1"/>
          </p:cNvSpPr>
          <p:nvPr>
            <p:ph idx="1"/>
          </p:nvPr>
        </p:nvSpPr>
        <p:spPr>
          <a:xfrm>
            <a:off x="671051" y="203303"/>
            <a:ext cx="10515600" cy="4351338"/>
          </a:xfrm>
        </p:spPr>
        <p:txBody>
          <a:bodyPr>
            <a:normAutofit/>
          </a:bodyPr>
          <a:lstStyle/>
          <a:p>
            <a:r>
              <a:rPr lang="en-US" sz="7200" b="1" dirty="0" err="1"/>
              <a:t>Srimanta</a:t>
            </a:r>
            <a:r>
              <a:rPr lang="en-US" sz="7200" b="1" dirty="0"/>
              <a:t> </a:t>
            </a:r>
            <a:r>
              <a:rPr lang="en-US" sz="7200" b="1" dirty="0" err="1"/>
              <a:t>Sankaradeva</a:t>
            </a:r>
            <a:endParaRPr lang="en-US" sz="7200" b="1" dirty="0"/>
          </a:p>
        </p:txBody>
      </p:sp>
      <p:pic>
        <p:nvPicPr>
          <p:cNvPr id="13314" name="Picture 2" descr="Sattriya Dance | Krishnakshi Kashyap">
            <a:extLst>
              <a:ext uri="{FF2B5EF4-FFF2-40B4-BE49-F238E27FC236}">
                <a16:creationId xmlns:a16="http://schemas.microsoft.com/office/drawing/2014/main" id="{35A429EC-CBE6-F79F-79C3-E13EA8B4F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925" y="2590800"/>
            <a:ext cx="272415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The Sattriya Dance Company with the ...">
            <a:extLst>
              <a:ext uri="{FF2B5EF4-FFF2-40B4-BE49-F238E27FC236}">
                <a16:creationId xmlns:a16="http://schemas.microsoft.com/office/drawing/2014/main" id="{16930149-94BF-5C57-9BE1-EADD72BD1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747" y="3015431"/>
            <a:ext cx="2552700"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29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9CB8E-6FB9-4FAE-A7D1-100D127698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FF9077-4F09-4CC8-8BCC-1DCCF91D7DCD}"/>
              </a:ext>
            </a:extLst>
          </p:cNvPr>
          <p:cNvSpPr>
            <a:spLocks noGrp="1"/>
          </p:cNvSpPr>
          <p:nvPr>
            <p:ph idx="1"/>
          </p:nvPr>
        </p:nvSpPr>
        <p:spPr>
          <a:xfrm>
            <a:off x="894522" y="1799121"/>
            <a:ext cx="10515600" cy="4351338"/>
          </a:xfrm>
        </p:spPr>
        <p:txBody>
          <a:bodyPr>
            <a:noAutofit/>
          </a:bodyPr>
          <a:lstStyle/>
          <a:p>
            <a:r>
              <a:rPr lang="en-US" sz="6600" b="1" dirty="0"/>
              <a:t>Which dance form depicts temples of </a:t>
            </a:r>
            <a:r>
              <a:rPr lang="en-US" sz="6600" b="1" dirty="0" err="1"/>
              <a:t>Brahmeswara</a:t>
            </a:r>
            <a:r>
              <a:rPr lang="en-US" sz="6600" b="1" dirty="0"/>
              <a:t> , sun temple at </a:t>
            </a:r>
            <a:r>
              <a:rPr lang="en-US" sz="6600" b="1" dirty="0" err="1"/>
              <a:t>konark</a:t>
            </a:r>
            <a:r>
              <a:rPr lang="en-US" sz="6600" b="1" dirty="0"/>
              <a:t>  and </a:t>
            </a:r>
            <a:r>
              <a:rPr lang="en-US" sz="6600" b="1" dirty="0" err="1"/>
              <a:t>Jagnathpuri</a:t>
            </a:r>
            <a:r>
              <a:rPr lang="en-US" sz="6600" b="1" dirty="0"/>
              <a:t> temple</a:t>
            </a:r>
          </a:p>
        </p:txBody>
      </p:sp>
    </p:spTree>
    <p:extLst>
      <p:ext uri="{BB962C8B-B14F-4D97-AF65-F5344CB8AC3E}">
        <p14:creationId xmlns:p14="http://schemas.microsoft.com/office/powerpoint/2010/main" val="953990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A5D6-085F-4839-81C5-4172C874E6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626E87-1B91-4E66-A452-FFDB0505967B}"/>
              </a:ext>
            </a:extLst>
          </p:cNvPr>
          <p:cNvSpPr>
            <a:spLocks noGrp="1"/>
          </p:cNvSpPr>
          <p:nvPr>
            <p:ph idx="1"/>
          </p:nvPr>
        </p:nvSpPr>
        <p:spPr/>
        <p:txBody>
          <a:bodyPr>
            <a:normAutofit/>
          </a:bodyPr>
          <a:lstStyle/>
          <a:p>
            <a:r>
              <a:rPr lang="en-US" sz="9600" b="1" dirty="0" err="1"/>
              <a:t>Odissi</a:t>
            </a:r>
            <a:r>
              <a:rPr lang="en-US" sz="9600" b="1" dirty="0"/>
              <a:t> </a:t>
            </a:r>
          </a:p>
        </p:txBody>
      </p:sp>
      <p:pic>
        <p:nvPicPr>
          <p:cNvPr id="14338" name="Picture 2" descr="Odissi Dance, Mukteshwar Temple">
            <a:extLst>
              <a:ext uri="{FF2B5EF4-FFF2-40B4-BE49-F238E27FC236}">
                <a16:creationId xmlns:a16="http://schemas.microsoft.com/office/drawing/2014/main" id="{73D8B615-76FA-6FF2-6D90-5AD6979DE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2124075"/>
            <a:ext cx="1752600" cy="260985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Indian Classical Odissi Dancer Pose in ...">
            <a:extLst>
              <a:ext uri="{FF2B5EF4-FFF2-40B4-BE49-F238E27FC236}">
                <a16:creationId xmlns:a16="http://schemas.microsoft.com/office/drawing/2014/main" id="{C4023527-62D5-FA6E-8CBD-81822312E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3362" y="2124075"/>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6789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8C44F-D428-4CF4-BC84-7A27CDF84B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BB9A7C-EA93-4F08-9738-E207B8358B35}"/>
              </a:ext>
            </a:extLst>
          </p:cNvPr>
          <p:cNvSpPr>
            <a:spLocks noGrp="1"/>
          </p:cNvSpPr>
          <p:nvPr>
            <p:ph idx="1"/>
          </p:nvPr>
        </p:nvSpPr>
        <p:spPr/>
        <p:txBody>
          <a:bodyPr>
            <a:normAutofit/>
          </a:bodyPr>
          <a:lstStyle/>
          <a:p>
            <a:r>
              <a:rPr lang="en-US" sz="8800" b="1" dirty="0"/>
              <a:t>From where did </a:t>
            </a:r>
            <a:r>
              <a:rPr lang="en-US" sz="8800" b="1" dirty="0" err="1"/>
              <a:t>Kuchipudi</a:t>
            </a:r>
            <a:r>
              <a:rPr lang="en-US" sz="8800" b="1" dirty="0"/>
              <a:t> originate</a:t>
            </a:r>
          </a:p>
        </p:txBody>
      </p:sp>
    </p:spTree>
    <p:extLst>
      <p:ext uri="{BB962C8B-B14F-4D97-AF65-F5344CB8AC3E}">
        <p14:creationId xmlns:p14="http://schemas.microsoft.com/office/powerpoint/2010/main" val="615444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1A1C-8D69-4733-A084-7C01F67DA1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E80C69-2C62-4B99-B34F-3444DBE3D2F0}"/>
              </a:ext>
            </a:extLst>
          </p:cNvPr>
          <p:cNvSpPr>
            <a:spLocks noGrp="1"/>
          </p:cNvSpPr>
          <p:nvPr>
            <p:ph idx="1"/>
          </p:nvPr>
        </p:nvSpPr>
        <p:spPr/>
        <p:txBody>
          <a:bodyPr>
            <a:normAutofit/>
          </a:bodyPr>
          <a:lstStyle/>
          <a:p>
            <a:r>
              <a:rPr lang="en-US" sz="7200" b="1" dirty="0" err="1"/>
              <a:t>Kuchela</a:t>
            </a:r>
            <a:r>
              <a:rPr lang="en-US" sz="7200" b="1" dirty="0"/>
              <a:t> </a:t>
            </a:r>
            <a:r>
              <a:rPr lang="en-US" sz="7200" b="1" dirty="0" err="1"/>
              <a:t>puri</a:t>
            </a:r>
            <a:endParaRPr lang="en-US" sz="7200" b="1" dirty="0"/>
          </a:p>
        </p:txBody>
      </p:sp>
    </p:spTree>
    <p:extLst>
      <p:ext uri="{BB962C8B-B14F-4D97-AF65-F5344CB8AC3E}">
        <p14:creationId xmlns:p14="http://schemas.microsoft.com/office/powerpoint/2010/main" val="132377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8B050-EB3E-4B72-A483-1B6A98DBF5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965D18-DF3A-45CD-B50E-1D48A3B17CF7}"/>
              </a:ext>
            </a:extLst>
          </p:cNvPr>
          <p:cNvSpPr>
            <a:spLocks noGrp="1"/>
          </p:cNvSpPr>
          <p:nvPr>
            <p:ph idx="1"/>
          </p:nvPr>
        </p:nvSpPr>
        <p:spPr/>
        <p:txBody>
          <a:bodyPr>
            <a:normAutofit/>
          </a:bodyPr>
          <a:lstStyle/>
          <a:p>
            <a:r>
              <a:rPr lang="en-US" sz="8800" b="1" dirty="0"/>
              <a:t>What is known as the ‘dance of every beautiful woman”</a:t>
            </a:r>
          </a:p>
        </p:txBody>
      </p:sp>
    </p:spTree>
    <p:extLst>
      <p:ext uri="{BB962C8B-B14F-4D97-AF65-F5344CB8AC3E}">
        <p14:creationId xmlns:p14="http://schemas.microsoft.com/office/powerpoint/2010/main" val="32446392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55985-36C9-41DA-80A2-9E4BFB101E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008BDC-2E83-4075-B888-B9EB85BBC8A2}"/>
              </a:ext>
            </a:extLst>
          </p:cNvPr>
          <p:cNvSpPr>
            <a:spLocks noGrp="1"/>
          </p:cNvSpPr>
          <p:nvPr>
            <p:ph idx="1"/>
          </p:nvPr>
        </p:nvSpPr>
        <p:spPr/>
        <p:txBody>
          <a:bodyPr>
            <a:normAutofit/>
          </a:bodyPr>
          <a:lstStyle/>
          <a:p>
            <a:r>
              <a:rPr lang="en-US" sz="11500" b="1" dirty="0" err="1"/>
              <a:t>mohiniyattom</a:t>
            </a:r>
            <a:endParaRPr lang="en-US" sz="11500" b="1" dirty="0"/>
          </a:p>
        </p:txBody>
      </p:sp>
      <p:pic>
        <p:nvPicPr>
          <p:cNvPr id="15362" name="Picture 2" descr="indian classical dance ...">
            <a:extLst>
              <a:ext uri="{FF2B5EF4-FFF2-40B4-BE49-F238E27FC236}">
                <a16:creationId xmlns:a16="http://schemas.microsoft.com/office/drawing/2014/main" id="{0A68D7F5-EF55-BB4D-A51A-015700730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7832" y="4137845"/>
            <a:ext cx="1828800" cy="249555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Mohiniyattam">
            <a:extLst>
              <a:ext uri="{FF2B5EF4-FFF2-40B4-BE49-F238E27FC236}">
                <a16:creationId xmlns:a16="http://schemas.microsoft.com/office/drawing/2014/main" id="{7FA4A22E-886A-1395-3CE9-C2C8D4DFB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6264" y="2948781"/>
            <a:ext cx="2171700" cy="210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7831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DEA7-C1BD-C3BC-CBF7-F1D211BBFE45}"/>
              </a:ext>
            </a:extLst>
          </p:cNvPr>
          <p:cNvSpPr>
            <a:spLocks noGrp="1"/>
          </p:cNvSpPr>
          <p:nvPr>
            <p:ph type="title"/>
          </p:nvPr>
        </p:nvSpPr>
        <p:spPr/>
        <p:txBody>
          <a:bodyPr/>
          <a:lstStyle/>
          <a:p>
            <a:r>
              <a:rPr lang="en-IN" b="1" dirty="0" err="1">
                <a:latin typeface="Arial" panose="020B0604020202020204" pitchFamily="34" charset="0"/>
              </a:rPr>
              <a:t>Kalamandalam</a:t>
            </a:r>
            <a:r>
              <a:rPr lang="en-IN" b="1" dirty="0">
                <a:latin typeface="Arial" panose="020B0604020202020204" pitchFamily="34" charset="0"/>
              </a:rPr>
              <a:t> Krishnan Nair </a:t>
            </a:r>
            <a:endParaRPr lang="en-IN" dirty="0"/>
          </a:p>
        </p:txBody>
      </p:sp>
      <p:sp>
        <p:nvSpPr>
          <p:cNvPr id="3" name="Content Placeholder 2">
            <a:extLst>
              <a:ext uri="{FF2B5EF4-FFF2-40B4-BE49-F238E27FC236}">
                <a16:creationId xmlns:a16="http://schemas.microsoft.com/office/drawing/2014/main" id="{DE0EC615-B0EB-3FE1-113D-9410BC728A17}"/>
              </a:ext>
            </a:extLst>
          </p:cNvPr>
          <p:cNvSpPr>
            <a:spLocks noGrp="1"/>
          </p:cNvSpPr>
          <p:nvPr>
            <p:ph idx="1"/>
          </p:nvPr>
        </p:nvSpPr>
        <p:spPr/>
        <p:txBody>
          <a:bodyPr/>
          <a:lstStyle/>
          <a:p>
            <a:endParaRPr lang="en-IN" dirty="0"/>
          </a:p>
        </p:txBody>
      </p:sp>
      <p:pic>
        <p:nvPicPr>
          <p:cNvPr id="16386" name="Picture 2" descr="Kalamandalam Krishnan Nair Archives ...">
            <a:extLst>
              <a:ext uri="{FF2B5EF4-FFF2-40B4-BE49-F238E27FC236}">
                <a16:creationId xmlns:a16="http://schemas.microsoft.com/office/drawing/2014/main" id="{A119DFEB-E8E8-A5CB-3CD1-820A25BAD1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2643188"/>
            <a:ext cx="2905125"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Kalamandalam Krishnan Nair">
            <a:extLst>
              <a:ext uri="{FF2B5EF4-FFF2-40B4-BE49-F238E27FC236}">
                <a16:creationId xmlns:a16="http://schemas.microsoft.com/office/drawing/2014/main" id="{FB8C6394-D358-AA93-46F8-B571B3F16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9459" y="4443413"/>
            <a:ext cx="2638425" cy="173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595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70B1D-91AD-A56D-D7A2-FF4B40B668E1}"/>
              </a:ext>
            </a:extLst>
          </p:cNvPr>
          <p:cNvSpPr>
            <a:spLocks noGrp="1"/>
          </p:cNvSpPr>
          <p:nvPr>
            <p:ph type="title"/>
          </p:nvPr>
        </p:nvSpPr>
        <p:spPr/>
        <p:txBody>
          <a:bodyPr>
            <a:normAutofit/>
          </a:bodyPr>
          <a:lstStyle/>
          <a:p>
            <a:r>
              <a:rPr lang="en-IN" sz="7200" b="1" dirty="0">
                <a:solidFill>
                  <a:srgbClr val="C00000"/>
                </a:solidFill>
                <a:latin typeface="Arial" panose="020B0604020202020204" pitchFamily="34" charset="0"/>
              </a:rPr>
              <a:t>Kathakali</a:t>
            </a:r>
            <a:endParaRPr lang="en-IN" sz="7200" dirty="0">
              <a:solidFill>
                <a:srgbClr val="C00000"/>
              </a:solidFill>
            </a:endParaRPr>
          </a:p>
        </p:txBody>
      </p:sp>
      <p:sp>
        <p:nvSpPr>
          <p:cNvPr id="3" name="Content Placeholder 2">
            <a:extLst>
              <a:ext uri="{FF2B5EF4-FFF2-40B4-BE49-F238E27FC236}">
                <a16:creationId xmlns:a16="http://schemas.microsoft.com/office/drawing/2014/main" id="{44A095EB-FA0D-8201-F05D-D1C62E754EFB}"/>
              </a:ext>
            </a:extLst>
          </p:cNvPr>
          <p:cNvSpPr>
            <a:spLocks noGrp="1"/>
          </p:cNvSpPr>
          <p:nvPr>
            <p:ph idx="1"/>
          </p:nvPr>
        </p:nvSpPr>
        <p:spPr/>
        <p:txBody>
          <a:bodyPr>
            <a:normAutofit/>
          </a:bodyPr>
          <a:lstStyle/>
          <a:p>
            <a:pPr algn="l">
              <a:buFont typeface="Arial" panose="020B0604020202020204" pitchFamily="34" charset="0"/>
              <a:buChar char="•"/>
            </a:pPr>
            <a:r>
              <a:rPr lang="en-IN" sz="2800" b="1" i="0" dirty="0">
                <a:effectLst/>
                <a:latin typeface="Arial" panose="020B0604020202020204" pitchFamily="34" charset="0"/>
              </a:rPr>
              <a:t> - </a:t>
            </a:r>
          </a:p>
        </p:txBody>
      </p:sp>
    </p:spTree>
    <p:extLst>
      <p:ext uri="{BB962C8B-B14F-4D97-AF65-F5344CB8AC3E}">
        <p14:creationId xmlns:p14="http://schemas.microsoft.com/office/powerpoint/2010/main" val="1918728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42AA-7BB1-4E56-B32D-D4F3C39EDD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879B4C-2ADA-4199-849A-A43D9C76ED27}"/>
              </a:ext>
            </a:extLst>
          </p:cNvPr>
          <p:cNvSpPr>
            <a:spLocks noGrp="1"/>
          </p:cNvSpPr>
          <p:nvPr>
            <p:ph idx="1"/>
          </p:nvPr>
        </p:nvSpPr>
        <p:spPr/>
        <p:txBody>
          <a:bodyPr>
            <a:normAutofit/>
          </a:bodyPr>
          <a:lstStyle/>
          <a:p>
            <a:r>
              <a:rPr lang="en-US" sz="9600" b="1" dirty="0"/>
              <a:t>Dance performed in the temples of Tanjore </a:t>
            </a:r>
          </a:p>
        </p:txBody>
      </p:sp>
    </p:spTree>
    <p:extLst>
      <p:ext uri="{BB962C8B-B14F-4D97-AF65-F5344CB8AC3E}">
        <p14:creationId xmlns:p14="http://schemas.microsoft.com/office/powerpoint/2010/main" val="41793280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B11C6-749D-4812-9482-A61CC483F5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75581B-1F91-4C37-82DE-C7248916E11E}"/>
              </a:ext>
            </a:extLst>
          </p:cNvPr>
          <p:cNvSpPr>
            <a:spLocks noGrp="1"/>
          </p:cNvSpPr>
          <p:nvPr>
            <p:ph idx="1"/>
          </p:nvPr>
        </p:nvSpPr>
        <p:spPr/>
        <p:txBody>
          <a:bodyPr>
            <a:normAutofit/>
          </a:bodyPr>
          <a:lstStyle/>
          <a:p>
            <a:r>
              <a:rPr lang="en-US" sz="8000" b="1" dirty="0" err="1"/>
              <a:t>Bharathanatyam</a:t>
            </a:r>
            <a:r>
              <a:rPr lang="en-US" sz="8000" b="1" dirty="0"/>
              <a:t> </a:t>
            </a:r>
          </a:p>
        </p:txBody>
      </p:sp>
      <p:pic>
        <p:nvPicPr>
          <p:cNvPr id="17410" name="Picture 2" descr="thousand Bharatnatyam dancers ...">
            <a:extLst>
              <a:ext uri="{FF2B5EF4-FFF2-40B4-BE49-F238E27FC236}">
                <a16:creationId xmlns:a16="http://schemas.microsoft.com/office/drawing/2014/main" id="{4DECB80E-59B7-2C08-FE26-9B7C393CB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758" y="2947527"/>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11 places every dancer should visit ...">
            <a:extLst>
              <a:ext uri="{FF2B5EF4-FFF2-40B4-BE49-F238E27FC236}">
                <a16:creationId xmlns:a16="http://schemas.microsoft.com/office/drawing/2014/main" id="{DDC37F1A-6C77-ED2C-C95A-038F89A6F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675" y="2947527"/>
            <a:ext cx="2914650"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ancient Indian Temple dance ...">
            <a:extLst>
              <a:ext uri="{FF2B5EF4-FFF2-40B4-BE49-F238E27FC236}">
                <a16:creationId xmlns:a16="http://schemas.microsoft.com/office/drawing/2014/main" id="{FD71DBAB-3505-98A3-671E-6555F667F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9208" y="781844"/>
            <a:ext cx="234315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2152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A4DD6-6D0F-431B-96A9-823A7D8571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88FB11-85C3-4F8E-ACF6-3C6A509EF1B7}"/>
              </a:ext>
            </a:extLst>
          </p:cNvPr>
          <p:cNvSpPr>
            <a:spLocks noGrp="1"/>
          </p:cNvSpPr>
          <p:nvPr>
            <p:ph idx="1"/>
          </p:nvPr>
        </p:nvSpPr>
        <p:spPr/>
        <p:txBody>
          <a:bodyPr>
            <a:normAutofit/>
          </a:bodyPr>
          <a:lstStyle/>
          <a:p>
            <a:r>
              <a:rPr lang="en-US" sz="7200" b="1" dirty="0"/>
              <a:t>Which dance form derives from </a:t>
            </a:r>
            <a:r>
              <a:rPr lang="en-US" sz="7200" b="1" dirty="0" err="1"/>
              <a:t>Bharathanatyam</a:t>
            </a:r>
            <a:r>
              <a:rPr lang="en-US" sz="7200" b="1" dirty="0"/>
              <a:t> and Kathakali</a:t>
            </a:r>
          </a:p>
        </p:txBody>
      </p:sp>
    </p:spTree>
    <p:extLst>
      <p:ext uri="{BB962C8B-B14F-4D97-AF65-F5344CB8AC3E}">
        <p14:creationId xmlns:p14="http://schemas.microsoft.com/office/powerpoint/2010/main" val="961867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88AAA-876D-4398-A6AF-4B45E48254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7DEC5A-610B-4374-B8CF-889796ED9654}"/>
              </a:ext>
            </a:extLst>
          </p:cNvPr>
          <p:cNvSpPr>
            <a:spLocks noGrp="1"/>
          </p:cNvSpPr>
          <p:nvPr>
            <p:ph idx="1"/>
          </p:nvPr>
        </p:nvSpPr>
        <p:spPr/>
        <p:txBody>
          <a:bodyPr>
            <a:normAutofit/>
          </a:bodyPr>
          <a:lstStyle/>
          <a:p>
            <a:r>
              <a:rPr lang="en-US" sz="6600" b="1" dirty="0" err="1"/>
              <a:t>Mohiniattam</a:t>
            </a:r>
            <a:endParaRPr lang="en-US" sz="6600" b="1" dirty="0"/>
          </a:p>
        </p:txBody>
      </p:sp>
      <p:pic>
        <p:nvPicPr>
          <p:cNvPr id="2050" name="Picture 2" descr="Mohiniyattam | IASbaba">
            <a:extLst>
              <a:ext uri="{FF2B5EF4-FFF2-40B4-BE49-F238E27FC236}">
                <a16:creationId xmlns:a16="http://schemas.microsoft.com/office/drawing/2014/main" id="{62DEC563-33C5-7E4A-B253-7E6E75CE28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893" y="3300874"/>
            <a:ext cx="252412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0633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C0642-20E4-42C4-A65E-87002FA6BC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48A351-CD49-4023-A7BD-B667F11E49A1}"/>
              </a:ext>
            </a:extLst>
          </p:cNvPr>
          <p:cNvSpPr>
            <a:spLocks noGrp="1"/>
          </p:cNvSpPr>
          <p:nvPr>
            <p:ph idx="1"/>
          </p:nvPr>
        </p:nvSpPr>
        <p:spPr/>
        <p:txBody>
          <a:bodyPr>
            <a:normAutofit/>
          </a:bodyPr>
          <a:lstStyle/>
          <a:p>
            <a:r>
              <a:rPr lang="en-US" sz="6600" b="1" dirty="0"/>
              <a:t>Ballet of the East </a:t>
            </a:r>
          </a:p>
        </p:txBody>
      </p:sp>
    </p:spTree>
    <p:extLst>
      <p:ext uri="{BB962C8B-B14F-4D97-AF65-F5344CB8AC3E}">
        <p14:creationId xmlns:p14="http://schemas.microsoft.com/office/powerpoint/2010/main" val="2942585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2DAF-336F-42E9-AE7F-04D2DF157E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258E06-23CF-4D88-996B-D458E2DDC74E}"/>
              </a:ext>
            </a:extLst>
          </p:cNvPr>
          <p:cNvSpPr>
            <a:spLocks noGrp="1"/>
          </p:cNvSpPr>
          <p:nvPr>
            <p:ph idx="1"/>
          </p:nvPr>
        </p:nvSpPr>
        <p:spPr/>
        <p:txBody>
          <a:bodyPr>
            <a:normAutofit/>
          </a:bodyPr>
          <a:lstStyle/>
          <a:p>
            <a:r>
              <a:rPr lang="en-US" sz="8000" b="1" dirty="0"/>
              <a:t>Kathakali </a:t>
            </a:r>
          </a:p>
        </p:txBody>
      </p:sp>
    </p:spTree>
    <p:extLst>
      <p:ext uri="{BB962C8B-B14F-4D97-AF65-F5344CB8AC3E}">
        <p14:creationId xmlns:p14="http://schemas.microsoft.com/office/powerpoint/2010/main" val="22651972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95805-11DB-4EA3-BC1D-8FC7DC5571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92D5B2-01EA-4555-961D-7C45DFAAFA35}"/>
              </a:ext>
            </a:extLst>
          </p:cNvPr>
          <p:cNvSpPr>
            <a:spLocks noGrp="1"/>
          </p:cNvSpPr>
          <p:nvPr>
            <p:ph idx="1"/>
          </p:nvPr>
        </p:nvSpPr>
        <p:spPr/>
        <p:txBody>
          <a:bodyPr>
            <a:normAutofit/>
          </a:bodyPr>
          <a:lstStyle/>
          <a:p>
            <a:r>
              <a:rPr lang="en-US" sz="8800" b="1" dirty="0" err="1"/>
              <a:t>Tribhagha</a:t>
            </a:r>
            <a:r>
              <a:rPr lang="en-US" sz="8800" b="1" dirty="0"/>
              <a:t> is associated with </a:t>
            </a:r>
          </a:p>
        </p:txBody>
      </p:sp>
    </p:spTree>
    <p:extLst>
      <p:ext uri="{BB962C8B-B14F-4D97-AF65-F5344CB8AC3E}">
        <p14:creationId xmlns:p14="http://schemas.microsoft.com/office/powerpoint/2010/main" val="2446822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2A539-B714-4F55-B23D-8C5891053B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1CB208-0BD8-4A76-8A8E-6604A5A3AE5C}"/>
              </a:ext>
            </a:extLst>
          </p:cNvPr>
          <p:cNvSpPr>
            <a:spLocks noGrp="1"/>
          </p:cNvSpPr>
          <p:nvPr>
            <p:ph idx="1"/>
          </p:nvPr>
        </p:nvSpPr>
        <p:spPr/>
        <p:txBody>
          <a:bodyPr>
            <a:normAutofit/>
          </a:bodyPr>
          <a:lstStyle/>
          <a:p>
            <a:r>
              <a:rPr lang="en-US" sz="11500" b="1" dirty="0" err="1"/>
              <a:t>Odissi</a:t>
            </a:r>
            <a:r>
              <a:rPr lang="en-US" sz="11500" b="1" dirty="0"/>
              <a:t> </a:t>
            </a:r>
          </a:p>
        </p:txBody>
      </p:sp>
      <p:pic>
        <p:nvPicPr>
          <p:cNvPr id="3074" name="Picture 2" descr="Learn – reela.org">
            <a:extLst>
              <a:ext uri="{FF2B5EF4-FFF2-40B4-BE49-F238E27FC236}">
                <a16:creationId xmlns:a16="http://schemas.microsoft.com/office/drawing/2014/main" id="{2EAC695D-CF0B-E486-2A3D-E38C61539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335" y="2962430"/>
            <a:ext cx="1847850"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7315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219B0-16A2-4E37-8E35-C78CB6C918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B1E704-CDCA-481D-B10A-61A63EEAF5E4}"/>
              </a:ext>
            </a:extLst>
          </p:cNvPr>
          <p:cNvSpPr>
            <a:spLocks noGrp="1"/>
          </p:cNvSpPr>
          <p:nvPr>
            <p:ph idx="1"/>
          </p:nvPr>
        </p:nvSpPr>
        <p:spPr/>
        <p:txBody>
          <a:bodyPr>
            <a:normAutofit/>
          </a:bodyPr>
          <a:lstStyle/>
          <a:p>
            <a:r>
              <a:rPr lang="en-US" sz="9600" b="1" dirty="0" err="1"/>
              <a:t>Sonal</a:t>
            </a:r>
            <a:r>
              <a:rPr lang="en-US" sz="9600" b="1" dirty="0"/>
              <a:t> </a:t>
            </a:r>
            <a:r>
              <a:rPr lang="en-US" sz="9600" b="1" dirty="0" err="1"/>
              <a:t>mansingh</a:t>
            </a:r>
            <a:r>
              <a:rPr lang="en-US" sz="9600" b="1" dirty="0"/>
              <a:t> </a:t>
            </a:r>
          </a:p>
        </p:txBody>
      </p:sp>
    </p:spTree>
    <p:extLst>
      <p:ext uri="{BB962C8B-B14F-4D97-AF65-F5344CB8AC3E}">
        <p14:creationId xmlns:p14="http://schemas.microsoft.com/office/powerpoint/2010/main" val="41024253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23F79-EE25-421C-A571-6F945AB7B4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924E5E-3DB7-4812-9D35-3F8075CB6A6C}"/>
              </a:ext>
            </a:extLst>
          </p:cNvPr>
          <p:cNvSpPr>
            <a:spLocks noGrp="1"/>
          </p:cNvSpPr>
          <p:nvPr>
            <p:ph idx="1"/>
          </p:nvPr>
        </p:nvSpPr>
        <p:spPr/>
        <p:txBody>
          <a:bodyPr>
            <a:normAutofit/>
          </a:bodyPr>
          <a:lstStyle/>
          <a:p>
            <a:r>
              <a:rPr lang="en-US" sz="6600" b="1" i="0" dirty="0">
                <a:effectLst/>
                <a:latin typeface="arial" panose="020B0604020202020204" pitchFamily="34" charset="0"/>
              </a:rPr>
              <a:t>Bharatanatyam and </a:t>
            </a:r>
            <a:r>
              <a:rPr lang="en-US" sz="6600" b="1" i="0" dirty="0" err="1">
                <a:effectLst/>
                <a:latin typeface="arial" panose="020B0604020202020204" pitchFamily="34" charset="0"/>
              </a:rPr>
              <a:t>Odissi</a:t>
            </a:r>
            <a:endParaRPr lang="en-US" sz="6600" b="1" dirty="0"/>
          </a:p>
        </p:txBody>
      </p:sp>
    </p:spTree>
    <p:extLst>
      <p:ext uri="{BB962C8B-B14F-4D97-AF65-F5344CB8AC3E}">
        <p14:creationId xmlns:p14="http://schemas.microsoft.com/office/powerpoint/2010/main" val="9338559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3C59F-E967-4096-AFB3-C4CEB6CFE7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645D7E-049D-43DB-A3E0-B226E746C740}"/>
              </a:ext>
            </a:extLst>
          </p:cNvPr>
          <p:cNvSpPr>
            <a:spLocks noGrp="1"/>
          </p:cNvSpPr>
          <p:nvPr>
            <p:ph idx="1"/>
          </p:nvPr>
        </p:nvSpPr>
        <p:spPr/>
        <p:txBody>
          <a:bodyPr>
            <a:normAutofit/>
          </a:bodyPr>
          <a:lstStyle/>
          <a:p>
            <a:r>
              <a:rPr lang="en-US" sz="8000" b="1" dirty="0"/>
              <a:t>Raja Reddy </a:t>
            </a:r>
          </a:p>
        </p:txBody>
      </p:sp>
    </p:spTree>
    <p:extLst>
      <p:ext uri="{BB962C8B-B14F-4D97-AF65-F5344CB8AC3E}">
        <p14:creationId xmlns:p14="http://schemas.microsoft.com/office/powerpoint/2010/main" val="32534631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E3AA-0877-42B3-AD1F-E897D8A048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62384D-42C4-4707-B486-9BB3750AB013}"/>
              </a:ext>
            </a:extLst>
          </p:cNvPr>
          <p:cNvSpPr>
            <a:spLocks noGrp="1"/>
          </p:cNvSpPr>
          <p:nvPr>
            <p:ph idx="1"/>
          </p:nvPr>
        </p:nvSpPr>
        <p:spPr/>
        <p:txBody>
          <a:bodyPr>
            <a:normAutofit/>
          </a:bodyPr>
          <a:lstStyle/>
          <a:p>
            <a:r>
              <a:rPr lang="en-US" sz="8000" b="1" dirty="0" err="1"/>
              <a:t>kuchipudi</a:t>
            </a:r>
            <a:endParaRPr lang="en-US" sz="8000" b="1" dirty="0"/>
          </a:p>
        </p:txBody>
      </p:sp>
      <p:pic>
        <p:nvPicPr>
          <p:cNvPr id="20482" name="Picture 2">
            <a:extLst>
              <a:ext uri="{FF2B5EF4-FFF2-40B4-BE49-F238E27FC236}">
                <a16:creationId xmlns:a16="http://schemas.microsoft.com/office/drawing/2014/main" id="{64D54E27-7B00-E174-B4EE-A99E85220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1142" y="0"/>
            <a:ext cx="625085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978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75063-4DCE-46A3-A46D-D3B155F85C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C25A14-CC1B-4AB2-A61A-C16EB8B7B7E3}"/>
              </a:ext>
            </a:extLst>
          </p:cNvPr>
          <p:cNvSpPr>
            <a:spLocks noGrp="1"/>
          </p:cNvSpPr>
          <p:nvPr>
            <p:ph idx="1"/>
          </p:nvPr>
        </p:nvSpPr>
        <p:spPr/>
        <p:txBody>
          <a:bodyPr>
            <a:normAutofit/>
          </a:bodyPr>
          <a:lstStyle/>
          <a:p>
            <a:r>
              <a:rPr lang="en-US" sz="7200" b="1" dirty="0" err="1"/>
              <a:t>Shambu</a:t>
            </a:r>
            <a:r>
              <a:rPr lang="en-US" sz="7200" b="1" dirty="0"/>
              <a:t> Maharaj </a:t>
            </a:r>
          </a:p>
        </p:txBody>
      </p:sp>
    </p:spTree>
    <p:extLst>
      <p:ext uri="{BB962C8B-B14F-4D97-AF65-F5344CB8AC3E}">
        <p14:creationId xmlns:p14="http://schemas.microsoft.com/office/powerpoint/2010/main" val="21648889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B3FAB-CA89-4759-9259-37093F6D4E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AD239F-C7E3-4C34-9CA6-6CC31305BBE4}"/>
              </a:ext>
            </a:extLst>
          </p:cNvPr>
          <p:cNvSpPr>
            <a:spLocks noGrp="1"/>
          </p:cNvSpPr>
          <p:nvPr>
            <p:ph idx="1"/>
          </p:nvPr>
        </p:nvSpPr>
        <p:spPr/>
        <p:txBody>
          <a:bodyPr>
            <a:normAutofit/>
          </a:bodyPr>
          <a:lstStyle/>
          <a:p>
            <a:r>
              <a:rPr lang="en-US" sz="11500" b="1" dirty="0"/>
              <a:t>Kathak  </a:t>
            </a:r>
          </a:p>
        </p:txBody>
      </p:sp>
    </p:spTree>
    <p:extLst>
      <p:ext uri="{BB962C8B-B14F-4D97-AF65-F5344CB8AC3E}">
        <p14:creationId xmlns:p14="http://schemas.microsoft.com/office/powerpoint/2010/main" val="17837407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C3C7-E13D-453B-A189-E850577A8C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05C518-696F-46C2-B49B-9E77D1C47BE2}"/>
              </a:ext>
            </a:extLst>
          </p:cNvPr>
          <p:cNvSpPr>
            <a:spLocks noGrp="1"/>
          </p:cNvSpPr>
          <p:nvPr>
            <p:ph idx="1"/>
          </p:nvPr>
        </p:nvSpPr>
        <p:spPr/>
        <p:txBody>
          <a:bodyPr>
            <a:normAutofit/>
          </a:bodyPr>
          <a:lstStyle/>
          <a:p>
            <a:r>
              <a:rPr lang="en-US" sz="8000" b="1" dirty="0"/>
              <a:t>Rukmini Devi </a:t>
            </a:r>
            <a:r>
              <a:rPr lang="en-US" sz="8000" b="1" dirty="0" err="1"/>
              <a:t>Arundale</a:t>
            </a:r>
            <a:r>
              <a:rPr lang="en-US" sz="8000" b="1" dirty="0"/>
              <a:t> </a:t>
            </a:r>
          </a:p>
        </p:txBody>
      </p:sp>
    </p:spTree>
    <p:extLst>
      <p:ext uri="{BB962C8B-B14F-4D97-AF65-F5344CB8AC3E}">
        <p14:creationId xmlns:p14="http://schemas.microsoft.com/office/powerpoint/2010/main" val="20632623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552CC-F22C-4985-BE7A-FF367966CC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5459EE-7D6A-4E94-9BFD-6D19DD16F3D6}"/>
              </a:ext>
            </a:extLst>
          </p:cNvPr>
          <p:cNvSpPr>
            <a:spLocks noGrp="1"/>
          </p:cNvSpPr>
          <p:nvPr>
            <p:ph idx="1"/>
          </p:nvPr>
        </p:nvSpPr>
        <p:spPr/>
        <p:txBody>
          <a:bodyPr>
            <a:normAutofit fontScale="92500" lnSpcReduction="20000"/>
          </a:bodyPr>
          <a:lstStyle/>
          <a:p>
            <a:r>
              <a:rPr lang="en-US" sz="7800" b="1" dirty="0" err="1"/>
              <a:t>Bharathnatyam</a:t>
            </a:r>
            <a:endParaRPr lang="en-US" sz="7800" b="1" dirty="0"/>
          </a:p>
          <a:p>
            <a:r>
              <a:rPr lang="en-US" sz="3000" b="1" dirty="0"/>
              <a:t>She was the first woman in Indian history to be nominated as a member of the </a:t>
            </a:r>
            <a:r>
              <a:rPr lang="en-US" sz="3000" b="1" dirty="0">
                <a:hlinkClick r:id="rId2" tooltip="Rajya Sabha">
                  <a:extLst>
                    <a:ext uri="{A12FA001-AC4F-418D-AE19-62706E023703}">
                      <ahyp:hlinkClr xmlns:ahyp="http://schemas.microsoft.com/office/drawing/2018/hyperlinkcolor" val="tx"/>
                    </a:ext>
                  </a:extLst>
                </a:hlinkClick>
              </a:rPr>
              <a:t>Rajya Sabha</a:t>
            </a:r>
            <a:endParaRPr lang="en-US" sz="3000" b="1" dirty="0"/>
          </a:p>
          <a:p>
            <a:r>
              <a:rPr lang="en-US" sz="3000" b="1" dirty="0"/>
              <a:t>n January 1994, an Act of the </a:t>
            </a:r>
            <a:r>
              <a:rPr lang="en-US" sz="3000" b="1" dirty="0">
                <a:hlinkClick r:id="rId3" tooltip="Parliament of India">
                  <a:extLst>
                    <a:ext uri="{A12FA001-AC4F-418D-AE19-62706E023703}">
                      <ahyp:hlinkClr xmlns:ahyp="http://schemas.microsoft.com/office/drawing/2018/hyperlinkcolor" val="tx"/>
                    </a:ext>
                  </a:extLst>
                </a:hlinkClick>
              </a:rPr>
              <a:t>Indian Parliament</a:t>
            </a:r>
            <a:r>
              <a:rPr lang="en-US" sz="3000" b="1" dirty="0"/>
              <a:t> </a:t>
            </a:r>
            <a:r>
              <a:rPr lang="en-US" sz="3000" b="1" dirty="0" err="1"/>
              <a:t>recognised</a:t>
            </a:r>
            <a:r>
              <a:rPr lang="en-US" sz="3000" b="1" dirty="0"/>
              <a:t> the Kalakshetra Foundation as an '</a:t>
            </a:r>
            <a:r>
              <a:rPr lang="en-US" sz="3000" b="1" dirty="0">
                <a:hlinkClick r:id="rId4" tooltip="Institute of National Importance">
                  <a:extLst>
                    <a:ext uri="{A12FA001-AC4F-418D-AE19-62706E023703}">
                      <ahyp:hlinkClr xmlns:ahyp="http://schemas.microsoft.com/office/drawing/2018/hyperlinkcolor" val="tx"/>
                    </a:ext>
                  </a:extLst>
                </a:hlinkClick>
              </a:rPr>
              <a:t>Institute of National Importance</a:t>
            </a:r>
            <a:r>
              <a:rPr lang="en-US" sz="3000" b="1" dirty="0"/>
              <a:t>’</a:t>
            </a:r>
          </a:p>
          <a:p>
            <a:r>
              <a:rPr lang="en-US" sz="3000" b="1" dirty="0"/>
              <a:t>In 2016, Google honored Rukmini Devi on her 112th birthday with a </a:t>
            </a:r>
            <a:r>
              <a:rPr lang="en-US" sz="3000" b="1" dirty="0">
                <a:hlinkClick r:id="rId5" tooltip="Google Doodle">
                  <a:extLst>
                    <a:ext uri="{A12FA001-AC4F-418D-AE19-62706E023703}">
                      <ahyp:hlinkClr xmlns:ahyp="http://schemas.microsoft.com/office/drawing/2018/hyperlinkcolor" val="tx"/>
                    </a:ext>
                  </a:extLst>
                </a:hlinkClick>
              </a:rPr>
              <a:t>doodle</a:t>
            </a:r>
            <a:endParaRPr lang="en-US" sz="3000" b="1" dirty="0"/>
          </a:p>
          <a:p>
            <a:r>
              <a:rPr lang="en-US" sz="3000" b="1" dirty="0"/>
              <a:t>In 1977, </a:t>
            </a:r>
            <a:r>
              <a:rPr lang="en-US" sz="3000" b="1" dirty="0">
                <a:hlinkClick r:id="rId6" tooltip="Morarji Desai">
                  <a:extLst>
                    <a:ext uri="{A12FA001-AC4F-418D-AE19-62706E023703}">
                      <ahyp:hlinkClr xmlns:ahyp="http://schemas.microsoft.com/office/drawing/2018/hyperlinkcolor" val="tx"/>
                    </a:ext>
                  </a:extLst>
                </a:hlinkClick>
              </a:rPr>
              <a:t>Morarji Desai</a:t>
            </a:r>
            <a:r>
              <a:rPr lang="en-US" sz="3000" b="1" dirty="0"/>
              <a:t> offered to nominate her for the post of </a:t>
            </a:r>
            <a:r>
              <a:rPr lang="en-US" sz="3000" b="1" dirty="0">
                <a:hlinkClick r:id="rId7" tooltip="President of India">
                  <a:extLst>
                    <a:ext uri="{A12FA001-AC4F-418D-AE19-62706E023703}">
                      <ahyp:hlinkClr xmlns:ahyp="http://schemas.microsoft.com/office/drawing/2018/hyperlinkcolor" val="tx"/>
                    </a:ext>
                  </a:extLst>
                </a:hlinkClick>
              </a:rPr>
              <a:t>President of India</a:t>
            </a:r>
            <a:r>
              <a:rPr lang="en-US" sz="3000" b="1" dirty="0"/>
              <a:t> twice, which she turned down</a:t>
            </a:r>
            <a:r>
              <a:rPr lang="en-US" dirty="0"/>
              <a:t>	</a:t>
            </a:r>
            <a:r>
              <a:rPr lang="en-US" sz="7200" dirty="0"/>
              <a:t> </a:t>
            </a:r>
          </a:p>
        </p:txBody>
      </p:sp>
      <p:sp>
        <p:nvSpPr>
          <p:cNvPr id="5" name="TextBox 4">
            <a:extLst>
              <a:ext uri="{FF2B5EF4-FFF2-40B4-BE49-F238E27FC236}">
                <a16:creationId xmlns:a16="http://schemas.microsoft.com/office/drawing/2014/main" id="{E0D67AD5-C2AF-3B83-53DC-6A1E100D0324}"/>
              </a:ext>
            </a:extLst>
          </p:cNvPr>
          <p:cNvSpPr txBox="1"/>
          <p:nvPr/>
        </p:nvSpPr>
        <p:spPr>
          <a:xfrm>
            <a:off x="3048000" y="3246792"/>
            <a:ext cx="6096000" cy="369332"/>
          </a:xfrm>
          <a:prstGeom prst="rect">
            <a:avLst/>
          </a:prstGeom>
          <a:noFill/>
        </p:spPr>
        <p:txBody>
          <a:bodyPr wrap="square">
            <a:spAutoFit/>
          </a:bodyPr>
          <a:lstStyle/>
          <a:p>
            <a:r>
              <a:rPr lang="en-IN" b="0" dirty="0">
                <a:effectLst/>
              </a:rPr>
              <a:t> </a:t>
            </a:r>
            <a:endParaRPr lang="en-IN" dirty="0"/>
          </a:p>
        </p:txBody>
      </p:sp>
      <p:sp>
        <p:nvSpPr>
          <p:cNvPr id="7" name="TextBox 6">
            <a:extLst>
              <a:ext uri="{FF2B5EF4-FFF2-40B4-BE49-F238E27FC236}">
                <a16:creationId xmlns:a16="http://schemas.microsoft.com/office/drawing/2014/main" id="{DC76AFAA-84CD-345A-602F-A44C98A1D562}"/>
              </a:ext>
            </a:extLst>
          </p:cNvPr>
          <p:cNvSpPr txBox="1"/>
          <p:nvPr/>
        </p:nvSpPr>
        <p:spPr>
          <a:xfrm>
            <a:off x="3048000" y="3246792"/>
            <a:ext cx="6096000" cy="369332"/>
          </a:xfrm>
          <a:prstGeom prst="rect">
            <a:avLst/>
          </a:prstGeom>
          <a:noFill/>
        </p:spPr>
        <p:txBody>
          <a:bodyPr wrap="square">
            <a:spAutoFit/>
          </a:bodyPr>
          <a:lstStyle/>
          <a:p>
            <a:r>
              <a:rPr lang="en-IN" b="0" dirty="0">
                <a:effectLst/>
              </a:rPr>
              <a:t> </a:t>
            </a:r>
            <a:endParaRPr lang="en-IN" dirty="0"/>
          </a:p>
        </p:txBody>
      </p:sp>
      <p:sp>
        <p:nvSpPr>
          <p:cNvPr id="9" name="TextBox 8">
            <a:extLst>
              <a:ext uri="{FF2B5EF4-FFF2-40B4-BE49-F238E27FC236}">
                <a16:creationId xmlns:a16="http://schemas.microsoft.com/office/drawing/2014/main" id="{288A5F47-6EA2-D687-3555-115E1F5617C0}"/>
              </a:ext>
            </a:extLst>
          </p:cNvPr>
          <p:cNvSpPr txBox="1"/>
          <p:nvPr/>
        </p:nvSpPr>
        <p:spPr>
          <a:xfrm>
            <a:off x="3048000" y="3246792"/>
            <a:ext cx="6096000" cy="369332"/>
          </a:xfrm>
          <a:prstGeom prst="rect">
            <a:avLst/>
          </a:prstGeom>
          <a:noFill/>
        </p:spPr>
        <p:txBody>
          <a:bodyPr wrap="square">
            <a:spAutoFit/>
          </a:bodyPr>
          <a:lstStyle/>
          <a:p>
            <a:r>
              <a:rPr lang="en-IN" b="0" dirty="0">
                <a:effectLst/>
              </a:rPr>
              <a:t> </a:t>
            </a:r>
            <a:endParaRPr lang="en-IN" dirty="0"/>
          </a:p>
        </p:txBody>
      </p:sp>
    </p:spTree>
    <p:extLst>
      <p:ext uri="{BB962C8B-B14F-4D97-AF65-F5344CB8AC3E}">
        <p14:creationId xmlns:p14="http://schemas.microsoft.com/office/powerpoint/2010/main" val="7992034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Arial"/>
              <a:buNone/>
            </a:pPr>
            <a:r>
              <a:rPr lang="en-US" b="1" dirty="0"/>
              <a:t>THE WORD KATHAK</a:t>
            </a:r>
            <a:endParaRPr b="1" dirty="0"/>
          </a:p>
        </p:txBody>
      </p:sp>
      <p:sp>
        <p:nvSpPr>
          <p:cNvPr id="103" name="Google Shape;103;p4"/>
          <p:cNvSpPr txBox="1">
            <a:spLocks noGrp="1"/>
          </p:cNvSpPr>
          <p:nvPr>
            <p:ph type="body" idx="1"/>
          </p:nvPr>
        </p:nvSpPr>
        <p:spPr>
          <a:xfrm>
            <a:off x="609600" y="1600200"/>
            <a:ext cx="7463155" cy="452628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dirty="0">
              <a:latin typeface="Arial"/>
              <a:ea typeface="Arial"/>
              <a:cs typeface="Arial"/>
              <a:sym typeface="Arial"/>
            </a:endParaRPr>
          </a:p>
          <a:p>
            <a:pPr marL="0" lvl="0" indent="0" algn="l" rtl="0">
              <a:lnSpc>
                <a:spcPct val="100000"/>
              </a:lnSpc>
              <a:spcBef>
                <a:spcPts val="640"/>
              </a:spcBef>
              <a:spcAft>
                <a:spcPts val="0"/>
              </a:spcAft>
              <a:buClr>
                <a:schemeClr val="dk1"/>
              </a:buClr>
              <a:buSzPts val="3200"/>
              <a:buFont typeface="Arial"/>
              <a:buNone/>
            </a:pPr>
            <a:endParaRPr dirty="0">
              <a:latin typeface="Arial"/>
              <a:ea typeface="Arial"/>
              <a:cs typeface="Arial"/>
              <a:sym typeface="Arial"/>
            </a:endParaRPr>
          </a:p>
          <a:p>
            <a:pPr marL="342900" lvl="0" indent="-342900" algn="l" rtl="0">
              <a:lnSpc>
                <a:spcPct val="100000"/>
              </a:lnSpc>
              <a:spcBef>
                <a:spcPts val="640"/>
              </a:spcBef>
              <a:spcAft>
                <a:spcPts val="0"/>
              </a:spcAft>
              <a:buClr>
                <a:schemeClr val="dk1"/>
              </a:buClr>
              <a:buSzPts val="3200"/>
              <a:buFont typeface="Arial"/>
              <a:buChar char="•"/>
            </a:pPr>
            <a:r>
              <a:rPr lang="en-US" dirty="0">
                <a:latin typeface="Arial"/>
                <a:ea typeface="Arial"/>
                <a:cs typeface="Arial"/>
                <a:sym typeface="Arial"/>
              </a:rPr>
              <a:t>It is primarily performed in Northern India.</a:t>
            </a:r>
            <a:endParaRPr dirty="0">
              <a:latin typeface="Arial"/>
              <a:ea typeface="Arial"/>
              <a:cs typeface="Arial"/>
              <a:sym typeface="Arial"/>
            </a:endParaRPr>
          </a:p>
        </p:txBody>
      </p:sp>
      <p:pic>
        <p:nvPicPr>
          <p:cNvPr id="104" name="Google Shape;104;p4" descr="bracelet-of-indian-classic-dance_byazedaa_6.5"/>
          <p:cNvPicPr preferRelativeResize="0">
            <a:picLocks noGrp="1"/>
          </p:cNvPicPr>
          <p:nvPr>
            <p:ph type="body" idx="2"/>
          </p:nvPr>
        </p:nvPicPr>
        <p:blipFill rotWithShape="1">
          <a:blip r:embed="rId3">
            <a:alphaModFix/>
          </a:blip>
          <a:srcRect/>
          <a:stretch/>
        </p:blipFill>
        <p:spPr>
          <a:xfrm>
            <a:off x="8325485" y="2534920"/>
            <a:ext cx="3546475" cy="26568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0742-61C2-1C40-96E8-95D7A49C9062}"/>
              </a:ext>
            </a:extLst>
          </p:cNvPr>
          <p:cNvSpPr>
            <a:spLocks noGrp="1"/>
          </p:cNvSpPr>
          <p:nvPr>
            <p:ph type="title"/>
          </p:nvPr>
        </p:nvSpPr>
        <p:spPr/>
        <p:txBody>
          <a:bodyPr/>
          <a:lstStyle/>
          <a:p>
            <a:r>
              <a:rPr lang="en-US" dirty="0">
                <a:latin typeface="Arial"/>
                <a:ea typeface="Arial"/>
                <a:cs typeface="Arial"/>
                <a:sym typeface="Arial"/>
              </a:rPr>
              <a:t>means </a:t>
            </a:r>
            <a:r>
              <a:rPr lang="en-US" b="1" dirty="0">
                <a:latin typeface="Arial"/>
                <a:ea typeface="Arial"/>
                <a:cs typeface="Arial"/>
                <a:sym typeface="Arial"/>
              </a:rPr>
              <a:t>a story</a:t>
            </a:r>
            <a:endParaRPr lang="en-IN" dirty="0"/>
          </a:p>
        </p:txBody>
      </p:sp>
      <p:sp>
        <p:nvSpPr>
          <p:cNvPr id="3" name="Content Placeholder 2">
            <a:extLst>
              <a:ext uri="{FF2B5EF4-FFF2-40B4-BE49-F238E27FC236}">
                <a16:creationId xmlns:a16="http://schemas.microsoft.com/office/drawing/2014/main" id="{FED68450-339E-1DA3-75C6-48DE8443FD8D}"/>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B4E5292C-A259-0156-5D2D-F6017A32852C}"/>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22287382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609600" y="274638"/>
            <a:ext cx="10972800" cy="1325562"/>
          </a:xfrm>
          <a:prstGeom prst="rect">
            <a:avLst/>
          </a:prstGeom>
          <a:noFill/>
          <a:ln>
            <a:noFill/>
          </a:ln>
        </p:spPr>
        <p:txBody>
          <a:bodyPr spcFirstLastPara="1" wrap="square" lIns="91425" tIns="45700" rIns="91425" bIns="45700" anchor="ctr" anchorCtr="0">
            <a:noAutofit/>
          </a:bodyPr>
          <a:lstStyle/>
          <a:p>
            <a:pPr algn="ctr">
              <a:lnSpc>
                <a:spcPct val="100000"/>
              </a:lnSpc>
              <a:spcBef>
                <a:spcPts val="0"/>
              </a:spcBef>
              <a:buClr>
                <a:schemeClr val="dk2"/>
              </a:buClr>
              <a:buSzPts val="4400"/>
            </a:pPr>
            <a:r>
              <a:rPr lang="en-US" b="1" dirty="0">
                <a:latin typeface="Arial"/>
                <a:ea typeface="Arial"/>
                <a:cs typeface="Arial"/>
                <a:sym typeface="Arial"/>
              </a:rPr>
              <a:t>When did Kathak begin evolving into a distinct mode of dance</a:t>
            </a:r>
            <a:br>
              <a:rPr lang="en-US" b="1" dirty="0">
                <a:latin typeface="Arial"/>
                <a:ea typeface="Arial"/>
                <a:cs typeface="Arial"/>
                <a:sym typeface="Arial"/>
              </a:rPr>
            </a:br>
            <a:r>
              <a:rPr lang="en-US" b="1" dirty="0">
                <a:latin typeface="Comic Sans MS"/>
                <a:ea typeface="Comic Sans MS"/>
                <a:cs typeface="Comic Sans MS"/>
                <a:sym typeface="Comic Sans MS"/>
              </a:rPr>
              <a:t> </a:t>
            </a:r>
            <a:endParaRPr b="1" dirty="0">
              <a:latin typeface="Comic Sans MS"/>
              <a:ea typeface="Comic Sans MS"/>
              <a:cs typeface="Comic Sans MS"/>
              <a:sym typeface="Comic Sans MS"/>
            </a:endParaRPr>
          </a:p>
        </p:txBody>
      </p:sp>
      <p:sp>
        <p:nvSpPr>
          <p:cNvPr id="110" name="Google Shape;110;p5"/>
          <p:cNvSpPr txBox="1">
            <a:spLocks noGrp="1"/>
          </p:cNvSpPr>
          <p:nvPr>
            <p:ph type="body" idx="1"/>
          </p:nvPr>
        </p:nvSpPr>
        <p:spPr>
          <a:xfrm>
            <a:off x="609600" y="1600200"/>
            <a:ext cx="7524750" cy="452628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dirty="0">
                <a:latin typeface="Arial"/>
                <a:ea typeface="Arial"/>
                <a:cs typeface="Arial"/>
                <a:sym typeface="Arial"/>
              </a:rPr>
              <a:t>It was primarily </a:t>
            </a:r>
            <a:r>
              <a:rPr lang="en-US" b="1" dirty="0">
                <a:latin typeface="Arial"/>
                <a:ea typeface="Arial"/>
                <a:cs typeface="Arial"/>
                <a:sym typeface="Arial"/>
              </a:rPr>
              <a:t>a temple or village performance</a:t>
            </a:r>
            <a:r>
              <a:rPr lang="en-US" dirty="0">
                <a:latin typeface="Arial"/>
                <a:ea typeface="Arial"/>
                <a:cs typeface="Arial"/>
                <a:sym typeface="Arial"/>
              </a:rPr>
              <a:t> wherein the </a:t>
            </a:r>
            <a:r>
              <a:rPr lang="en-US" b="1" dirty="0">
                <a:latin typeface="Arial"/>
                <a:ea typeface="Arial"/>
                <a:cs typeface="Arial"/>
                <a:sym typeface="Arial"/>
              </a:rPr>
              <a:t>dancers narrated stories</a:t>
            </a:r>
            <a:r>
              <a:rPr lang="en-US" dirty="0">
                <a:latin typeface="Arial"/>
                <a:ea typeface="Arial"/>
                <a:cs typeface="Arial"/>
                <a:sym typeface="Arial"/>
              </a:rPr>
              <a:t> from ancient scriptures.</a:t>
            </a:r>
            <a:endParaRPr dirty="0">
              <a:latin typeface="Arial"/>
              <a:ea typeface="Arial"/>
              <a:cs typeface="Arial"/>
              <a:sym typeface="Arial"/>
            </a:endParaRPr>
          </a:p>
          <a:p>
            <a:pPr marL="0" lvl="0" indent="0" algn="l" rtl="0">
              <a:lnSpc>
                <a:spcPct val="100000"/>
              </a:lnSpc>
              <a:spcBef>
                <a:spcPts val="640"/>
              </a:spcBef>
              <a:spcAft>
                <a:spcPts val="0"/>
              </a:spcAft>
              <a:buClr>
                <a:schemeClr val="dk1"/>
              </a:buClr>
              <a:buSzPts val="3200"/>
              <a:buFont typeface="Arial"/>
              <a:buNone/>
            </a:pPr>
            <a:endParaRPr dirty="0">
              <a:latin typeface="Arial"/>
              <a:ea typeface="Arial"/>
              <a:cs typeface="Arial"/>
              <a:sym typeface="Arial"/>
            </a:endParaRPr>
          </a:p>
        </p:txBody>
      </p:sp>
      <p:pic>
        <p:nvPicPr>
          <p:cNvPr id="111" name="Google Shape;111;p5" descr="benefits-of-learning-kathak-dance"/>
          <p:cNvPicPr preferRelativeResize="0">
            <a:picLocks noGrp="1"/>
          </p:cNvPicPr>
          <p:nvPr>
            <p:ph type="body" idx="2"/>
          </p:nvPr>
        </p:nvPicPr>
        <p:blipFill rotWithShape="1">
          <a:blip r:embed="rId3">
            <a:alphaModFix/>
          </a:blip>
          <a:srcRect/>
          <a:stretch/>
        </p:blipFill>
        <p:spPr>
          <a:xfrm>
            <a:off x="8390255" y="1600200"/>
            <a:ext cx="3802380" cy="452628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DD93-219B-4611-F94F-58D416A0EE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DCC3D4-AB7B-1C19-8667-5856C5D500E8}"/>
              </a:ext>
            </a:extLst>
          </p:cNvPr>
          <p:cNvSpPr>
            <a:spLocks noGrp="1"/>
          </p:cNvSpPr>
          <p:nvPr>
            <p:ph sz="half" idx="1"/>
          </p:nvPr>
        </p:nvSpPr>
        <p:spPr/>
        <p:txBody>
          <a:bodyPr/>
          <a:lstStyle/>
          <a:p>
            <a:r>
              <a:rPr lang="en-US" dirty="0">
                <a:latin typeface="Arial"/>
                <a:ea typeface="Arial"/>
                <a:cs typeface="Arial"/>
                <a:sym typeface="Arial"/>
              </a:rPr>
              <a:t>in the </a:t>
            </a:r>
            <a:r>
              <a:rPr lang="en-US" b="1" dirty="0">
                <a:latin typeface="Arial"/>
                <a:ea typeface="Arial"/>
                <a:cs typeface="Arial"/>
                <a:sym typeface="Arial"/>
              </a:rPr>
              <a:t>fifteenth and sixteenth centuries</a:t>
            </a:r>
            <a:r>
              <a:rPr lang="en-US" dirty="0">
                <a:latin typeface="Arial"/>
                <a:ea typeface="Arial"/>
                <a:cs typeface="Arial"/>
                <a:sym typeface="Arial"/>
              </a:rPr>
              <a:t> with the spread of the Bhakti movement.</a:t>
            </a:r>
            <a:endParaRPr lang="en-IN" dirty="0"/>
          </a:p>
        </p:txBody>
      </p:sp>
      <p:sp>
        <p:nvSpPr>
          <p:cNvPr id="4" name="Content Placeholder 3">
            <a:extLst>
              <a:ext uri="{FF2B5EF4-FFF2-40B4-BE49-F238E27FC236}">
                <a16:creationId xmlns:a16="http://schemas.microsoft.com/office/drawing/2014/main" id="{3B5E5C70-2022-AFAB-1038-4625234E7193}"/>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26120142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a:spLocks noGrp="1"/>
          </p:cNvSpPr>
          <p:nvPr>
            <p:ph type="body" idx="1"/>
          </p:nvPr>
        </p:nvSpPr>
        <p:spPr>
          <a:xfrm>
            <a:off x="609600" y="486410"/>
            <a:ext cx="10972800" cy="564007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Font typeface="Arial"/>
              <a:buNone/>
            </a:pPr>
            <a:r>
              <a:rPr lang="en-US" sz="3600" b="1" dirty="0">
                <a:latin typeface="Arial"/>
                <a:ea typeface="Arial"/>
                <a:cs typeface="Arial"/>
                <a:sym typeface="Arial"/>
              </a:rPr>
              <a:t>Who patronized Kathak?</a:t>
            </a:r>
            <a:endParaRPr sz="3600" b="1" dirty="0">
              <a:latin typeface="Arial"/>
              <a:ea typeface="Arial"/>
              <a:cs typeface="Arial"/>
              <a:sym typeface="Arial"/>
            </a:endParaRPr>
          </a:p>
          <a:p>
            <a:pPr marL="0" lvl="0" indent="0" algn="l" rtl="0">
              <a:lnSpc>
                <a:spcPct val="100000"/>
              </a:lnSpc>
              <a:spcBef>
                <a:spcPts val="640"/>
              </a:spcBef>
              <a:spcAft>
                <a:spcPts val="0"/>
              </a:spcAft>
              <a:buClr>
                <a:schemeClr val="dk1"/>
              </a:buClr>
              <a:buSzPts val="3200"/>
              <a:buFont typeface="Arial"/>
              <a:buNone/>
            </a:pPr>
            <a:endParaRPr lang="en-US" dirty="0">
              <a:latin typeface="Arial"/>
              <a:ea typeface="Arial"/>
              <a:cs typeface="Arial"/>
              <a:sym typeface="Arial"/>
            </a:endParaRPr>
          </a:p>
          <a:p>
            <a:pPr marL="0" lvl="0" indent="0" algn="l" rtl="0">
              <a:lnSpc>
                <a:spcPct val="100000"/>
              </a:lnSpc>
              <a:spcBef>
                <a:spcPts val="640"/>
              </a:spcBef>
              <a:spcAft>
                <a:spcPts val="0"/>
              </a:spcAft>
              <a:buClr>
                <a:schemeClr val="dk1"/>
              </a:buClr>
              <a:buSzPts val="3200"/>
              <a:buFont typeface="Arial"/>
              <a:buNone/>
            </a:pPr>
            <a:endParaRPr lang="en-IN" dirty="0">
              <a:latin typeface="Arial"/>
              <a:ea typeface="Arial"/>
              <a:cs typeface="Arial"/>
              <a:sym typeface="Arial"/>
            </a:endParaRPr>
          </a:p>
          <a:p>
            <a:pPr marL="0" indent="0">
              <a:lnSpc>
                <a:spcPct val="100000"/>
              </a:lnSpc>
              <a:spcBef>
                <a:spcPts val="640"/>
              </a:spcBef>
              <a:buClr>
                <a:schemeClr val="dk1"/>
              </a:buClr>
              <a:buSzPts val="3200"/>
              <a:buNone/>
            </a:pPr>
            <a:r>
              <a:rPr lang="en-US" dirty="0">
                <a:latin typeface="Arial"/>
                <a:ea typeface="Arial"/>
                <a:cs typeface="Arial"/>
                <a:sym typeface="Arial"/>
              </a:rPr>
              <a:t>The</a:t>
            </a:r>
            <a:r>
              <a:rPr lang="en-US" b="1" dirty="0">
                <a:latin typeface="Arial"/>
                <a:ea typeface="Arial"/>
                <a:cs typeface="Arial"/>
                <a:sym typeface="Arial"/>
              </a:rPr>
              <a:t> legends of Radha-Krishna </a:t>
            </a:r>
            <a:r>
              <a:rPr lang="en-US" dirty="0">
                <a:latin typeface="Arial"/>
                <a:ea typeface="Arial"/>
                <a:cs typeface="Arial"/>
                <a:sym typeface="Arial"/>
              </a:rPr>
              <a:t>were enacted in folk plays called</a:t>
            </a:r>
            <a:r>
              <a:rPr lang="en-US" b="1" dirty="0">
                <a:latin typeface="Arial"/>
                <a:ea typeface="Arial"/>
                <a:cs typeface="Arial"/>
                <a:sym typeface="Arial"/>
              </a:rPr>
              <a:t> rasa </a:t>
            </a:r>
            <a:r>
              <a:rPr lang="en-US" b="1" dirty="0" err="1">
                <a:latin typeface="Arial"/>
                <a:ea typeface="Arial"/>
                <a:cs typeface="Arial"/>
                <a:sym typeface="Arial"/>
              </a:rPr>
              <a:t>lila</a:t>
            </a:r>
            <a:r>
              <a:rPr lang="en-US" b="1" dirty="0">
                <a:latin typeface="Arial"/>
                <a:ea typeface="Arial"/>
                <a:cs typeface="Arial"/>
                <a:sym typeface="Arial"/>
              </a:rPr>
              <a:t>, </a:t>
            </a:r>
            <a:r>
              <a:rPr lang="en-US" dirty="0">
                <a:latin typeface="Arial"/>
                <a:ea typeface="Arial"/>
                <a:cs typeface="Arial"/>
                <a:sym typeface="Arial"/>
              </a:rPr>
              <a:t>which combined folk dance with the basic gestures of the kathak story-tellers.</a:t>
            </a:r>
          </a:p>
          <a:p>
            <a:pPr marL="0" lvl="0" indent="0" algn="l" rtl="0">
              <a:lnSpc>
                <a:spcPct val="100000"/>
              </a:lnSpc>
              <a:spcBef>
                <a:spcPts val="640"/>
              </a:spcBef>
              <a:spcAft>
                <a:spcPts val="0"/>
              </a:spcAft>
              <a:buClr>
                <a:schemeClr val="dk1"/>
              </a:buClr>
              <a:buSzPts val="3200"/>
              <a:buFont typeface="Arial"/>
              <a:buNone/>
            </a:pPr>
            <a:endParaRPr dirty="0">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395FF-37A0-2491-A756-9BEF813123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FE38F3-D0B4-5AF3-5A67-717FD3601DFF}"/>
              </a:ext>
            </a:extLst>
          </p:cNvPr>
          <p:cNvSpPr>
            <a:spLocks noGrp="1"/>
          </p:cNvSpPr>
          <p:nvPr>
            <p:ph idx="1"/>
          </p:nvPr>
        </p:nvSpPr>
        <p:spPr/>
        <p:txBody>
          <a:bodyPr/>
          <a:lstStyle/>
          <a:p>
            <a:pPr marL="342900" lvl="0" indent="-342900">
              <a:lnSpc>
                <a:spcPct val="100000"/>
              </a:lnSpc>
              <a:spcBef>
                <a:spcPts val="640"/>
              </a:spcBef>
              <a:buClr>
                <a:schemeClr val="dk1"/>
              </a:buClr>
              <a:buSzPts val="3200"/>
              <a:buFont typeface="Arial"/>
              <a:buChar char="•"/>
            </a:pPr>
            <a:r>
              <a:rPr lang="en-US" b="1" dirty="0">
                <a:latin typeface="Arial"/>
                <a:ea typeface="Arial"/>
                <a:cs typeface="Arial"/>
                <a:sym typeface="Arial"/>
              </a:rPr>
              <a:t>Under the Mughal emperors and their nobles, Kathak was performed in the court, where it acquired its present features and developed into a form of dance with a distinctive style.</a:t>
            </a:r>
          </a:p>
          <a:p>
            <a:pPr marL="0" lvl="0" indent="0">
              <a:lnSpc>
                <a:spcPct val="100000"/>
              </a:lnSpc>
              <a:spcBef>
                <a:spcPts val="640"/>
              </a:spcBef>
              <a:buClr>
                <a:schemeClr val="dk1"/>
              </a:buClr>
              <a:buSzPts val="3200"/>
              <a:buNone/>
            </a:pPr>
            <a:endParaRPr lang="en-US" b="1" dirty="0">
              <a:latin typeface="Arial"/>
              <a:ea typeface="Arial"/>
              <a:cs typeface="Arial"/>
              <a:sym typeface="Arial"/>
            </a:endParaRPr>
          </a:p>
          <a:p>
            <a:pPr marL="342900" lvl="0" indent="-342900">
              <a:lnSpc>
                <a:spcPct val="100000"/>
              </a:lnSpc>
              <a:spcBef>
                <a:spcPts val="640"/>
              </a:spcBef>
              <a:buClr>
                <a:schemeClr val="dk1"/>
              </a:buClr>
              <a:buSzPts val="3200"/>
              <a:buFont typeface="Arial"/>
              <a:buChar char="•"/>
            </a:pPr>
            <a:r>
              <a:rPr lang="en-US" b="1" dirty="0">
                <a:latin typeface="Arial"/>
                <a:ea typeface="Arial"/>
                <a:cs typeface="Arial"/>
                <a:sym typeface="Arial"/>
              </a:rPr>
              <a:t>Under the patronage of Wajid Ali Shah, the last Nawab of Awadh, it grew into a major art form.</a:t>
            </a:r>
          </a:p>
          <a:p>
            <a:endParaRPr lang="en-IN" b="1" dirty="0"/>
          </a:p>
        </p:txBody>
      </p:sp>
    </p:spTree>
    <p:extLst>
      <p:ext uri="{BB962C8B-B14F-4D97-AF65-F5344CB8AC3E}">
        <p14:creationId xmlns:p14="http://schemas.microsoft.com/office/powerpoint/2010/main" val="41492242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Arial"/>
              <a:buNone/>
            </a:pPr>
            <a:r>
              <a:rPr lang="en-US" b="1" dirty="0">
                <a:latin typeface="Arial"/>
                <a:ea typeface="Arial"/>
                <a:cs typeface="Arial"/>
                <a:sym typeface="Arial"/>
              </a:rPr>
              <a:t>What is the Dance Style of Kathak?</a:t>
            </a:r>
            <a:endParaRPr b="1" dirty="0">
              <a:latin typeface="Arial"/>
              <a:ea typeface="Arial"/>
              <a:cs typeface="Arial"/>
              <a:sym typeface="Arial"/>
            </a:endParaRPr>
          </a:p>
        </p:txBody>
      </p:sp>
      <p:sp>
        <p:nvSpPr>
          <p:cNvPr id="127" name="Google Shape;127;p8"/>
          <p:cNvSpPr txBox="1">
            <a:spLocks noGrp="1"/>
          </p:cNvSpPr>
          <p:nvPr>
            <p:ph type="body" idx="1"/>
          </p:nvPr>
        </p:nvSpPr>
        <p:spPr>
          <a:xfrm>
            <a:off x="609600" y="1600200"/>
            <a:ext cx="6689725" cy="452628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endParaRPr b="1" dirty="0">
              <a:latin typeface="Arial"/>
              <a:ea typeface="Arial"/>
              <a:cs typeface="Arial"/>
              <a:sym typeface="Arial"/>
            </a:endParaRPr>
          </a:p>
        </p:txBody>
      </p:sp>
      <p:pic>
        <p:nvPicPr>
          <p:cNvPr id="128" name="Google Shape;128;p8" descr="kathakpresentation1-100808080450-phpapp01-thumbnail-4"/>
          <p:cNvPicPr preferRelativeResize="0">
            <a:picLocks noGrp="1"/>
          </p:cNvPicPr>
          <p:nvPr>
            <p:ph type="body" idx="2"/>
          </p:nvPr>
        </p:nvPicPr>
        <p:blipFill rotWithShape="1">
          <a:blip r:embed="rId3">
            <a:alphaModFix/>
          </a:blip>
          <a:srcRect/>
          <a:stretch/>
        </p:blipFill>
        <p:spPr>
          <a:xfrm>
            <a:off x="7440930" y="1197610"/>
            <a:ext cx="4419600" cy="30594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1532-384A-EE79-DE67-8CB7B801CB91}"/>
              </a:ext>
            </a:extLst>
          </p:cNvPr>
          <p:cNvSpPr>
            <a:spLocks noGrp="1"/>
          </p:cNvSpPr>
          <p:nvPr>
            <p:ph type="title"/>
          </p:nvPr>
        </p:nvSpPr>
        <p:spPr>
          <a:xfrm>
            <a:off x="838200" y="365125"/>
            <a:ext cx="10515600" cy="5180269"/>
          </a:xfrm>
        </p:spPr>
        <p:txBody>
          <a:bodyPr>
            <a:normAutofit fontScale="90000"/>
          </a:bodyPr>
          <a:lstStyle/>
          <a:p>
            <a:pPr marL="342900" lvl="0" indent="-342900">
              <a:lnSpc>
                <a:spcPct val="100000"/>
              </a:lnSpc>
              <a:spcBef>
                <a:spcPts val="0"/>
              </a:spcBef>
            </a:pPr>
            <a:r>
              <a:rPr lang="en-US" dirty="0">
                <a:latin typeface="Arial"/>
                <a:ea typeface="Arial"/>
                <a:cs typeface="Arial"/>
                <a:sym typeface="Arial"/>
              </a:rPr>
              <a:t>Usually </a:t>
            </a:r>
            <a:r>
              <a:rPr lang="en-US" b="1" dirty="0">
                <a:latin typeface="Arial"/>
                <a:ea typeface="Arial"/>
                <a:cs typeface="Arial"/>
                <a:sym typeface="Arial"/>
              </a:rPr>
              <a:t>a solo performance, </a:t>
            </a:r>
            <a:r>
              <a:rPr lang="en-US" dirty="0">
                <a:latin typeface="Arial"/>
                <a:ea typeface="Arial"/>
                <a:cs typeface="Arial"/>
                <a:sym typeface="Arial"/>
              </a:rPr>
              <a:t>the dancer often pauses to recite verses followed by their execution through movement.</a:t>
            </a:r>
            <a:br>
              <a:rPr lang="en-US" dirty="0">
                <a:latin typeface="Arial"/>
                <a:ea typeface="Arial"/>
                <a:cs typeface="Arial"/>
                <a:sym typeface="Arial"/>
              </a:rPr>
            </a:br>
            <a:br>
              <a:rPr lang="en-US" dirty="0">
                <a:latin typeface="Arial"/>
                <a:ea typeface="Arial"/>
                <a:cs typeface="Arial"/>
                <a:sym typeface="Arial"/>
              </a:rPr>
            </a:br>
            <a:r>
              <a:rPr lang="en-US" dirty="0">
                <a:latin typeface="Arial"/>
                <a:ea typeface="Arial"/>
                <a:cs typeface="Arial"/>
                <a:sym typeface="Arial"/>
              </a:rPr>
              <a:t>The </a:t>
            </a:r>
            <a:r>
              <a:rPr lang="en-US" b="1" dirty="0">
                <a:latin typeface="Arial"/>
                <a:ea typeface="Arial"/>
                <a:cs typeface="Arial"/>
                <a:sym typeface="Arial"/>
              </a:rPr>
              <a:t>focus is more on footwork;</a:t>
            </a:r>
            <a:r>
              <a:rPr lang="en-US" dirty="0">
                <a:latin typeface="Arial"/>
                <a:ea typeface="Arial"/>
                <a:cs typeface="Arial"/>
                <a:sym typeface="Arial"/>
              </a:rPr>
              <a:t> the movements are skillfully controlled and performed straight legged by dancers </a:t>
            </a:r>
            <a:r>
              <a:rPr lang="en-US" b="1" dirty="0">
                <a:latin typeface="Arial"/>
                <a:ea typeface="Arial"/>
                <a:cs typeface="Arial"/>
                <a:sym typeface="Arial"/>
              </a:rPr>
              <a:t>wearing ankle-bells.</a:t>
            </a:r>
            <a:br>
              <a:rPr lang="en-US" b="1" dirty="0">
                <a:latin typeface="Arial"/>
                <a:ea typeface="Arial"/>
                <a:cs typeface="Arial"/>
                <a:sym typeface="Arial"/>
              </a:rPr>
            </a:br>
            <a:endParaRPr lang="en-IN" dirty="0"/>
          </a:p>
        </p:txBody>
      </p:sp>
    </p:spTree>
    <p:extLst>
      <p:ext uri="{BB962C8B-B14F-4D97-AF65-F5344CB8AC3E}">
        <p14:creationId xmlns:p14="http://schemas.microsoft.com/office/powerpoint/2010/main" val="187092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body" idx="1"/>
          </p:nvPr>
        </p:nvSpPr>
        <p:spPr>
          <a:xfrm>
            <a:off x="609599" y="1600200"/>
            <a:ext cx="6371303"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sz="4800" b="1" dirty="0">
                <a:latin typeface="Arial"/>
                <a:ea typeface="Arial"/>
                <a:cs typeface="Arial"/>
                <a:sym typeface="Arial"/>
              </a:rPr>
              <a:t>What are the Kathak Dance Techniques?</a:t>
            </a:r>
            <a:endParaRPr sz="4800" b="1" dirty="0">
              <a:latin typeface="Arial"/>
              <a:ea typeface="Arial"/>
              <a:cs typeface="Arial"/>
              <a:sym typeface="Arial"/>
            </a:endParaRPr>
          </a:p>
        </p:txBody>
      </p:sp>
      <p:pic>
        <p:nvPicPr>
          <p:cNvPr id="135" name="Google Shape;135;p9" descr="main-qimg-68c8f6a4a16d1166799d8c982ce1c907"/>
          <p:cNvPicPr preferRelativeResize="0">
            <a:picLocks noGrp="1"/>
          </p:cNvPicPr>
          <p:nvPr>
            <p:ph type="body" idx="2"/>
          </p:nvPr>
        </p:nvPicPr>
        <p:blipFill rotWithShape="1">
          <a:blip r:embed="rId3">
            <a:alphaModFix/>
          </a:blip>
          <a:srcRect/>
          <a:stretch/>
        </p:blipFill>
        <p:spPr>
          <a:xfrm>
            <a:off x="6870700" y="2964815"/>
            <a:ext cx="5129530" cy="33166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9CB1F-CE2D-CCE0-1BC7-D085C8DF9086}"/>
              </a:ext>
            </a:extLst>
          </p:cNvPr>
          <p:cNvSpPr>
            <a:spLocks noGrp="1"/>
          </p:cNvSpPr>
          <p:nvPr>
            <p:ph type="title"/>
          </p:nvPr>
        </p:nvSpPr>
        <p:spPr>
          <a:xfrm>
            <a:off x="838200" y="365125"/>
            <a:ext cx="10515600" cy="4098720"/>
          </a:xfrm>
        </p:spPr>
        <p:txBody>
          <a:bodyPr>
            <a:normAutofit/>
          </a:bodyPr>
          <a:lstStyle/>
          <a:p>
            <a:pPr lvl="0">
              <a:spcBef>
                <a:spcPts val="0"/>
              </a:spcBef>
            </a:pPr>
            <a:r>
              <a:rPr lang="en-US" b="1" dirty="0">
                <a:solidFill>
                  <a:schemeClr val="dk1"/>
                </a:solidFill>
                <a:latin typeface="Arial"/>
                <a:ea typeface="Arial"/>
                <a:cs typeface="Arial"/>
                <a:sym typeface="Arial"/>
              </a:rPr>
              <a:t>Kathak dance has two main techniques: </a:t>
            </a:r>
            <a:br>
              <a:rPr lang="en-US" b="1" dirty="0">
                <a:solidFill>
                  <a:schemeClr val="dk1"/>
                </a:solidFill>
                <a:latin typeface="Arial"/>
                <a:ea typeface="Arial"/>
                <a:cs typeface="Arial"/>
                <a:sym typeface="Arial"/>
              </a:rPr>
            </a:br>
            <a:r>
              <a:rPr lang="en-US" b="1" dirty="0">
                <a:solidFill>
                  <a:schemeClr val="dk1"/>
                </a:solidFill>
                <a:latin typeface="Arial"/>
                <a:ea typeface="Arial"/>
                <a:cs typeface="Arial"/>
                <a:sym typeface="Arial"/>
              </a:rPr>
              <a:t> 1) “nritya” (pure dance)</a:t>
            </a:r>
            <a:br>
              <a:rPr lang="en-US" b="1" dirty="0">
                <a:solidFill>
                  <a:schemeClr val="dk1"/>
                </a:solidFill>
                <a:latin typeface="Arial"/>
                <a:ea typeface="Arial"/>
                <a:cs typeface="Arial"/>
                <a:sym typeface="Arial"/>
              </a:rPr>
            </a:br>
            <a:r>
              <a:rPr lang="en-US" b="1" dirty="0">
                <a:solidFill>
                  <a:schemeClr val="dk1"/>
                </a:solidFill>
                <a:latin typeface="Arial"/>
                <a:ea typeface="Arial"/>
                <a:cs typeface="Arial"/>
                <a:sym typeface="Arial"/>
              </a:rPr>
              <a:t> 2) “Abhinaya” (expressions)</a:t>
            </a:r>
            <a:br>
              <a:rPr lang="en-US" b="1" dirty="0">
                <a:solidFill>
                  <a:schemeClr val="dk1"/>
                </a:solidFill>
                <a:latin typeface="Arial"/>
                <a:ea typeface="Arial"/>
                <a:cs typeface="Arial"/>
                <a:sym typeface="Arial"/>
              </a:rPr>
            </a:br>
            <a:endParaRPr lang="en-IN" b="1" dirty="0"/>
          </a:p>
        </p:txBody>
      </p:sp>
    </p:spTree>
    <p:extLst>
      <p:ext uri="{BB962C8B-B14F-4D97-AF65-F5344CB8AC3E}">
        <p14:creationId xmlns:p14="http://schemas.microsoft.com/office/powerpoint/2010/main" val="33786435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title"/>
          </p:nvPr>
        </p:nvSpPr>
        <p:spPr>
          <a:xfrm>
            <a:off x="918845" y="320993"/>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Arial"/>
              <a:buNone/>
            </a:pPr>
            <a:r>
              <a:rPr lang="en-US" dirty="0">
                <a:latin typeface="Arial"/>
                <a:ea typeface="Arial"/>
                <a:cs typeface="Arial"/>
                <a:sym typeface="Arial"/>
              </a:rPr>
              <a:t>How is Kathak performed?</a:t>
            </a:r>
            <a:endParaRPr dirty="0">
              <a:latin typeface="Arial"/>
              <a:ea typeface="Arial"/>
              <a:cs typeface="Arial"/>
              <a:sym typeface="Arial"/>
            </a:endParaRPr>
          </a:p>
        </p:txBody>
      </p:sp>
      <p:sp>
        <p:nvSpPr>
          <p:cNvPr id="141" name="Google Shape;141;p10"/>
          <p:cNvSpPr txBox="1">
            <a:spLocks noGrp="1"/>
          </p:cNvSpPr>
          <p:nvPr>
            <p:ph type="body" idx="1"/>
          </p:nvPr>
        </p:nvSpPr>
        <p:spPr>
          <a:xfrm>
            <a:off x="3498850" y="2047240"/>
            <a:ext cx="7445375" cy="407860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endParaRPr dirty="0">
              <a:latin typeface="Arial"/>
              <a:ea typeface="Arial"/>
              <a:cs typeface="Arial"/>
              <a:sym typeface="Arial"/>
            </a:endParaRPr>
          </a:p>
        </p:txBody>
      </p:sp>
      <p:pic>
        <p:nvPicPr>
          <p:cNvPr id="142" name="Google Shape;142;p10" descr="images kathak"/>
          <p:cNvPicPr preferRelativeResize="0">
            <a:picLocks noGrp="1"/>
          </p:cNvPicPr>
          <p:nvPr>
            <p:ph type="body" idx="2"/>
          </p:nvPr>
        </p:nvPicPr>
        <p:blipFill rotWithShape="1">
          <a:blip r:embed="rId3">
            <a:alphaModFix/>
          </a:blip>
          <a:srcRect/>
          <a:stretch/>
        </p:blipFill>
        <p:spPr>
          <a:xfrm>
            <a:off x="136525" y="1846580"/>
            <a:ext cx="3269615" cy="221869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841D5-93D6-10FF-6797-A17CABAA26CE}"/>
              </a:ext>
            </a:extLst>
          </p:cNvPr>
          <p:cNvSpPr>
            <a:spLocks noGrp="1"/>
          </p:cNvSpPr>
          <p:nvPr>
            <p:ph type="title"/>
          </p:nvPr>
        </p:nvSpPr>
        <p:spPr>
          <a:xfrm>
            <a:off x="838200" y="365125"/>
            <a:ext cx="10515600" cy="3911907"/>
          </a:xfrm>
        </p:spPr>
        <p:txBody>
          <a:bodyPr>
            <a:normAutofit/>
          </a:bodyPr>
          <a:lstStyle/>
          <a:p>
            <a:r>
              <a:rPr lang="en-US" dirty="0">
                <a:latin typeface="Arial"/>
                <a:ea typeface="Arial"/>
                <a:cs typeface="Arial"/>
                <a:sym typeface="Arial"/>
              </a:rPr>
              <a:t>Kathak  builds its pure dance sequences by combining units of movement.</a:t>
            </a:r>
            <a:br>
              <a:rPr lang="en-US" dirty="0">
                <a:latin typeface="Arial"/>
                <a:ea typeface="Arial"/>
                <a:cs typeface="Arial"/>
                <a:sym typeface="Arial"/>
              </a:rPr>
            </a:br>
            <a:br>
              <a:rPr lang="en-US" dirty="0">
                <a:latin typeface="Arial"/>
                <a:ea typeface="Arial"/>
                <a:cs typeface="Arial"/>
                <a:sym typeface="Arial"/>
              </a:rPr>
            </a:br>
            <a:br>
              <a:rPr lang="en-US" dirty="0">
                <a:latin typeface="Arial"/>
                <a:ea typeface="Arial"/>
                <a:cs typeface="Arial"/>
                <a:sym typeface="Arial"/>
              </a:rPr>
            </a:br>
            <a:r>
              <a:rPr lang="en-US" dirty="0">
                <a:latin typeface="Arial"/>
                <a:ea typeface="Arial"/>
                <a:cs typeface="Arial"/>
                <a:sym typeface="Arial"/>
              </a:rPr>
              <a:t> </a:t>
            </a:r>
            <a:endParaRPr lang="en-IN" dirty="0"/>
          </a:p>
        </p:txBody>
      </p:sp>
    </p:spTree>
    <p:extLst>
      <p:ext uri="{BB962C8B-B14F-4D97-AF65-F5344CB8AC3E}">
        <p14:creationId xmlns:p14="http://schemas.microsoft.com/office/powerpoint/2010/main" val="23020847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164E-86BC-18CC-0539-7C41BE7B95E5}"/>
              </a:ext>
            </a:extLst>
          </p:cNvPr>
          <p:cNvSpPr>
            <a:spLocks noGrp="1"/>
          </p:cNvSpPr>
          <p:nvPr>
            <p:ph type="title"/>
          </p:nvPr>
        </p:nvSpPr>
        <p:spPr>
          <a:xfrm>
            <a:off x="838200" y="365125"/>
            <a:ext cx="10515600" cy="3282643"/>
          </a:xfrm>
        </p:spPr>
        <p:txBody>
          <a:bodyPr>
            <a:normAutofit/>
          </a:bodyPr>
          <a:lstStyle/>
          <a:p>
            <a:r>
              <a:rPr lang="en-US" dirty="0">
                <a:latin typeface="Arial"/>
                <a:ea typeface="Arial"/>
                <a:cs typeface="Arial"/>
                <a:sym typeface="Arial"/>
              </a:rPr>
              <a:t>The cadences   called   by the names </a:t>
            </a:r>
            <a:r>
              <a:rPr lang="en-US" b="1" dirty="0">
                <a:latin typeface="Arial"/>
                <a:ea typeface="Arial"/>
                <a:cs typeface="Arial"/>
                <a:sym typeface="Arial"/>
              </a:rPr>
              <a:t>tukra, </a:t>
            </a:r>
            <a:r>
              <a:rPr lang="en-US" b="1" dirty="0" err="1">
                <a:latin typeface="Arial"/>
                <a:ea typeface="Arial"/>
                <a:cs typeface="Arial"/>
                <a:sym typeface="Arial"/>
              </a:rPr>
              <a:t>tora</a:t>
            </a:r>
            <a:r>
              <a:rPr lang="en-US" b="1" dirty="0">
                <a:latin typeface="Arial"/>
                <a:ea typeface="Arial"/>
                <a:cs typeface="Arial"/>
                <a:sym typeface="Arial"/>
              </a:rPr>
              <a:t>, and </a:t>
            </a:r>
            <a:r>
              <a:rPr lang="en-US" b="1" dirty="0" err="1">
                <a:latin typeface="Arial"/>
                <a:ea typeface="Arial"/>
                <a:cs typeface="Arial"/>
                <a:sym typeface="Arial"/>
              </a:rPr>
              <a:t>parana</a:t>
            </a:r>
            <a:r>
              <a:rPr lang="en-US" b="1" dirty="0">
                <a:latin typeface="Arial"/>
                <a:ea typeface="Arial"/>
                <a:cs typeface="Arial"/>
                <a:sym typeface="Arial"/>
              </a:rPr>
              <a:t> are associated with what </a:t>
            </a:r>
            <a:br>
              <a:rPr lang="en-US" dirty="0">
                <a:latin typeface="Arial"/>
                <a:ea typeface="Arial"/>
                <a:cs typeface="Arial"/>
                <a:sym typeface="Arial"/>
              </a:rPr>
            </a:br>
            <a:endParaRPr lang="en-IN" dirty="0"/>
          </a:p>
        </p:txBody>
      </p:sp>
    </p:spTree>
    <p:extLst>
      <p:ext uri="{BB962C8B-B14F-4D97-AF65-F5344CB8AC3E}">
        <p14:creationId xmlns:p14="http://schemas.microsoft.com/office/powerpoint/2010/main" val="24222282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7CE1-9DA1-9925-193E-5C81CCC8E5A2}"/>
              </a:ext>
            </a:extLst>
          </p:cNvPr>
          <p:cNvSpPr>
            <a:spLocks noGrp="1"/>
          </p:cNvSpPr>
          <p:nvPr>
            <p:ph type="title"/>
          </p:nvPr>
        </p:nvSpPr>
        <p:spPr/>
        <p:txBody>
          <a:bodyPr>
            <a:normAutofit fontScale="90000"/>
          </a:bodyPr>
          <a:lstStyle/>
          <a:p>
            <a:r>
              <a:rPr lang="en-US" sz="9600" b="1" dirty="0"/>
              <a:t>Kathak</a:t>
            </a:r>
            <a:endParaRPr lang="en-IN" sz="9600" b="1" dirty="0"/>
          </a:p>
        </p:txBody>
      </p:sp>
      <p:sp>
        <p:nvSpPr>
          <p:cNvPr id="3" name="Content Placeholder 2">
            <a:extLst>
              <a:ext uri="{FF2B5EF4-FFF2-40B4-BE49-F238E27FC236}">
                <a16:creationId xmlns:a16="http://schemas.microsoft.com/office/drawing/2014/main" id="{9B6C6CDE-5766-EFAC-8739-AA86CEB86137}"/>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8D26A61B-23BA-DCAF-AA65-EA5AFAEAA61E}"/>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13554295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body" idx="1"/>
          </p:nvPr>
        </p:nvSpPr>
        <p:spPr>
          <a:xfrm>
            <a:off x="609600" y="502920"/>
            <a:ext cx="10135870" cy="562356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dirty="0">
                <a:latin typeface="Arial"/>
                <a:ea typeface="Arial"/>
                <a:cs typeface="Arial"/>
                <a:sym typeface="Arial"/>
              </a:rPr>
              <a:t>Which is  the </a:t>
            </a:r>
            <a:r>
              <a:rPr lang="en-US" b="1" dirty="0">
                <a:latin typeface="Arial"/>
                <a:ea typeface="Arial"/>
                <a:cs typeface="Arial"/>
                <a:sym typeface="Arial"/>
              </a:rPr>
              <a:t>only classical dance of India having links with Muslim culture?</a:t>
            </a:r>
            <a:r>
              <a:rPr lang="en-US" dirty="0">
                <a:latin typeface="Arial"/>
                <a:ea typeface="Arial"/>
                <a:cs typeface="Arial"/>
                <a:sym typeface="Arial"/>
              </a:rPr>
              <a:t>( it represents a unique synthesis of </a:t>
            </a:r>
            <a:r>
              <a:rPr lang="en-US" b="1" dirty="0">
                <a:latin typeface="Arial"/>
                <a:ea typeface="Arial"/>
                <a:cs typeface="Arial"/>
                <a:sym typeface="Arial"/>
              </a:rPr>
              <a:t>Hindu and Muslim genius in art.)</a:t>
            </a:r>
            <a:endParaRPr b="1" dirty="0">
              <a:latin typeface="Arial"/>
              <a:ea typeface="Arial"/>
              <a:cs typeface="Arial"/>
              <a:sym typeface="Arial"/>
            </a:endParaRPr>
          </a:p>
          <a:p>
            <a:pPr marL="342900" lvl="0" indent="-139700" algn="l" rtl="0">
              <a:lnSpc>
                <a:spcPct val="100000"/>
              </a:lnSpc>
              <a:spcBef>
                <a:spcPts val="640"/>
              </a:spcBef>
              <a:spcAft>
                <a:spcPts val="0"/>
              </a:spcAft>
              <a:buClr>
                <a:schemeClr val="dk1"/>
              </a:buClr>
              <a:buSzPts val="3200"/>
              <a:buFont typeface="Arial"/>
              <a:buNone/>
            </a:pPr>
            <a:endParaRPr b="1" dirty="0">
              <a:latin typeface="Arial"/>
              <a:ea typeface="Arial"/>
              <a:cs typeface="Arial"/>
              <a:sym typeface="Arial"/>
            </a:endParaRPr>
          </a:p>
          <a:p>
            <a:pPr marL="342900" lvl="0" indent="-139700" algn="l" rtl="0">
              <a:lnSpc>
                <a:spcPct val="100000"/>
              </a:lnSpc>
              <a:spcBef>
                <a:spcPts val="640"/>
              </a:spcBef>
              <a:spcAft>
                <a:spcPts val="0"/>
              </a:spcAft>
              <a:buClr>
                <a:schemeClr val="dk1"/>
              </a:buClr>
              <a:buSzPts val="3200"/>
              <a:buFont typeface="Arial"/>
              <a:buNone/>
            </a:pPr>
            <a:endParaRPr b="1" dirty="0">
              <a:latin typeface="Arial"/>
              <a:ea typeface="Arial"/>
              <a:cs typeface="Arial"/>
              <a:sym typeface="Arial"/>
            </a:endParaRPr>
          </a:p>
          <a:p>
            <a:pPr marL="0" lvl="0" indent="0" algn="l" rtl="0">
              <a:lnSpc>
                <a:spcPct val="100000"/>
              </a:lnSpc>
              <a:spcBef>
                <a:spcPts val="640"/>
              </a:spcBef>
              <a:spcAft>
                <a:spcPts val="0"/>
              </a:spcAft>
              <a:buClr>
                <a:schemeClr val="dk1"/>
              </a:buClr>
              <a:buSzPts val="3200"/>
              <a:buFont typeface="Arial"/>
              <a:buNone/>
            </a:pPr>
            <a:endParaRPr dirty="0">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3A2E-600D-9330-C101-F847AB34FADD}"/>
              </a:ext>
            </a:extLst>
          </p:cNvPr>
          <p:cNvSpPr>
            <a:spLocks noGrp="1"/>
          </p:cNvSpPr>
          <p:nvPr>
            <p:ph type="title"/>
          </p:nvPr>
        </p:nvSpPr>
        <p:spPr/>
        <p:txBody>
          <a:bodyPr/>
          <a:lstStyle/>
          <a:p>
            <a:r>
              <a:rPr lang="en-US" dirty="0">
                <a:latin typeface="Arial"/>
                <a:ea typeface="Arial"/>
                <a:cs typeface="Arial"/>
                <a:sym typeface="Arial"/>
              </a:rPr>
              <a:t>Kathak  </a:t>
            </a:r>
            <a:endParaRPr lang="en-IN" dirty="0"/>
          </a:p>
        </p:txBody>
      </p:sp>
      <p:sp>
        <p:nvSpPr>
          <p:cNvPr id="3" name="Content Placeholder 2">
            <a:extLst>
              <a:ext uri="{FF2B5EF4-FFF2-40B4-BE49-F238E27FC236}">
                <a16:creationId xmlns:a16="http://schemas.microsoft.com/office/drawing/2014/main" id="{6513444D-E5B5-C038-74F9-0C787BE8B39B}"/>
              </a:ext>
            </a:extLst>
          </p:cNvPr>
          <p:cNvSpPr>
            <a:spLocks noGrp="1"/>
          </p:cNvSpPr>
          <p:nvPr>
            <p:ph sz="half" idx="1"/>
          </p:nvPr>
        </p:nvSpPr>
        <p:spPr/>
        <p:txBody>
          <a:bodyPr/>
          <a:lstStyle/>
          <a:p>
            <a:r>
              <a:rPr lang="en-US" b="1" dirty="0">
                <a:latin typeface="Arial"/>
                <a:ea typeface="Arial"/>
                <a:cs typeface="Arial"/>
                <a:sym typeface="Arial"/>
              </a:rPr>
              <a:t>Kathak is the only form of classical dance wedded to Hindustani or the North Indian music. Both of them have had a parallel growth, each feeding and sustaining the other</a:t>
            </a:r>
          </a:p>
          <a:p>
            <a:endParaRPr lang="en-IN" b="1" dirty="0"/>
          </a:p>
        </p:txBody>
      </p:sp>
      <p:sp>
        <p:nvSpPr>
          <p:cNvPr id="4" name="Content Placeholder 3">
            <a:extLst>
              <a:ext uri="{FF2B5EF4-FFF2-40B4-BE49-F238E27FC236}">
                <a16:creationId xmlns:a16="http://schemas.microsoft.com/office/drawing/2014/main" id="{05D4A0C8-D08C-0A39-6908-3E4D56B52315}"/>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32178148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4"/>
          <p:cNvSpPr txBox="1">
            <a:spLocks noGrp="1"/>
          </p:cNvSpPr>
          <p:nvPr>
            <p:ph type="title"/>
          </p:nvPr>
        </p:nvSpPr>
        <p:spPr>
          <a:xfrm>
            <a:off x="609600" y="274955"/>
            <a:ext cx="10972800" cy="6064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Arial"/>
              <a:buNone/>
            </a:pPr>
            <a:r>
              <a:rPr lang="en-US" sz="3200">
                <a:latin typeface="Arial"/>
                <a:ea typeface="Arial"/>
                <a:cs typeface="Arial"/>
                <a:sym typeface="Arial"/>
              </a:rPr>
              <a:t>There are </a:t>
            </a:r>
            <a:r>
              <a:rPr lang="en-US" sz="3200" b="1">
                <a:latin typeface="Arial"/>
                <a:ea typeface="Arial"/>
                <a:cs typeface="Arial"/>
                <a:sym typeface="Arial"/>
              </a:rPr>
              <a:t>two types of Hindu costumes</a:t>
            </a:r>
            <a:r>
              <a:rPr lang="en-US" sz="3200">
                <a:latin typeface="Arial"/>
                <a:ea typeface="Arial"/>
                <a:cs typeface="Arial"/>
                <a:sym typeface="Arial"/>
              </a:rPr>
              <a:t> for female dancers</a:t>
            </a:r>
            <a:r>
              <a:rPr lang="en-US" sz="3200"/>
              <a:t>.</a:t>
            </a:r>
            <a:endParaRPr sz="3200"/>
          </a:p>
        </p:txBody>
      </p:sp>
      <p:sp>
        <p:nvSpPr>
          <p:cNvPr id="165" name="Google Shape;165;p14"/>
          <p:cNvSpPr txBox="1">
            <a:spLocks noGrp="1"/>
          </p:cNvSpPr>
          <p:nvPr>
            <p:ph type="body" idx="1"/>
          </p:nvPr>
        </p:nvSpPr>
        <p:spPr>
          <a:xfrm>
            <a:off x="609600" y="1245235"/>
            <a:ext cx="5920105" cy="27508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200"/>
              <a:buFont typeface="Arial"/>
              <a:buNone/>
            </a:pPr>
            <a:r>
              <a:rPr lang="en-US"/>
              <a:t> </a:t>
            </a:r>
            <a:endParaRPr/>
          </a:p>
          <a:p>
            <a:pPr marL="342900" lvl="0" indent="-342900" algn="l" rtl="0">
              <a:lnSpc>
                <a:spcPct val="100000"/>
              </a:lnSpc>
              <a:spcBef>
                <a:spcPts val="560"/>
              </a:spcBef>
              <a:spcAft>
                <a:spcPts val="0"/>
              </a:spcAft>
              <a:buClr>
                <a:schemeClr val="dk1"/>
              </a:buClr>
              <a:buSzPts val="2800"/>
              <a:buFont typeface="Arial"/>
              <a:buChar char="•"/>
            </a:pPr>
            <a:r>
              <a:rPr lang="en-US" sz="2800">
                <a:latin typeface="Arial"/>
                <a:ea typeface="Arial"/>
                <a:cs typeface="Arial"/>
                <a:sym typeface="Arial"/>
              </a:rPr>
              <a:t>a sari worn in a unique fashion complimented with a choli or blouse that covers the upper body and a scarf or urhni worn in some places</a:t>
            </a:r>
            <a:endParaRPr sz="2800">
              <a:latin typeface="Arial"/>
              <a:ea typeface="Arial"/>
              <a:cs typeface="Arial"/>
              <a:sym typeface="Arial"/>
            </a:endParaRPr>
          </a:p>
        </p:txBody>
      </p:sp>
      <p:sp>
        <p:nvSpPr>
          <p:cNvPr id="166" name="Google Shape;166;p14"/>
          <p:cNvSpPr txBox="1">
            <a:spLocks noGrp="1"/>
          </p:cNvSpPr>
          <p:nvPr>
            <p:ph type="body" idx="2"/>
          </p:nvPr>
        </p:nvSpPr>
        <p:spPr>
          <a:xfrm>
            <a:off x="6529705" y="1571625"/>
            <a:ext cx="5052695" cy="455485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Font typeface="Arial"/>
              <a:buChar char="•"/>
            </a:pPr>
            <a:r>
              <a:rPr lang="en-US" sz="2800">
                <a:latin typeface="Arial"/>
                <a:ea typeface="Arial"/>
                <a:cs typeface="Arial"/>
                <a:sym typeface="Arial"/>
              </a:rPr>
              <a:t>the other costume includes a long-embroidered skirt with a contrasting choli and a transparent urhni</a:t>
            </a:r>
            <a:r>
              <a:rPr lang="en-US"/>
              <a:t>.</a:t>
            </a:r>
            <a:endParaRPr/>
          </a:p>
        </p:txBody>
      </p:sp>
      <p:pic>
        <p:nvPicPr>
          <p:cNvPr id="167" name="Google Shape;167;p14" descr="saree"/>
          <p:cNvPicPr preferRelativeResize="0"/>
          <p:nvPr/>
        </p:nvPicPr>
        <p:blipFill rotWithShape="1">
          <a:blip r:embed="rId3">
            <a:alphaModFix/>
          </a:blip>
          <a:srcRect/>
          <a:stretch/>
        </p:blipFill>
        <p:spPr>
          <a:xfrm>
            <a:off x="2711450" y="3738880"/>
            <a:ext cx="2000885" cy="2763520"/>
          </a:xfrm>
          <a:prstGeom prst="rect">
            <a:avLst/>
          </a:prstGeom>
          <a:noFill/>
          <a:ln>
            <a:noFill/>
          </a:ln>
        </p:spPr>
      </p:pic>
      <p:pic>
        <p:nvPicPr>
          <p:cNvPr id="168" name="Google Shape;168;p14" descr="skirt"/>
          <p:cNvPicPr preferRelativeResize="0"/>
          <p:nvPr/>
        </p:nvPicPr>
        <p:blipFill rotWithShape="1">
          <a:blip r:embed="rId4">
            <a:alphaModFix/>
          </a:blip>
          <a:srcRect/>
          <a:stretch/>
        </p:blipFill>
        <p:spPr>
          <a:xfrm>
            <a:off x="8733155" y="3481070"/>
            <a:ext cx="2576830" cy="2892425"/>
          </a:xfrm>
          <a:prstGeom prst="rect">
            <a:avLst/>
          </a:prstGeom>
          <a:noFill/>
          <a:ln>
            <a:noFill/>
          </a:ln>
        </p:spPr>
      </p:pic>
      <p:cxnSp>
        <p:nvCxnSpPr>
          <p:cNvPr id="169" name="Google Shape;169;p14"/>
          <p:cNvCxnSpPr/>
          <p:nvPr/>
        </p:nvCxnSpPr>
        <p:spPr>
          <a:xfrm>
            <a:off x="1652905" y="1210945"/>
            <a:ext cx="8730615" cy="31115"/>
          </a:xfrm>
          <a:prstGeom prst="straightConnector1">
            <a:avLst/>
          </a:prstGeom>
          <a:noFill/>
          <a:ln w="9525" cap="flat" cmpd="sng">
            <a:solidFill>
              <a:schemeClr val="dk1"/>
            </a:solidFill>
            <a:prstDash val="solid"/>
            <a:miter lim="800000"/>
            <a:headEnd type="none" w="sm" len="sm"/>
            <a:tailEnd type="none" w="sm" len="sm"/>
          </a:ln>
        </p:spPr>
      </p:cxnSp>
      <p:cxnSp>
        <p:nvCxnSpPr>
          <p:cNvPr id="170" name="Google Shape;170;p14"/>
          <p:cNvCxnSpPr/>
          <p:nvPr/>
        </p:nvCxnSpPr>
        <p:spPr>
          <a:xfrm>
            <a:off x="1683385" y="1210945"/>
            <a:ext cx="0" cy="587375"/>
          </a:xfrm>
          <a:prstGeom prst="straightConnector1">
            <a:avLst/>
          </a:prstGeom>
          <a:noFill/>
          <a:ln w="9525" cap="flat" cmpd="sng">
            <a:solidFill>
              <a:schemeClr val="dk1"/>
            </a:solidFill>
            <a:prstDash val="solid"/>
            <a:miter lim="800000"/>
            <a:headEnd type="none" w="sm" len="sm"/>
            <a:tailEnd type="stealth" w="med" len="med"/>
          </a:ln>
        </p:spPr>
      </p:cxnSp>
      <p:cxnSp>
        <p:nvCxnSpPr>
          <p:cNvPr id="171" name="Google Shape;171;p14"/>
          <p:cNvCxnSpPr/>
          <p:nvPr/>
        </p:nvCxnSpPr>
        <p:spPr>
          <a:xfrm>
            <a:off x="10398760" y="1226185"/>
            <a:ext cx="0" cy="417195"/>
          </a:xfrm>
          <a:prstGeom prst="straightConnector1">
            <a:avLst/>
          </a:prstGeom>
          <a:noFill/>
          <a:ln w="9525" cap="flat" cmpd="sng">
            <a:solidFill>
              <a:schemeClr val="dk1"/>
            </a:solidFill>
            <a:prstDash val="solid"/>
            <a:miter lim="800000"/>
            <a:headEnd type="none" w="sm" len="sm"/>
            <a:tailEnd type="stealth" w="med" len="med"/>
          </a:ln>
        </p:spPr>
      </p:cxnSp>
      <p:cxnSp>
        <p:nvCxnSpPr>
          <p:cNvPr id="172" name="Google Shape;172;p14"/>
          <p:cNvCxnSpPr/>
          <p:nvPr/>
        </p:nvCxnSpPr>
        <p:spPr>
          <a:xfrm>
            <a:off x="6102985" y="701040"/>
            <a:ext cx="15240" cy="494665"/>
          </a:xfrm>
          <a:prstGeom prst="straightConnector1">
            <a:avLst/>
          </a:prstGeom>
          <a:noFill/>
          <a:ln w="9525" cap="flat" cmpd="sng">
            <a:solidFill>
              <a:schemeClr val="dk1"/>
            </a:solidFill>
            <a:prstDash val="solid"/>
            <a:miter lim="800000"/>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5"/>
          <p:cNvSpPr txBox="1">
            <a:spLocks noGrp="1"/>
          </p:cNvSpPr>
          <p:nvPr>
            <p:ph type="body" idx="1"/>
          </p:nvPr>
        </p:nvSpPr>
        <p:spPr>
          <a:xfrm>
            <a:off x="609600" y="657860"/>
            <a:ext cx="9378950" cy="54686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200"/>
              <a:buFont typeface="Arial"/>
              <a:buNone/>
            </a:pPr>
            <a:endParaRPr/>
          </a:p>
          <a:p>
            <a:pPr marL="342900" lvl="0" indent="-342900" algn="l" rtl="0">
              <a:lnSpc>
                <a:spcPct val="100000"/>
              </a:lnSpc>
              <a:spcBef>
                <a:spcPts val="640"/>
              </a:spcBef>
              <a:spcAft>
                <a:spcPts val="0"/>
              </a:spcAft>
              <a:buClr>
                <a:schemeClr val="dk1"/>
              </a:buClr>
              <a:buSzPts val="3200"/>
              <a:buFont typeface="Arial"/>
              <a:buChar char="•"/>
            </a:pPr>
            <a:r>
              <a:rPr lang="en-US"/>
              <a:t> </a:t>
            </a:r>
            <a:r>
              <a:rPr lang="en-US">
                <a:latin typeface="Arial"/>
                <a:ea typeface="Arial"/>
                <a:cs typeface="Arial"/>
                <a:sym typeface="Arial"/>
              </a:rPr>
              <a:t>Kathak jewelleries are mainly ornamnets of gold and silver for head, arms , hands ,fingers , waist , feet and small ankle bells also called as ghungroos</a:t>
            </a:r>
            <a:endParaRPr>
              <a:latin typeface="Arial"/>
              <a:ea typeface="Arial"/>
              <a:cs typeface="Arial"/>
              <a:sym typeface="Arial"/>
            </a:endParaRPr>
          </a:p>
        </p:txBody>
      </p:sp>
      <p:pic>
        <p:nvPicPr>
          <p:cNvPr id="178" name="Google Shape;178;p15" descr="ghungroo"/>
          <p:cNvPicPr preferRelativeResize="0">
            <a:picLocks noGrp="1"/>
          </p:cNvPicPr>
          <p:nvPr>
            <p:ph type="body" idx="2"/>
          </p:nvPr>
        </p:nvPicPr>
        <p:blipFill rotWithShape="1">
          <a:blip r:embed="rId3">
            <a:alphaModFix/>
          </a:blip>
          <a:srcRect/>
          <a:stretch/>
        </p:blipFill>
        <p:spPr>
          <a:xfrm>
            <a:off x="4937125" y="3191510"/>
            <a:ext cx="2924175" cy="2181860"/>
          </a:xfrm>
          <a:prstGeom prst="rect">
            <a:avLst/>
          </a:prstGeom>
          <a:noFill/>
          <a:ln w="9525" cap="flat" cmpd="sng">
            <a:solidFill>
              <a:schemeClr val="accent1"/>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Arial"/>
              <a:buNone/>
            </a:pPr>
            <a:r>
              <a:rPr lang="en-US" b="1" dirty="0">
                <a:latin typeface="Arial"/>
                <a:ea typeface="Arial"/>
                <a:cs typeface="Arial"/>
                <a:sym typeface="Arial"/>
              </a:rPr>
              <a:t>What are the Instruments associated with Kathak?</a:t>
            </a:r>
            <a:endParaRPr b="1" dirty="0">
              <a:latin typeface="Arial"/>
              <a:ea typeface="Arial"/>
              <a:cs typeface="Arial"/>
              <a:sym typeface="Arial"/>
            </a:endParaRPr>
          </a:p>
        </p:txBody>
      </p:sp>
      <p:sp>
        <p:nvSpPr>
          <p:cNvPr id="184" name="Google Shape;184;p16"/>
          <p:cNvSpPr txBox="1">
            <a:spLocks noGrp="1"/>
          </p:cNvSpPr>
          <p:nvPr>
            <p:ph type="body" idx="1"/>
          </p:nvPr>
        </p:nvSpPr>
        <p:spPr>
          <a:xfrm>
            <a:off x="609600" y="1600200"/>
            <a:ext cx="7585710" cy="452628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endParaRPr dirty="0">
              <a:latin typeface="Arial"/>
              <a:ea typeface="Arial"/>
              <a:cs typeface="Arial"/>
              <a:sym typeface="Arial"/>
            </a:endParaRPr>
          </a:p>
        </p:txBody>
      </p:sp>
      <p:pic>
        <p:nvPicPr>
          <p:cNvPr id="185" name="Google Shape;185;p16" descr="instruments"/>
          <p:cNvPicPr preferRelativeResize="0">
            <a:picLocks noGrp="1"/>
          </p:cNvPicPr>
          <p:nvPr>
            <p:ph type="body" idx="2"/>
          </p:nvPr>
        </p:nvPicPr>
        <p:blipFill rotWithShape="1">
          <a:blip r:embed="rId3">
            <a:alphaModFix/>
          </a:blip>
          <a:srcRect/>
          <a:stretch/>
        </p:blipFill>
        <p:spPr>
          <a:xfrm>
            <a:off x="9075420" y="2243455"/>
            <a:ext cx="1924050" cy="23717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body" idx="1"/>
          </p:nvPr>
        </p:nvSpPr>
        <p:spPr>
          <a:xfrm>
            <a:off x="609600" y="688340"/>
            <a:ext cx="6874510" cy="543814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dirty="0">
                <a:latin typeface="Arial"/>
                <a:ea typeface="Arial"/>
                <a:cs typeface="Arial"/>
                <a:sym typeface="Arial"/>
              </a:rPr>
              <a:t>The </a:t>
            </a:r>
            <a:r>
              <a:rPr lang="en-US" b="1" dirty="0" err="1">
                <a:latin typeface="Arial"/>
                <a:ea typeface="Arial"/>
                <a:cs typeface="Arial"/>
                <a:sym typeface="Arial"/>
              </a:rPr>
              <a:t>tabla</a:t>
            </a:r>
            <a:r>
              <a:rPr lang="en-US" dirty="0">
                <a:latin typeface="Arial"/>
                <a:ea typeface="Arial"/>
                <a:cs typeface="Arial"/>
                <a:sym typeface="Arial"/>
              </a:rPr>
              <a:t> that harmonizes well with the rhythmic foot movements of the dancer and often imitates sound of such footwork movements or vice-versa to create </a:t>
            </a:r>
            <a:r>
              <a:rPr lang="en-US" b="1" dirty="0">
                <a:latin typeface="Arial"/>
                <a:ea typeface="Arial"/>
                <a:cs typeface="Arial"/>
                <a:sym typeface="Arial"/>
              </a:rPr>
              <a:t>a brilliant </a:t>
            </a:r>
            <a:r>
              <a:rPr lang="en-US" b="1" dirty="0" err="1">
                <a:latin typeface="Arial"/>
                <a:ea typeface="Arial"/>
                <a:cs typeface="Arial"/>
                <a:sym typeface="Arial"/>
              </a:rPr>
              <a:t>jugalbandi</a:t>
            </a:r>
            <a:r>
              <a:rPr lang="en-US" dirty="0">
                <a:latin typeface="Arial"/>
                <a:ea typeface="Arial"/>
                <a:cs typeface="Arial"/>
                <a:sym typeface="Arial"/>
              </a:rPr>
              <a:t>.</a:t>
            </a:r>
            <a:endParaRPr dirty="0">
              <a:latin typeface="Arial"/>
              <a:ea typeface="Arial"/>
              <a:cs typeface="Arial"/>
              <a:sym typeface="Arial"/>
            </a:endParaRPr>
          </a:p>
          <a:p>
            <a:pPr marL="342900" lvl="0" indent="-139700" algn="l" rtl="0">
              <a:lnSpc>
                <a:spcPct val="100000"/>
              </a:lnSpc>
              <a:spcBef>
                <a:spcPts val="640"/>
              </a:spcBef>
              <a:spcAft>
                <a:spcPts val="0"/>
              </a:spcAft>
              <a:buClr>
                <a:schemeClr val="dk1"/>
              </a:buClr>
              <a:buSzPts val="3200"/>
              <a:buFont typeface="Arial"/>
              <a:buNone/>
            </a:pPr>
            <a:endParaRPr dirty="0">
              <a:latin typeface="Arial"/>
              <a:ea typeface="Arial"/>
              <a:cs typeface="Arial"/>
              <a:sym typeface="Arial"/>
            </a:endParaRPr>
          </a:p>
          <a:p>
            <a:pPr marL="342900" lvl="0" indent="-342900" algn="l" rtl="0">
              <a:lnSpc>
                <a:spcPct val="100000"/>
              </a:lnSpc>
              <a:spcBef>
                <a:spcPts val="640"/>
              </a:spcBef>
              <a:spcAft>
                <a:spcPts val="0"/>
              </a:spcAft>
              <a:buClr>
                <a:schemeClr val="dk1"/>
              </a:buClr>
              <a:buSzPts val="3200"/>
              <a:buFont typeface="Arial"/>
              <a:buChar char="•"/>
            </a:pPr>
            <a:r>
              <a:rPr lang="en-US" dirty="0">
                <a:latin typeface="Arial"/>
                <a:ea typeface="Arial"/>
                <a:cs typeface="Arial"/>
                <a:sym typeface="Arial"/>
              </a:rPr>
              <a:t> A </a:t>
            </a:r>
            <a:r>
              <a:rPr lang="en-US" dirty="0" err="1">
                <a:latin typeface="Arial"/>
                <a:ea typeface="Arial"/>
                <a:cs typeface="Arial"/>
                <a:sym typeface="Arial"/>
              </a:rPr>
              <a:t>manjira</a:t>
            </a:r>
            <a:r>
              <a:rPr lang="en-US" dirty="0">
                <a:latin typeface="Arial"/>
                <a:ea typeface="Arial"/>
                <a:cs typeface="Arial"/>
                <a:sym typeface="Arial"/>
              </a:rPr>
              <a:t> that is </a:t>
            </a:r>
            <a:r>
              <a:rPr lang="en-US" b="1" dirty="0">
                <a:latin typeface="Arial"/>
                <a:ea typeface="Arial"/>
                <a:cs typeface="Arial"/>
                <a:sym typeface="Arial"/>
              </a:rPr>
              <a:t>hand cymbals and sarangi or harmonium</a:t>
            </a:r>
            <a:r>
              <a:rPr lang="en-US" dirty="0">
                <a:latin typeface="Arial"/>
                <a:ea typeface="Arial"/>
                <a:cs typeface="Arial"/>
                <a:sym typeface="Arial"/>
              </a:rPr>
              <a:t> are also used most often.</a:t>
            </a:r>
          </a:p>
          <a:p>
            <a:pPr marL="342900" indent="-342900">
              <a:lnSpc>
                <a:spcPct val="100000"/>
              </a:lnSpc>
              <a:spcBef>
                <a:spcPts val="640"/>
              </a:spcBef>
              <a:buClr>
                <a:schemeClr val="dk1"/>
              </a:buClr>
              <a:buSzPts val="3200"/>
              <a:buFont typeface="Arial"/>
              <a:buChar char="•"/>
            </a:pPr>
            <a:r>
              <a:rPr lang="en-US" dirty="0">
                <a:latin typeface="Arial"/>
                <a:ea typeface="Arial"/>
                <a:cs typeface="Arial"/>
                <a:sym typeface="Arial"/>
              </a:rPr>
              <a:t>A Kathak performance may include </a:t>
            </a:r>
            <a:r>
              <a:rPr lang="en-US" b="1" dirty="0">
                <a:latin typeface="Arial"/>
                <a:ea typeface="Arial"/>
                <a:cs typeface="Arial"/>
                <a:sym typeface="Arial"/>
              </a:rPr>
              <a:t>a dozen classical instruments </a:t>
            </a:r>
            <a:r>
              <a:rPr lang="en-US" dirty="0">
                <a:latin typeface="Arial"/>
                <a:ea typeface="Arial"/>
                <a:cs typeface="Arial"/>
                <a:sym typeface="Arial"/>
              </a:rPr>
              <a:t>depending more on the effect and depth required for a particular performance</a:t>
            </a:r>
          </a:p>
          <a:p>
            <a:pPr marL="342900" lvl="0" indent="-342900" algn="l" rtl="0">
              <a:lnSpc>
                <a:spcPct val="100000"/>
              </a:lnSpc>
              <a:spcBef>
                <a:spcPts val="640"/>
              </a:spcBef>
              <a:spcAft>
                <a:spcPts val="0"/>
              </a:spcAft>
              <a:buClr>
                <a:schemeClr val="dk1"/>
              </a:buClr>
              <a:buSzPts val="3200"/>
              <a:buFont typeface="Arial"/>
              <a:buChar char="•"/>
            </a:pPr>
            <a:endParaRPr dirty="0">
              <a:latin typeface="Arial"/>
              <a:ea typeface="Arial"/>
              <a:cs typeface="Arial"/>
              <a:sym typeface="Arial"/>
            </a:endParaRPr>
          </a:p>
        </p:txBody>
      </p:sp>
      <p:pic>
        <p:nvPicPr>
          <p:cNvPr id="191" name="Google Shape;191;p17" descr="kathak-dancer-4-catf"/>
          <p:cNvPicPr preferRelativeResize="0">
            <a:picLocks noGrp="1"/>
          </p:cNvPicPr>
          <p:nvPr>
            <p:ph type="body" idx="2"/>
          </p:nvPr>
        </p:nvPicPr>
        <p:blipFill rotWithShape="1">
          <a:blip r:embed="rId3">
            <a:alphaModFix/>
          </a:blip>
          <a:srcRect/>
          <a:stretch/>
        </p:blipFill>
        <p:spPr>
          <a:xfrm>
            <a:off x="8469630" y="1654810"/>
            <a:ext cx="3197225" cy="3505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0"/>
          <p:cNvSpPr txBox="1">
            <a:spLocks noGrp="1"/>
          </p:cNvSpPr>
          <p:nvPr>
            <p:ph type="body" idx="1"/>
          </p:nvPr>
        </p:nvSpPr>
        <p:spPr>
          <a:xfrm>
            <a:off x="609600" y="3360420"/>
            <a:ext cx="10398760" cy="276606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sz="4400" b="1" dirty="0"/>
              <a:t>What do t</a:t>
            </a:r>
            <a:r>
              <a:rPr lang="en-US" sz="4400" b="1" dirty="0">
                <a:latin typeface="Arial"/>
                <a:ea typeface="Arial"/>
                <a:cs typeface="Arial"/>
                <a:sym typeface="Arial"/>
              </a:rPr>
              <a:t>he texts sung by the singer and enacted by the dancer mostly recount</a:t>
            </a:r>
            <a:endParaRPr sz="4400" b="1" dirty="0">
              <a:latin typeface="Arial"/>
              <a:ea typeface="Arial"/>
              <a:cs typeface="Arial"/>
              <a:sym typeface="Arial"/>
            </a:endParaRPr>
          </a:p>
        </p:txBody>
      </p:sp>
      <p:pic>
        <p:nvPicPr>
          <p:cNvPr id="209" name="Google Shape;209;p20" descr="dance and singer"/>
          <p:cNvPicPr preferRelativeResize="0">
            <a:picLocks noGrp="1"/>
          </p:cNvPicPr>
          <p:nvPr>
            <p:ph type="body" idx="2"/>
          </p:nvPr>
        </p:nvPicPr>
        <p:blipFill rotWithShape="1">
          <a:blip r:embed="rId3">
            <a:alphaModFix/>
          </a:blip>
          <a:srcRect/>
          <a:stretch/>
        </p:blipFill>
        <p:spPr>
          <a:xfrm>
            <a:off x="3651885" y="637540"/>
            <a:ext cx="4934585" cy="24447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20BB-F687-82EE-D27E-A5B4F2C8EAC9}"/>
              </a:ext>
            </a:extLst>
          </p:cNvPr>
          <p:cNvSpPr>
            <a:spLocks noGrp="1"/>
          </p:cNvSpPr>
          <p:nvPr>
            <p:ph type="title"/>
          </p:nvPr>
        </p:nvSpPr>
        <p:spPr>
          <a:xfrm>
            <a:off x="838200" y="365125"/>
            <a:ext cx="10515600" cy="3872578"/>
          </a:xfrm>
        </p:spPr>
        <p:txBody>
          <a:bodyPr>
            <a:normAutofit/>
          </a:bodyPr>
          <a:lstStyle/>
          <a:p>
            <a:pPr marL="342900" lvl="0" indent="-342900">
              <a:lnSpc>
                <a:spcPct val="100000"/>
              </a:lnSpc>
              <a:spcBef>
                <a:spcPts val="0"/>
              </a:spcBef>
            </a:pPr>
            <a:r>
              <a:rPr lang="en-US" b="1" dirty="0">
                <a:latin typeface="Arial"/>
                <a:ea typeface="Arial"/>
                <a:cs typeface="Arial"/>
                <a:sym typeface="Arial"/>
              </a:rPr>
              <a:t>short episodes of Krishna’s life. </a:t>
            </a:r>
            <a:br>
              <a:rPr lang="en-US" b="1" dirty="0">
                <a:latin typeface="Arial"/>
                <a:ea typeface="Arial"/>
                <a:cs typeface="Arial"/>
                <a:sym typeface="Arial"/>
              </a:rPr>
            </a:br>
            <a:r>
              <a:rPr lang="en-US" b="1" dirty="0">
                <a:latin typeface="Arial"/>
                <a:ea typeface="Arial"/>
                <a:cs typeface="Arial"/>
                <a:sym typeface="Arial"/>
              </a:rPr>
              <a:t>Mystical Urdu love poems are also included in the repertoire.</a:t>
            </a:r>
            <a:br>
              <a:rPr lang="en-US" b="1" dirty="0">
                <a:latin typeface="Arial"/>
                <a:ea typeface="Arial"/>
                <a:cs typeface="Arial"/>
                <a:sym typeface="Arial"/>
              </a:rPr>
            </a:br>
            <a:endParaRPr lang="en-IN" b="1" dirty="0"/>
          </a:p>
        </p:txBody>
      </p:sp>
    </p:spTree>
    <p:extLst>
      <p:ext uri="{BB962C8B-B14F-4D97-AF65-F5344CB8AC3E}">
        <p14:creationId xmlns:p14="http://schemas.microsoft.com/office/powerpoint/2010/main" val="34724618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a:spLocks noGrp="1"/>
          </p:cNvSpPr>
          <p:nvPr>
            <p:ph type="title"/>
          </p:nvPr>
        </p:nvSpPr>
        <p:spPr>
          <a:xfrm>
            <a:off x="763905" y="197803"/>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Arial"/>
              <a:buNone/>
            </a:pPr>
            <a:r>
              <a:rPr lang="en-US">
                <a:latin typeface="Arial"/>
                <a:ea typeface="Arial"/>
                <a:cs typeface="Arial"/>
                <a:sym typeface="Arial"/>
              </a:rPr>
              <a:t>Famous exponents</a:t>
            </a:r>
            <a:endParaRPr>
              <a:latin typeface="Arial"/>
              <a:ea typeface="Arial"/>
              <a:cs typeface="Arial"/>
              <a:sym typeface="Arial"/>
            </a:endParaRPr>
          </a:p>
        </p:txBody>
      </p:sp>
      <p:sp>
        <p:nvSpPr>
          <p:cNvPr id="215" name="Google Shape;215;p21"/>
          <p:cNvSpPr txBox="1">
            <a:spLocks noGrp="1"/>
          </p:cNvSpPr>
          <p:nvPr>
            <p:ph type="body" idx="1"/>
          </p:nvPr>
        </p:nvSpPr>
        <p:spPr>
          <a:xfrm>
            <a:off x="3282315" y="2603500"/>
            <a:ext cx="8606155" cy="267335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a:latin typeface="Arial"/>
                <a:ea typeface="Arial"/>
                <a:cs typeface="Arial"/>
                <a:sym typeface="Arial"/>
              </a:rPr>
              <a:t>Imminent personalities associated with Kathak include among others the founders of the different gharanas or schools of this form of classical dance namely </a:t>
            </a:r>
            <a:r>
              <a:rPr lang="en-US" b="1">
                <a:latin typeface="Arial"/>
                <a:ea typeface="Arial"/>
                <a:cs typeface="Arial"/>
                <a:sym typeface="Arial"/>
              </a:rPr>
              <a:t>Bhanuji of the Jaipur Gharana</a:t>
            </a:r>
            <a:endParaRPr b="1">
              <a:latin typeface="Arial"/>
              <a:ea typeface="Arial"/>
              <a:cs typeface="Arial"/>
              <a:sym typeface="Arial"/>
            </a:endParaRPr>
          </a:p>
        </p:txBody>
      </p:sp>
      <p:pic>
        <p:nvPicPr>
          <p:cNvPr id="216" name="Google Shape;216;p21" descr="download"/>
          <p:cNvPicPr preferRelativeResize="0">
            <a:picLocks noGrp="1"/>
          </p:cNvPicPr>
          <p:nvPr>
            <p:ph type="body" idx="2"/>
          </p:nvPr>
        </p:nvPicPr>
        <p:blipFill rotWithShape="1">
          <a:blip r:embed="rId3">
            <a:alphaModFix/>
          </a:blip>
          <a:srcRect/>
          <a:stretch/>
        </p:blipFill>
        <p:spPr>
          <a:xfrm>
            <a:off x="422275" y="1341120"/>
            <a:ext cx="2738120" cy="2580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2"/>
          <p:cNvSpPr txBox="1">
            <a:spLocks noGrp="1"/>
          </p:cNvSpPr>
          <p:nvPr>
            <p:ph type="body" idx="1"/>
          </p:nvPr>
        </p:nvSpPr>
        <p:spPr>
          <a:xfrm>
            <a:off x="609600" y="1600200"/>
            <a:ext cx="6967855" cy="330581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Arial"/>
              <a:buChar char="•"/>
            </a:pPr>
            <a:r>
              <a:rPr lang="en-US">
                <a:latin typeface="Arial"/>
                <a:ea typeface="Arial"/>
                <a:cs typeface="Arial"/>
                <a:sym typeface="Arial"/>
              </a:rPr>
              <a:t>Janaki Prasad of the Benaras Gharana; Ishwari Prasad, Pandit Birju Maharaj of the Lucknow Gharana; and Raja Chakradhar Singh of the Raigarh Gharana.</a:t>
            </a:r>
            <a:endParaRPr>
              <a:latin typeface="Arial"/>
              <a:ea typeface="Arial"/>
              <a:cs typeface="Arial"/>
              <a:sym typeface="Arial"/>
            </a:endParaRPr>
          </a:p>
        </p:txBody>
      </p:sp>
      <p:pic>
        <p:nvPicPr>
          <p:cNvPr id="222" name="Google Shape;222;p22" descr="Pandit-Birju-Maharaj"/>
          <p:cNvPicPr preferRelativeResize="0">
            <a:picLocks noGrp="1"/>
          </p:cNvPicPr>
          <p:nvPr>
            <p:ph type="body" idx="2"/>
          </p:nvPr>
        </p:nvPicPr>
        <p:blipFill rotWithShape="1">
          <a:blip r:embed="rId3">
            <a:alphaModFix/>
          </a:blip>
          <a:srcRect/>
          <a:stretch/>
        </p:blipFill>
        <p:spPr>
          <a:xfrm>
            <a:off x="8898255" y="2649855"/>
            <a:ext cx="2570480" cy="29368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1A9BC-CCFB-C5EF-E204-CD6200F01C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04678A-A8D4-EE66-51EC-80D130BF1F57}"/>
              </a:ext>
            </a:extLst>
          </p:cNvPr>
          <p:cNvSpPr>
            <a:spLocks noGrp="1"/>
          </p:cNvSpPr>
          <p:nvPr>
            <p:ph idx="1"/>
          </p:nvPr>
        </p:nvSpPr>
        <p:spPr/>
        <p:txBody>
          <a:bodyPr>
            <a:normAutofit/>
          </a:bodyPr>
          <a:lstStyle/>
          <a:p>
            <a:r>
              <a:rPr lang="en-US" sz="5400" b="1" dirty="0"/>
              <a:t> In which of the following is reference of Indian Dance forms found?</a:t>
            </a:r>
            <a:endParaRPr lang="en-IN" sz="5400" b="1" dirty="0"/>
          </a:p>
        </p:txBody>
      </p:sp>
    </p:spTree>
    <p:extLst>
      <p:ext uri="{BB962C8B-B14F-4D97-AF65-F5344CB8AC3E}">
        <p14:creationId xmlns:p14="http://schemas.microsoft.com/office/powerpoint/2010/main" val="31951380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6EEF-C3CE-75E1-AF7F-A5A1B00DC0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E90B7B-FFC6-C68C-B70E-F821CBB7E050}"/>
              </a:ext>
            </a:extLst>
          </p:cNvPr>
          <p:cNvSpPr>
            <a:spLocks noGrp="1"/>
          </p:cNvSpPr>
          <p:nvPr>
            <p:ph idx="1"/>
          </p:nvPr>
        </p:nvSpPr>
        <p:spPr/>
        <p:txBody>
          <a:bodyPr/>
          <a:lstStyle/>
          <a:p>
            <a:r>
              <a:rPr lang="en-IN" dirty="0"/>
              <a:t> </a:t>
            </a:r>
            <a:r>
              <a:rPr lang="en-IN" sz="4800" b="1" dirty="0" err="1"/>
              <a:t>Natya</a:t>
            </a:r>
            <a:r>
              <a:rPr lang="en-IN" sz="4800" b="1" dirty="0"/>
              <a:t> Shastra</a:t>
            </a:r>
          </a:p>
          <a:p>
            <a:endParaRPr lang="en-IN" sz="4800" b="1" dirty="0"/>
          </a:p>
          <a:p>
            <a:r>
              <a:rPr lang="en-US" dirty="0"/>
              <a:t> </a:t>
            </a:r>
            <a:r>
              <a:rPr lang="en-US" b="1" dirty="0"/>
              <a:t>The </a:t>
            </a:r>
            <a:r>
              <a:rPr lang="en-US" b="1" dirty="0" err="1"/>
              <a:t>Nāṭya</a:t>
            </a:r>
            <a:r>
              <a:rPr lang="en-US" b="1" dirty="0"/>
              <a:t> </a:t>
            </a:r>
            <a:r>
              <a:rPr lang="en-US" b="1" dirty="0" err="1"/>
              <a:t>Śāstra</a:t>
            </a:r>
            <a:r>
              <a:rPr lang="en-US" b="1" dirty="0"/>
              <a:t> is a Sanskrit text on the performing arts. The text is attributed to sage Bharata Muni, and its first complete compilation is dated to between 200 BCE and 200 CE, but estimates vary between 500 BCE and 500 CE.</a:t>
            </a:r>
            <a:endParaRPr lang="en-IN" b="1" dirty="0"/>
          </a:p>
        </p:txBody>
      </p:sp>
    </p:spTree>
    <p:extLst>
      <p:ext uri="{BB962C8B-B14F-4D97-AF65-F5344CB8AC3E}">
        <p14:creationId xmlns:p14="http://schemas.microsoft.com/office/powerpoint/2010/main" val="9963140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94227-0288-3330-4397-F88BA2557574}"/>
              </a:ext>
            </a:extLst>
          </p:cNvPr>
          <p:cNvSpPr>
            <a:spLocks noGrp="1"/>
          </p:cNvSpPr>
          <p:nvPr>
            <p:ph idx="1"/>
          </p:nvPr>
        </p:nvSpPr>
        <p:spPr>
          <a:xfrm>
            <a:off x="296662" y="-65319"/>
            <a:ext cx="10515600" cy="4351338"/>
          </a:xfrm>
        </p:spPr>
        <p:txBody>
          <a:bodyPr>
            <a:normAutofit/>
          </a:bodyPr>
          <a:lstStyle/>
          <a:p>
            <a:r>
              <a:rPr lang="en-US" sz="5400" b="1" dirty="0"/>
              <a:t> The </a:t>
            </a:r>
            <a:r>
              <a:rPr lang="en-US" sz="5400" b="1" dirty="0" err="1"/>
              <a:t>Jagoi</a:t>
            </a:r>
            <a:r>
              <a:rPr lang="en-US" sz="5400" b="1" dirty="0"/>
              <a:t> Dance is a dance form of which state ? </a:t>
            </a:r>
            <a:endParaRPr lang="en-IN" sz="5400" b="1" dirty="0"/>
          </a:p>
        </p:txBody>
      </p:sp>
      <p:pic>
        <p:nvPicPr>
          <p:cNvPr id="8194" name="Picture 2" descr="Manipuri or Jagoi Dance Photograph by Prabhas Roy | Fine Art America">
            <a:extLst>
              <a:ext uri="{FF2B5EF4-FFF2-40B4-BE49-F238E27FC236}">
                <a16:creationId xmlns:a16="http://schemas.microsoft.com/office/drawing/2014/main" id="{906FBC19-CF9F-A62A-C3F4-FBF23A9AF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570700"/>
            <a:ext cx="8572500" cy="504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8229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1655-29F5-698D-A8A7-73FC31F4B7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B948C5-7F98-B7D4-2C0D-B90310B62D6D}"/>
              </a:ext>
            </a:extLst>
          </p:cNvPr>
          <p:cNvSpPr>
            <a:spLocks noGrp="1"/>
          </p:cNvSpPr>
          <p:nvPr>
            <p:ph idx="1"/>
          </p:nvPr>
        </p:nvSpPr>
        <p:spPr/>
        <p:txBody>
          <a:bodyPr/>
          <a:lstStyle/>
          <a:p>
            <a:r>
              <a:rPr lang="en-US" dirty="0"/>
              <a:t> </a:t>
            </a:r>
            <a:r>
              <a:rPr lang="en-US" sz="4400" b="1" dirty="0"/>
              <a:t>Manipur</a:t>
            </a:r>
            <a:r>
              <a:rPr lang="en-US" dirty="0"/>
              <a:t>  </a:t>
            </a:r>
          </a:p>
          <a:p>
            <a:endParaRPr lang="en-US" dirty="0"/>
          </a:p>
          <a:p>
            <a:r>
              <a:rPr lang="en-US" dirty="0"/>
              <a:t>Manipuri dance, also known as </a:t>
            </a:r>
            <a:r>
              <a:rPr lang="en-US" dirty="0" err="1"/>
              <a:t>Jagoi</a:t>
            </a:r>
            <a:r>
              <a:rPr lang="en-US" dirty="0"/>
              <a:t>, is one of the major Indian classical dance forms, named after the region of its origin – Manipur, a state in northeastern India bordering with Myanmar (Burma), Assam, Nagaland and Mizoram. </a:t>
            </a:r>
            <a:endParaRPr lang="en-IN" dirty="0"/>
          </a:p>
        </p:txBody>
      </p:sp>
    </p:spTree>
    <p:extLst>
      <p:ext uri="{BB962C8B-B14F-4D97-AF65-F5344CB8AC3E}">
        <p14:creationId xmlns:p14="http://schemas.microsoft.com/office/powerpoint/2010/main" val="36216979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825625"/>
            <a:ext cx="11353800" cy="4351338"/>
          </a:xfrm>
        </p:spPr>
        <p:txBody>
          <a:bodyPr>
            <a:normAutofit/>
          </a:bodyPr>
          <a:lstStyle/>
          <a:p>
            <a:r>
              <a:rPr lang="en-IN" dirty="0"/>
              <a:t> </a:t>
            </a:r>
            <a:r>
              <a:rPr lang="en-IN" sz="7200" dirty="0"/>
              <a:t>Which dance is based on </a:t>
            </a:r>
            <a:r>
              <a:rPr lang="en-IN" sz="7200" dirty="0" err="1"/>
              <a:t>Geethagovindam</a:t>
            </a:r>
            <a:r>
              <a:rPr lang="en-IN" sz="7200" dirty="0"/>
              <a:t> written by Jayadevan ?</a:t>
            </a:r>
            <a:br>
              <a:rPr lang="en-IN" sz="7200" dirty="0"/>
            </a:br>
            <a:r>
              <a:rPr lang="en-IN" sz="3200" dirty="0"/>
              <a:t>  </a:t>
            </a:r>
            <a:endParaRPr lang="en-IN" dirty="0"/>
          </a:p>
          <a:p>
            <a:endParaRPr lang="en-IN" dirty="0"/>
          </a:p>
        </p:txBody>
      </p:sp>
    </p:spTree>
    <p:extLst>
      <p:ext uri="{BB962C8B-B14F-4D97-AF65-F5344CB8AC3E}">
        <p14:creationId xmlns:p14="http://schemas.microsoft.com/office/powerpoint/2010/main" val="98702132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2A10F-3A1B-4E0C-90C6-34C74EB580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46E2C0-103D-4AFB-90E9-8E3394D82B6D}"/>
              </a:ext>
            </a:extLst>
          </p:cNvPr>
          <p:cNvSpPr>
            <a:spLocks noGrp="1"/>
          </p:cNvSpPr>
          <p:nvPr>
            <p:ph idx="1"/>
          </p:nvPr>
        </p:nvSpPr>
        <p:spPr/>
        <p:txBody>
          <a:bodyPr/>
          <a:lstStyle/>
          <a:p>
            <a:r>
              <a:rPr lang="en-IN" sz="7200" b="1" dirty="0"/>
              <a:t>Odissi dance</a:t>
            </a:r>
            <a:br>
              <a:rPr lang="en-IN" sz="7200" b="1" dirty="0"/>
            </a:br>
            <a:r>
              <a:rPr lang="en-IN" sz="7200" b="1" dirty="0"/>
              <a:t> </a:t>
            </a:r>
          </a:p>
          <a:p>
            <a:endParaRPr lang="en-IN" dirty="0"/>
          </a:p>
        </p:txBody>
      </p:sp>
    </p:spTree>
    <p:extLst>
      <p:ext uri="{BB962C8B-B14F-4D97-AF65-F5344CB8AC3E}">
        <p14:creationId xmlns:p14="http://schemas.microsoft.com/office/powerpoint/2010/main" val="33708001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Picture 1" descr="C:\Users\cyriac\Downloads\download (5).jpg"/>
          <p:cNvPicPr>
            <a:picLocks noChangeAspect="1" noChangeArrowheads="1"/>
          </p:cNvPicPr>
          <p:nvPr/>
        </p:nvPicPr>
        <p:blipFill>
          <a:blip r:embed="rId2" cstate="print"/>
          <a:srcRect/>
          <a:stretch>
            <a:fillRect/>
          </a:stretch>
        </p:blipFill>
        <p:spPr bwMode="auto">
          <a:xfrm>
            <a:off x="2024034" y="1643050"/>
            <a:ext cx="1181100" cy="1771650"/>
          </a:xfrm>
          <a:prstGeom prst="rect">
            <a:avLst/>
          </a:prstGeom>
          <a:noFill/>
        </p:spPr>
      </p:pic>
      <p:sp>
        <p:nvSpPr>
          <p:cNvPr id="5" name="Rectangle 4"/>
          <p:cNvSpPr/>
          <p:nvPr/>
        </p:nvSpPr>
        <p:spPr>
          <a:xfrm>
            <a:off x="3407989" y="1741121"/>
            <a:ext cx="7644710"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sz="6000" b="1" dirty="0" err="1"/>
              <a:t>Shovana</a:t>
            </a:r>
            <a:r>
              <a:rPr lang="en-IN" sz="6000" b="1" dirty="0"/>
              <a:t> Narayan is best known as one of the best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76254-46F8-4493-98A4-283530F6291D}"/>
              </a:ext>
            </a:extLst>
          </p:cNvPr>
          <p:cNvSpPr>
            <a:spLocks noGrp="1"/>
          </p:cNvSpPr>
          <p:nvPr>
            <p:ph type="title"/>
          </p:nvPr>
        </p:nvSpPr>
        <p:spPr/>
        <p:txBody>
          <a:bodyPr/>
          <a:lstStyle/>
          <a:p>
            <a:r>
              <a:rPr lang="en-IN" sz="4400" b="1" dirty="0"/>
              <a:t>Kathak dancers in the world.</a:t>
            </a:r>
            <a:endParaRPr lang="en-IN" dirty="0"/>
          </a:p>
        </p:txBody>
      </p:sp>
      <p:sp>
        <p:nvSpPr>
          <p:cNvPr id="3" name="Content Placeholder 2">
            <a:extLst>
              <a:ext uri="{FF2B5EF4-FFF2-40B4-BE49-F238E27FC236}">
                <a16:creationId xmlns:a16="http://schemas.microsoft.com/office/drawing/2014/main" id="{BFBC19D0-71EC-4512-8780-4A620857F38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89155406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C47B-5418-0979-E459-2022BB0117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C45655-93E0-29E7-A558-6E464A751735}"/>
              </a:ext>
            </a:extLst>
          </p:cNvPr>
          <p:cNvSpPr>
            <a:spLocks noGrp="1"/>
          </p:cNvSpPr>
          <p:nvPr>
            <p:ph idx="1"/>
          </p:nvPr>
        </p:nvSpPr>
        <p:spPr/>
        <p:txBody>
          <a:bodyPr/>
          <a:lstStyle/>
          <a:p>
            <a:r>
              <a:rPr lang="en-US" b="1" dirty="0"/>
              <a:t>Abhinaya Darpana </a:t>
            </a:r>
            <a:r>
              <a:rPr lang="en-US" dirty="0"/>
              <a:t>by </a:t>
            </a:r>
            <a:r>
              <a:rPr lang="en-US" b="1" dirty="0" err="1"/>
              <a:t>Nandikesvara</a:t>
            </a:r>
            <a:r>
              <a:rPr lang="en-US" dirty="0"/>
              <a:t> talk about which  dance form?</a:t>
            </a:r>
            <a:endParaRPr lang="en-IN" dirty="0"/>
          </a:p>
        </p:txBody>
      </p:sp>
    </p:spTree>
    <p:extLst>
      <p:ext uri="{BB962C8B-B14F-4D97-AF65-F5344CB8AC3E}">
        <p14:creationId xmlns:p14="http://schemas.microsoft.com/office/powerpoint/2010/main" val="24015395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D164-33ED-A20E-C986-C13C3B1CAF42}"/>
              </a:ext>
            </a:extLst>
          </p:cNvPr>
          <p:cNvSpPr>
            <a:spLocks noGrp="1"/>
          </p:cNvSpPr>
          <p:nvPr>
            <p:ph type="title"/>
          </p:nvPr>
        </p:nvSpPr>
        <p:spPr/>
        <p:txBody>
          <a:bodyPr/>
          <a:lstStyle/>
          <a:p>
            <a:r>
              <a:rPr lang="en-US" b="1" dirty="0" err="1"/>
              <a:t>Bharathanatyam</a:t>
            </a:r>
            <a:endParaRPr lang="en-IN" b="1" dirty="0"/>
          </a:p>
        </p:txBody>
      </p:sp>
      <p:sp>
        <p:nvSpPr>
          <p:cNvPr id="3" name="Content Placeholder 2">
            <a:extLst>
              <a:ext uri="{FF2B5EF4-FFF2-40B4-BE49-F238E27FC236}">
                <a16:creationId xmlns:a16="http://schemas.microsoft.com/office/drawing/2014/main" id="{D2FCF750-2784-9BE8-A5DF-63314617A18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172900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017D6-0244-9439-D0D0-EE16F9A955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A83E1B-6588-F695-C2E1-7BAA21C592D8}"/>
              </a:ext>
            </a:extLst>
          </p:cNvPr>
          <p:cNvSpPr>
            <a:spLocks noGrp="1"/>
          </p:cNvSpPr>
          <p:nvPr>
            <p:ph idx="1"/>
          </p:nvPr>
        </p:nvSpPr>
        <p:spPr/>
        <p:txBody>
          <a:bodyPr/>
          <a:lstStyle/>
          <a:p>
            <a:r>
              <a:rPr lang="en-US" b="1" dirty="0"/>
              <a:t>A notable sculpture can be seen in Cave 1 of Karnataka’s Badami cave temples dating back to the 7th century where a 5 feet tall sculpture of Lord Shiva is depicted as Nataraja doing Tandava dance. The 18 arms of the Shiva sculpture expresses mudras or hand gestures of which dance ?</a:t>
            </a:r>
            <a:endParaRPr lang="en-IN" b="1" dirty="0"/>
          </a:p>
        </p:txBody>
      </p:sp>
    </p:spTree>
    <p:extLst>
      <p:ext uri="{BB962C8B-B14F-4D97-AF65-F5344CB8AC3E}">
        <p14:creationId xmlns:p14="http://schemas.microsoft.com/office/powerpoint/2010/main" val="3396753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EEBD-08F4-E8DD-4124-41F8C5775C31}"/>
              </a:ext>
            </a:extLst>
          </p:cNvPr>
          <p:cNvSpPr>
            <a:spLocks noGrp="1"/>
          </p:cNvSpPr>
          <p:nvPr>
            <p:ph type="title"/>
          </p:nvPr>
        </p:nvSpPr>
        <p:spPr/>
        <p:txBody>
          <a:bodyPr>
            <a:normAutofit/>
          </a:bodyPr>
          <a:lstStyle/>
          <a:p>
            <a:r>
              <a:rPr lang="en-US" sz="6600" b="1" dirty="0"/>
              <a:t>Bharatanatyam.</a:t>
            </a:r>
            <a:endParaRPr lang="en-IN" sz="6600" b="1" dirty="0"/>
          </a:p>
        </p:txBody>
      </p:sp>
      <p:sp>
        <p:nvSpPr>
          <p:cNvPr id="3" name="Content Placeholder 2">
            <a:extLst>
              <a:ext uri="{FF2B5EF4-FFF2-40B4-BE49-F238E27FC236}">
                <a16:creationId xmlns:a16="http://schemas.microsoft.com/office/drawing/2014/main" id="{F32B3D59-0482-923B-1646-A4C639A370A4}"/>
              </a:ext>
            </a:extLst>
          </p:cNvPr>
          <p:cNvSpPr>
            <a:spLocks noGrp="1"/>
          </p:cNvSpPr>
          <p:nvPr>
            <p:ph idx="1"/>
          </p:nvPr>
        </p:nvSpPr>
        <p:spPr/>
        <p:txBody>
          <a:bodyPr/>
          <a:lstStyle/>
          <a:p>
            <a:endParaRPr lang="en-IN"/>
          </a:p>
        </p:txBody>
      </p:sp>
      <p:pic>
        <p:nvPicPr>
          <p:cNvPr id="19458" name="Picture 2" descr="Tandava dance of Lord Shiva found in Badami caves">
            <a:extLst>
              <a:ext uri="{FF2B5EF4-FFF2-40B4-BE49-F238E27FC236}">
                <a16:creationId xmlns:a16="http://schemas.microsoft.com/office/drawing/2014/main" id="{10041EB4-750C-F3EC-7367-0591F5685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866" y="1445342"/>
            <a:ext cx="8310563" cy="5412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436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6C97-129A-0F66-BDAD-35E01A0A2AF7}"/>
              </a:ext>
            </a:extLst>
          </p:cNvPr>
          <p:cNvSpPr>
            <a:spLocks noGrp="1"/>
          </p:cNvSpPr>
          <p:nvPr>
            <p:ph type="title"/>
          </p:nvPr>
        </p:nvSpPr>
        <p:spPr>
          <a:xfrm>
            <a:off x="838200" y="365125"/>
            <a:ext cx="10515600" cy="2859856"/>
          </a:xfrm>
        </p:spPr>
        <p:txBody>
          <a:bodyPr>
            <a:normAutofit/>
          </a:bodyPr>
          <a:lstStyle/>
          <a:p>
            <a:r>
              <a:rPr lang="en-US" b="1" dirty="0"/>
              <a:t>Which dance form is associated </a:t>
            </a:r>
            <a:r>
              <a:rPr lang="en-US" b="1" dirty="0" err="1"/>
              <a:t>withEkaharya</a:t>
            </a:r>
            <a:r>
              <a:rPr lang="en-US" b="1" dirty="0"/>
              <a:t>, where one dancer takes on many roles in a single performance</a:t>
            </a:r>
            <a:br>
              <a:rPr lang="en-US" dirty="0"/>
            </a:br>
            <a:endParaRPr lang="en-IN" dirty="0"/>
          </a:p>
        </p:txBody>
      </p:sp>
    </p:spTree>
    <p:extLst>
      <p:ext uri="{BB962C8B-B14F-4D97-AF65-F5344CB8AC3E}">
        <p14:creationId xmlns:p14="http://schemas.microsoft.com/office/powerpoint/2010/main" val="16532237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B5DAD-68AA-61E4-4120-B6A53B654C6B}"/>
              </a:ext>
            </a:extLst>
          </p:cNvPr>
          <p:cNvSpPr>
            <a:spLocks noGrp="1"/>
          </p:cNvSpPr>
          <p:nvPr>
            <p:ph type="title"/>
          </p:nvPr>
        </p:nvSpPr>
        <p:spPr/>
        <p:txBody>
          <a:bodyPr>
            <a:normAutofit/>
          </a:bodyPr>
          <a:lstStyle/>
          <a:p>
            <a:r>
              <a:rPr lang="en-US" sz="7200" b="1" dirty="0" err="1"/>
              <a:t>Bharathanatyam</a:t>
            </a:r>
            <a:endParaRPr lang="en-IN" sz="7200" b="1" dirty="0"/>
          </a:p>
        </p:txBody>
      </p:sp>
      <p:sp>
        <p:nvSpPr>
          <p:cNvPr id="3" name="Content Placeholder 2">
            <a:extLst>
              <a:ext uri="{FF2B5EF4-FFF2-40B4-BE49-F238E27FC236}">
                <a16:creationId xmlns:a16="http://schemas.microsoft.com/office/drawing/2014/main" id="{030BC0F7-719D-773B-FEC3-FFD9E0169686}"/>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0161230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C99B6-32FB-EC89-8655-0DCAA69B13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F0BDF4-0477-4E8B-551C-BD0E0590AB81}"/>
              </a:ext>
            </a:extLst>
          </p:cNvPr>
          <p:cNvSpPr>
            <a:spLocks noGrp="1"/>
          </p:cNvSpPr>
          <p:nvPr>
            <p:ph idx="1"/>
          </p:nvPr>
        </p:nvSpPr>
        <p:spPr/>
        <p:txBody>
          <a:bodyPr>
            <a:normAutofit/>
          </a:bodyPr>
          <a:lstStyle/>
          <a:p>
            <a:r>
              <a:rPr lang="en-US" sz="3600" b="1" dirty="0"/>
              <a:t>What are the four </a:t>
            </a:r>
            <a:r>
              <a:rPr lang="en-US" sz="3600" b="1" dirty="0" err="1"/>
              <a:t>Nattuvanars</a:t>
            </a:r>
            <a:r>
              <a:rPr lang="en-US" sz="3600" b="1" dirty="0"/>
              <a:t> namely </a:t>
            </a:r>
            <a:r>
              <a:rPr lang="en-US" sz="3600" b="1" dirty="0" err="1"/>
              <a:t>Ponaiyah</a:t>
            </a:r>
            <a:r>
              <a:rPr lang="en-US" sz="3600" b="1" dirty="0"/>
              <a:t>, Vadivelu, </a:t>
            </a:r>
            <a:r>
              <a:rPr lang="en-US" sz="3600" b="1" dirty="0" err="1"/>
              <a:t>Sivanandam</a:t>
            </a:r>
            <a:r>
              <a:rPr lang="en-US" sz="3600" b="1" dirty="0"/>
              <a:t> and </a:t>
            </a:r>
            <a:r>
              <a:rPr lang="en-US" sz="3600" b="1" dirty="0" err="1"/>
              <a:t>Chinnaiya</a:t>
            </a:r>
            <a:r>
              <a:rPr lang="en-US" sz="3600" b="1" dirty="0"/>
              <a:t> who are renowned as Tanjore Bandhu associated with?</a:t>
            </a:r>
            <a:endParaRPr lang="en-IN" sz="3600" b="1" dirty="0"/>
          </a:p>
        </p:txBody>
      </p:sp>
    </p:spTree>
    <p:extLst>
      <p:ext uri="{BB962C8B-B14F-4D97-AF65-F5344CB8AC3E}">
        <p14:creationId xmlns:p14="http://schemas.microsoft.com/office/powerpoint/2010/main" val="31185726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492CA-EB05-4B3B-C7CF-9C18DABBF97C}"/>
              </a:ext>
            </a:extLst>
          </p:cNvPr>
          <p:cNvSpPr>
            <a:spLocks noGrp="1"/>
          </p:cNvSpPr>
          <p:nvPr>
            <p:ph type="title"/>
          </p:nvPr>
        </p:nvSpPr>
        <p:spPr/>
        <p:txBody>
          <a:bodyPr>
            <a:normAutofit/>
          </a:bodyPr>
          <a:lstStyle/>
          <a:p>
            <a:r>
              <a:rPr lang="en-US" sz="6600" b="1" dirty="0" err="1"/>
              <a:t>Bharathanatyam</a:t>
            </a:r>
            <a:endParaRPr lang="en-IN" sz="6600" dirty="0"/>
          </a:p>
        </p:txBody>
      </p:sp>
      <p:sp>
        <p:nvSpPr>
          <p:cNvPr id="3" name="Content Placeholder 2">
            <a:extLst>
              <a:ext uri="{FF2B5EF4-FFF2-40B4-BE49-F238E27FC236}">
                <a16:creationId xmlns:a16="http://schemas.microsoft.com/office/drawing/2014/main" id="{D66FE338-2538-026D-9FC6-7D2A6AD3287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8913544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335A-FA43-3F29-6FD9-59E9C4E112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AF5B61-9339-E3ED-46C5-9B63F93392F1}"/>
              </a:ext>
            </a:extLst>
          </p:cNvPr>
          <p:cNvSpPr>
            <a:spLocks noGrp="1"/>
          </p:cNvSpPr>
          <p:nvPr>
            <p:ph idx="1"/>
          </p:nvPr>
        </p:nvSpPr>
        <p:spPr/>
        <p:txBody>
          <a:bodyPr>
            <a:normAutofit/>
          </a:bodyPr>
          <a:lstStyle/>
          <a:p>
            <a:r>
              <a:rPr lang="en-IN" sz="4000" b="1" dirty="0"/>
              <a:t>Rukmini Devi who championed and performed the </a:t>
            </a:r>
            <a:r>
              <a:rPr lang="en-IN" sz="4000" b="1" dirty="0" err="1"/>
              <a:t>Pandanallur</a:t>
            </a:r>
            <a:r>
              <a:rPr lang="en-IN" sz="4000" b="1" dirty="0"/>
              <a:t> (Kalakshetra) style was the student of ?</a:t>
            </a:r>
          </a:p>
        </p:txBody>
      </p:sp>
    </p:spTree>
    <p:extLst>
      <p:ext uri="{BB962C8B-B14F-4D97-AF65-F5344CB8AC3E}">
        <p14:creationId xmlns:p14="http://schemas.microsoft.com/office/powerpoint/2010/main" val="32756003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B2912-0B09-2BDD-9AC0-1CE138735C71}"/>
              </a:ext>
            </a:extLst>
          </p:cNvPr>
          <p:cNvSpPr>
            <a:spLocks noGrp="1"/>
          </p:cNvSpPr>
          <p:nvPr>
            <p:ph type="title"/>
          </p:nvPr>
        </p:nvSpPr>
        <p:spPr/>
        <p:txBody>
          <a:bodyPr>
            <a:normAutofit/>
          </a:bodyPr>
          <a:lstStyle/>
          <a:p>
            <a:r>
              <a:rPr lang="en-IN" sz="5400" b="1" dirty="0"/>
              <a:t>Meenakshi Sundaram Pillai</a:t>
            </a:r>
            <a:endParaRPr lang="en-IN" sz="5400" dirty="0"/>
          </a:p>
        </p:txBody>
      </p:sp>
      <p:sp>
        <p:nvSpPr>
          <p:cNvPr id="3" name="Content Placeholder 2">
            <a:extLst>
              <a:ext uri="{FF2B5EF4-FFF2-40B4-BE49-F238E27FC236}">
                <a16:creationId xmlns:a16="http://schemas.microsoft.com/office/drawing/2014/main" id="{05AD03BA-758D-A63F-9079-FC523E2863C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248074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F665-29E4-2061-C0FC-70943FEECAD0}"/>
              </a:ext>
            </a:extLst>
          </p:cNvPr>
          <p:cNvSpPr>
            <a:spLocks noGrp="1"/>
          </p:cNvSpPr>
          <p:nvPr>
            <p:ph type="title"/>
          </p:nvPr>
        </p:nvSpPr>
        <p:spPr/>
        <p:txBody>
          <a:bodyPr>
            <a:normAutofit/>
          </a:bodyPr>
          <a:lstStyle/>
          <a:p>
            <a:r>
              <a:rPr lang="en-US" sz="7200" b="1" dirty="0">
                <a:solidFill>
                  <a:srgbClr val="C00000"/>
                </a:solidFill>
              </a:rPr>
              <a:t>CLASSICAL DANCERS</a:t>
            </a:r>
            <a:endParaRPr lang="en-IN" sz="7200" b="1" dirty="0">
              <a:solidFill>
                <a:srgbClr val="C00000"/>
              </a:solidFill>
            </a:endParaRPr>
          </a:p>
        </p:txBody>
      </p:sp>
      <p:sp>
        <p:nvSpPr>
          <p:cNvPr id="3" name="Content Placeholder 2">
            <a:extLst>
              <a:ext uri="{FF2B5EF4-FFF2-40B4-BE49-F238E27FC236}">
                <a16:creationId xmlns:a16="http://schemas.microsoft.com/office/drawing/2014/main" id="{2446DF55-09D4-01F0-114D-E2E0C4857CB4}"/>
              </a:ext>
            </a:extLst>
          </p:cNvPr>
          <p:cNvSpPr>
            <a:spLocks noGrp="1"/>
          </p:cNvSpPr>
          <p:nvPr>
            <p:ph idx="1"/>
          </p:nvPr>
        </p:nvSpPr>
        <p:spPr/>
        <p:txBody>
          <a:bodyPr>
            <a:normAutofit/>
          </a:bodyPr>
          <a:lstStyle/>
          <a:p>
            <a:pPr algn="l">
              <a:buFont typeface="Arial" panose="020B0604020202020204" pitchFamily="34" charset="0"/>
              <a:buChar char="•"/>
            </a:pPr>
            <a:r>
              <a:rPr lang="en-IN" sz="3200" b="1" dirty="0">
                <a:solidFill>
                  <a:srgbClr val="C00000"/>
                </a:solidFill>
                <a:latin typeface="Arial" panose="020B0604020202020204" pitchFamily="34" charset="0"/>
              </a:rPr>
              <a:t>Bharatanatyam</a:t>
            </a:r>
            <a:r>
              <a:rPr lang="en-IN" sz="3200" b="1" i="0" dirty="0">
                <a:solidFill>
                  <a:srgbClr val="C00000"/>
                </a:solidFill>
                <a:effectLst/>
                <a:latin typeface="Arial" panose="020B0604020202020204" pitchFamily="34" charset="0"/>
              </a:rPr>
              <a:t> - </a:t>
            </a:r>
          </a:p>
          <a:p>
            <a:pPr algn="l">
              <a:buFont typeface="Arial" panose="020B0604020202020204" pitchFamily="34" charset="0"/>
              <a:buChar char="•"/>
            </a:pPr>
            <a:r>
              <a:rPr lang="en-IN" sz="3200" b="1" dirty="0">
                <a:latin typeface="Arial" panose="020B0604020202020204" pitchFamily="34" charset="0"/>
              </a:rPr>
              <a:t>Rukmini Devi</a:t>
            </a:r>
            <a:r>
              <a:rPr lang="en-IN" sz="3200" b="1" i="0" dirty="0">
                <a:effectLst/>
                <a:latin typeface="Arial" panose="020B0604020202020204" pitchFamily="34" charset="0"/>
              </a:rPr>
              <a:t>, </a:t>
            </a:r>
          </a:p>
          <a:p>
            <a:pPr algn="l">
              <a:buFont typeface="Arial" panose="020B0604020202020204" pitchFamily="34" charset="0"/>
              <a:buChar char="•"/>
            </a:pPr>
            <a:r>
              <a:rPr lang="en-IN" sz="3200" b="1" dirty="0">
                <a:latin typeface="Arial" panose="020B0604020202020204" pitchFamily="34" charset="0"/>
              </a:rPr>
              <a:t>Padma Subrahmanyam</a:t>
            </a:r>
            <a:r>
              <a:rPr lang="en-IN" sz="3200" b="1" i="0" dirty="0">
                <a:effectLst/>
                <a:latin typeface="Arial" panose="020B0604020202020204" pitchFamily="34" charset="0"/>
              </a:rPr>
              <a:t>, </a:t>
            </a:r>
          </a:p>
          <a:p>
            <a:pPr algn="l">
              <a:buFont typeface="Arial" panose="020B0604020202020204" pitchFamily="34" charset="0"/>
              <a:buChar char="•"/>
            </a:pPr>
            <a:r>
              <a:rPr lang="en-IN" sz="3200" b="1" dirty="0" err="1">
                <a:latin typeface="Arial" panose="020B0604020202020204" pitchFamily="34" charset="0"/>
              </a:rPr>
              <a:t>Vyjayanthimala</a:t>
            </a:r>
            <a:r>
              <a:rPr lang="en-IN" sz="3200" b="1" i="0" dirty="0">
                <a:effectLst/>
                <a:latin typeface="Arial" panose="020B0604020202020204" pitchFamily="34" charset="0"/>
              </a:rPr>
              <a:t>, </a:t>
            </a:r>
          </a:p>
          <a:p>
            <a:pPr algn="l">
              <a:buFont typeface="Arial" panose="020B0604020202020204" pitchFamily="34" charset="0"/>
              <a:buChar char="•"/>
            </a:pPr>
            <a:r>
              <a:rPr lang="en-IN" sz="3200" b="1" dirty="0" err="1">
                <a:latin typeface="Arial" panose="020B0604020202020204" pitchFamily="34" charset="0"/>
              </a:rPr>
              <a:t>Sheema</a:t>
            </a:r>
            <a:r>
              <a:rPr lang="en-IN" sz="3200" b="1" dirty="0">
                <a:latin typeface="Arial" panose="020B0604020202020204" pitchFamily="34" charset="0"/>
              </a:rPr>
              <a:t> </a:t>
            </a:r>
            <a:r>
              <a:rPr lang="en-IN" sz="3200" b="1" dirty="0" err="1">
                <a:latin typeface="Arial" panose="020B0604020202020204" pitchFamily="34" charset="0"/>
              </a:rPr>
              <a:t>Kermani</a:t>
            </a:r>
            <a:r>
              <a:rPr lang="en-IN" sz="3200" b="1" i="0" dirty="0">
                <a:effectLst/>
                <a:latin typeface="Arial" panose="020B0604020202020204" pitchFamily="34" charset="0"/>
              </a:rPr>
              <a:t>, </a:t>
            </a:r>
          </a:p>
          <a:p>
            <a:pPr algn="l">
              <a:buFont typeface="Arial" panose="020B0604020202020204" pitchFamily="34" charset="0"/>
              <a:buChar char="•"/>
            </a:pPr>
            <a:r>
              <a:rPr lang="en-IN" sz="3200" b="1" dirty="0">
                <a:latin typeface="Arial" panose="020B0604020202020204" pitchFamily="34" charset="0"/>
              </a:rPr>
              <a:t>Padmini</a:t>
            </a:r>
            <a:r>
              <a:rPr lang="en-IN" sz="3200" b="1" i="0" dirty="0">
                <a:effectLst/>
                <a:latin typeface="Arial" panose="020B0604020202020204" pitchFamily="34" charset="0"/>
              </a:rPr>
              <a:t>.</a:t>
            </a:r>
          </a:p>
          <a:p>
            <a:endParaRPr lang="en-IN" sz="2400" b="1" dirty="0"/>
          </a:p>
        </p:txBody>
      </p:sp>
    </p:spTree>
    <p:extLst>
      <p:ext uri="{BB962C8B-B14F-4D97-AF65-F5344CB8AC3E}">
        <p14:creationId xmlns:p14="http://schemas.microsoft.com/office/powerpoint/2010/main" val="2939087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EE67-7F46-2319-3D00-6974811F6220}"/>
              </a:ext>
            </a:extLst>
          </p:cNvPr>
          <p:cNvSpPr>
            <a:spLocks noGrp="1"/>
          </p:cNvSpPr>
          <p:nvPr>
            <p:ph type="title"/>
          </p:nvPr>
        </p:nvSpPr>
        <p:spPr/>
        <p:txBody>
          <a:bodyPr>
            <a:normAutofit/>
          </a:bodyPr>
          <a:lstStyle/>
          <a:p>
            <a:r>
              <a:rPr lang="en-IN" sz="6600" b="1" dirty="0">
                <a:solidFill>
                  <a:srgbClr val="C00000"/>
                </a:solidFill>
                <a:latin typeface="Arial" panose="020B0604020202020204" pitchFamily="34" charset="0"/>
              </a:rPr>
              <a:t>Kathak</a:t>
            </a:r>
            <a:r>
              <a:rPr lang="en-IN" sz="6600" b="1" i="0" dirty="0">
                <a:solidFill>
                  <a:srgbClr val="C00000"/>
                </a:solidFill>
                <a:effectLst/>
                <a:latin typeface="Arial" panose="020B0604020202020204" pitchFamily="34" charset="0"/>
              </a:rPr>
              <a:t> </a:t>
            </a:r>
            <a:endParaRPr lang="en-IN" sz="6600" dirty="0">
              <a:solidFill>
                <a:srgbClr val="C00000"/>
              </a:solidFill>
            </a:endParaRPr>
          </a:p>
        </p:txBody>
      </p:sp>
      <p:sp>
        <p:nvSpPr>
          <p:cNvPr id="3" name="Content Placeholder 2">
            <a:extLst>
              <a:ext uri="{FF2B5EF4-FFF2-40B4-BE49-F238E27FC236}">
                <a16:creationId xmlns:a16="http://schemas.microsoft.com/office/drawing/2014/main" id="{CB52226C-4405-E790-24FE-57F731C8146B}"/>
              </a:ext>
            </a:extLst>
          </p:cNvPr>
          <p:cNvSpPr>
            <a:spLocks noGrp="1"/>
          </p:cNvSpPr>
          <p:nvPr>
            <p:ph idx="1"/>
          </p:nvPr>
        </p:nvSpPr>
        <p:spPr/>
        <p:txBody>
          <a:bodyPr>
            <a:normAutofit/>
          </a:bodyPr>
          <a:lstStyle/>
          <a:p>
            <a:pPr algn="l">
              <a:buFont typeface="Arial" panose="020B0604020202020204" pitchFamily="34" charset="0"/>
              <a:buChar char="•"/>
            </a:pPr>
            <a:r>
              <a:rPr lang="en-IN" sz="2800" b="1" i="0" dirty="0">
                <a:effectLst/>
                <a:latin typeface="Arial" panose="020B0604020202020204" pitchFamily="34" charset="0"/>
              </a:rPr>
              <a:t>-</a:t>
            </a:r>
            <a:r>
              <a:rPr lang="en-IN" sz="2800" b="1" dirty="0">
                <a:latin typeface="Arial" panose="020B0604020202020204" pitchFamily="34" charset="0"/>
              </a:rPr>
              <a:t>Birju Maharaj</a:t>
            </a:r>
            <a:r>
              <a:rPr lang="en-IN" sz="2800" b="1" i="0" dirty="0">
                <a:effectLst/>
                <a:latin typeface="Arial" panose="020B0604020202020204" pitchFamily="34" charset="0"/>
              </a:rPr>
              <a:t>,</a:t>
            </a:r>
          </a:p>
          <a:p>
            <a:pPr algn="l">
              <a:buFont typeface="Arial" panose="020B0604020202020204" pitchFamily="34" charset="0"/>
              <a:buChar char="•"/>
            </a:pPr>
            <a:r>
              <a:rPr lang="en-IN" sz="2800" b="1" i="0" dirty="0">
                <a:effectLst/>
                <a:latin typeface="Arial" panose="020B0604020202020204" pitchFamily="34" charset="0"/>
              </a:rPr>
              <a:t> </a:t>
            </a:r>
            <a:r>
              <a:rPr lang="en-IN" sz="2800" b="1" dirty="0">
                <a:latin typeface="Arial" panose="020B0604020202020204" pitchFamily="34" charset="0"/>
              </a:rPr>
              <a:t>Nahid Siddiqui</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err="1">
                <a:latin typeface="Arial" panose="020B0604020202020204" pitchFamily="34" charset="0"/>
              </a:rPr>
              <a:t>Lacchu</a:t>
            </a:r>
            <a:r>
              <a:rPr lang="en-IN" sz="2800" b="1" dirty="0">
                <a:latin typeface="Arial" panose="020B0604020202020204" pitchFamily="34" charset="0"/>
              </a:rPr>
              <a:t> Maharaj</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a:latin typeface="Arial" panose="020B0604020202020204" pitchFamily="34" charset="0"/>
              </a:rPr>
              <a:t>Gopi Krishna</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err="1">
                <a:latin typeface="Arial" panose="020B0604020202020204" pitchFamily="34" charset="0"/>
              </a:rPr>
              <a:t>Saswati</a:t>
            </a:r>
            <a:r>
              <a:rPr lang="en-IN" sz="2800" b="1" dirty="0">
                <a:latin typeface="Arial" panose="020B0604020202020204" pitchFamily="34" charset="0"/>
              </a:rPr>
              <a:t> Sen</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err="1">
                <a:latin typeface="Arial" panose="020B0604020202020204" pitchFamily="34" charset="0"/>
              </a:rPr>
              <a:t>Manjari</a:t>
            </a:r>
            <a:r>
              <a:rPr lang="en-IN" sz="2800" b="1" dirty="0">
                <a:latin typeface="Arial" panose="020B0604020202020204" pitchFamily="34" charset="0"/>
              </a:rPr>
              <a:t> Chaturvedi</a:t>
            </a:r>
            <a:r>
              <a:rPr lang="en-IN" sz="2800" b="1" i="0" dirty="0">
                <a:effectLst/>
                <a:latin typeface="Arial" panose="020B0604020202020204" pitchFamily="34" charset="0"/>
              </a:rPr>
              <a:t> etc.</a:t>
            </a:r>
          </a:p>
          <a:p>
            <a:endParaRPr lang="en-IN" dirty="0"/>
          </a:p>
        </p:txBody>
      </p:sp>
    </p:spTree>
    <p:extLst>
      <p:ext uri="{BB962C8B-B14F-4D97-AF65-F5344CB8AC3E}">
        <p14:creationId xmlns:p14="http://schemas.microsoft.com/office/powerpoint/2010/main" val="17023054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AEC5-9145-D336-0944-E7724F93572F}"/>
              </a:ext>
            </a:extLst>
          </p:cNvPr>
          <p:cNvSpPr>
            <a:spLocks noGrp="1"/>
          </p:cNvSpPr>
          <p:nvPr>
            <p:ph type="title"/>
          </p:nvPr>
        </p:nvSpPr>
        <p:spPr/>
        <p:txBody>
          <a:bodyPr>
            <a:normAutofit/>
          </a:bodyPr>
          <a:lstStyle/>
          <a:p>
            <a:r>
              <a:rPr lang="en-IN" sz="6600" b="1" dirty="0">
                <a:solidFill>
                  <a:srgbClr val="C00000"/>
                </a:solidFill>
                <a:latin typeface="Arial" panose="020B0604020202020204" pitchFamily="34" charset="0"/>
              </a:rPr>
              <a:t>Kuchipudi</a:t>
            </a:r>
            <a:r>
              <a:rPr lang="en-IN" sz="6600" b="1" i="0" dirty="0">
                <a:solidFill>
                  <a:srgbClr val="C00000"/>
                </a:solidFill>
                <a:effectLst/>
                <a:latin typeface="Arial" panose="020B0604020202020204" pitchFamily="34" charset="0"/>
              </a:rPr>
              <a:t> </a:t>
            </a:r>
            <a:endParaRPr lang="en-IN" sz="6600" dirty="0">
              <a:solidFill>
                <a:srgbClr val="C00000"/>
              </a:solidFill>
            </a:endParaRPr>
          </a:p>
        </p:txBody>
      </p:sp>
      <p:sp>
        <p:nvSpPr>
          <p:cNvPr id="3" name="Content Placeholder 2">
            <a:extLst>
              <a:ext uri="{FF2B5EF4-FFF2-40B4-BE49-F238E27FC236}">
                <a16:creationId xmlns:a16="http://schemas.microsoft.com/office/drawing/2014/main" id="{19A0061E-951D-317D-59E9-6A11BFDB42E7}"/>
              </a:ext>
            </a:extLst>
          </p:cNvPr>
          <p:cNvSpPr>
            <a:spLocks noGrp="1"/>
          </p:cNvSpPr>
          <p:nvPr>
            <p:ph idx="1"/>
          </p:nvPr>
        </p:nvSpPr>
        <p:spPr/>
        <p:txBody>
          <a:bodyPr>
            <a:normAutofit/>
          </a:bodyPr>
          <a:lstStyle/>
          <a:p>
            <a:pPr algn="l">
              <a:buFont typeface="Arial" panose="020B0604020202020204" pitchFamily="34" charset="0"/>
              <a:buChar char="•"/>
            </a:pPr>
            <a:r>
              <a:rPr lang="en-IN" sz="3200" b="1" i="0" dirty="0">
                <a:effectLst/>
                <a:latin typeface="Arial" panose="020B0604020202020204" pitchFamily="34" charset="0"/>
              </a:rPr>
              <a:t>- </a:t>
            </a:r>
            <a:r>
              <a:rPr lang="en-IN" sz="3200" b="1" dirty="0">
                <a:latin typeface="Arial" panose="020B0604020202020204" pitchFamily="34" charset="0"/>
              </a:rPr>
              <a:t>Mallika Sarabhai</a:t>
            </a:r>
            <a:r>
              <a:rPr lang="en-IN" sz="3200" b="1" i="0" dirty="0">
                <a:effectLst/>
                <a:latin typeface="Arial" panose="020B0604020202020204" pitchFamily="34" charset="0"/>
              </a:rPr>
              <a:t>, </a:t>
            </a:r>
          </a:p>
          <a:p>
            <a:pPr algn="l">
              <a:buFont typeface="Arial" panose="020B0604020202020204" pitchFamily="34" charset="0"/>
              <a:buChar char="•"/>
            </a:pPr>
            <a:r>
              <a:rPr lang="en-IN" sz="3200" b="1" dirty="0">
                <a:latin typeface="Arial" panose="020B0604020202020204" pitchFamily="34" charset="0"/>
              </a:rPr>
              <a:t>V. Satyanarayana </a:t>
            </a:r>
            <a:r>
              <a:rPr lang="en-IN" sz="3200" b="1" dirty="0" err="1">
                <a:latin typeface="Arial" panose="020B0604020202020204" pitchFamily="34" charset="0"/>
              </a:rPr>
              <a:t>Sarma</a:t>
            </a:r>
            <a:r>
              <a:rPr lang="en-IN" sz="3200" b="1" i="0" dirty="0">
                <a:effectLst/>
                <a:latin typeface="Arial" panose="020B0604020202020204" pitchFamily="34" charset="0"/>
              </a:rPr>
              <a:t>,</a:t>
            </a:r>
          </a:p>
          <a:p>
            <a:pPr algn="l">
              <a:buFont typeface="Arial" panose="020B0604020202020204" pitchFamily="34" charset="0"/>
              <a:buChar char="•"/>
            </a:pPr>
            <a:r>
              <a:rPr lang="en-IN" sz="3200" b="1" i="0" dirty="0">
                <a:effectLst/>
                <a:latin typeface="Arial" panose="020B0604020202020204" pitchFamily="34" charset="0"/>
              </a:rPr>
              <a:t> Deepa </a:t>
            </a:r>
            <a:r>
              <a:rPr lang="en-IN" sz="3200" b="1" i="0" dirty="0" err="1">
                <a:effectLst/>
                <a:latin typeface="Arial" panose="020B0604020202020204" pitchFamily="34" charset="0"/>
              </a:rPr>
              <a:t>Shashindran</a:t>
            </a:r>
            <a:r>
              <a:rPr lang="en-IN" sz="3200" b="1" i="0" dirty="0">
                <a:effectLst/>
                <a:latin typeface="Arial" panose="020B0604020202020204" pitchFamily="34" charset="0"/>
              </a:rPr>
              <a:t>, etc.</a:t>
            </a:r>
          </a:p>
          <a:p>
            <a:r>
              <a:rPr lang="en-IN" sz="3200" b="1" dirty="0"/>
              <a:t>Raja and Radha Reddy,</a:t>
            </a:r>
          </a:p>
          <a:p>
            <a:r>
              <a:rPr lang="en-IN" sz="3200" b="1" dirty="0"/>
              <a:t> Vempati Chinna Satyam, </a:t>
            </a:r>
          </a:p>
          <a:p>
            <a:r>
              <a:rPr lang="en-IN" sz="3200" b="1" dirty="0" err="1"/>
              <a:t>Vedantam</a:t>
            </a:r>
            <a:r>
              <a:rPr lang="en-IN" sz="3200" b="1" dirty="0"/>
              <a:t> Satyanarayana Sarma</a:t>
            </a:r>
          </a:p>
          <a:p>
            <a:r>
              <a:rPr lang="en-IN" sz="3200" b="1" dirty="0"/>
              <a:t>Shobha Naidu</a:t>
            </a:r>
          </a:p>
        </p:txBody>
      </p:sp>
    </p:spTree>
    <p:extLst>
      <p:ext uri="{BB962C8B-B14F-4D97-AF65-F5344CB8AC3E}">
        <p14:creationId xmlns:p14="http://schemas.microsoft.com/office/powerpoint/2010/main" val="38872335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35F0-4C3E-668C-72E8-4B295B4F9D48}"/>
              </a:ext>
            </a:extLst>
          </p:cNvPr>
          <p:cNvSpPr>
            <a:spLocks noGrp="1"/>
          </p:cNvSpPr>
          <p:nvPr>
            <p:ph type="title"/>
          </p:nvPr>
        </p:nvSpPr>
        <p:spPr/>
        <p:txBody>
          <a:bodyPr>
            <a:normAutofit/>
          </a:bodyPr>
          <a:lstStyle/>
          <a:p>
            <a:r>
              <a:rPr lang="en-IN" sz="7200" b="1" dirty="0">
                <a:solidFill>
                  <a:srgbClr val="C00000"/>
                </a:solidFill>
                <a:latin typeface="Arial" panose="020B0604020202020204" pitchFamily="34" charset="0"/>
              </a:rPr>
              <a:t>Odissi</a:t>
            </a:r>
            <a:r>
              <a:rPr lang="en-IN" sz="7200" b="1" i="0" dirty="0">
                <a:solidFill>
                  <a:srgbClr val="C00000"/>
                </a:solidFill>
                <a:effectLst/>
                <a:latin typeface="Arial" panose="020B0604020202020204" pitchFamily="34" charset="0"/>
              </a:rPr>
              <a:t> - </a:t>
            </a:r>
            <a:endParaRPr lang="en-IN" sz="7200" dirty="0">
              <a:solidFill>
                <a:srgbClr val="C00000"/>
              </a:solidFill>
            </a:endParaRPr>
          </a:p>
        </p:txBody>
      </p:sp>
      <p:sp>
        <p:nvSpPr>
          <p:cNvPr id="3" name="Content Placeholder 2">
            <a:extLst>
              <a:ext uri="{FF2B5EF4-FFF2-40B4-BE49-F238E27FC236}">
                <a16:creationId xmlns:a16="http://schemas.microsoft.com/office/drawing/2014/main" id="{A2E73D7D-E820-2DBF-F798-0E27CB046A03}"/>
              </a:ext>
            </a:extLst>
          </p:cNvPr>
          <p:cNvSpPr>
            <a:spLocks noGrp="1"/>
          </p:cNvSpPr>
          <p:nvPr>
            <p:ph idx="1"/>
          </p:nvPr>
        </p:nvSpPr>
        <p:spPr/>
        <p:txBody>
          <a:bodyPr>
            <a:normAutofit/>
          </a:bodyPr>
          <a:lstStyle/>
          <a:p>
            <a:pPr algn="l">
              <a:buFont typeface="Arial" panose="020B0604020202020204" pitchFamily="34" charset="0"/>
              <a:buChar char="•"/>
            </a:pPr>
            <a:r>
              <a:rPr lang="en-IN" sz="4000" b="1" dirty="0">
                <a:latin typeface="Arial" panose="020B0604020202020204" pitchFamily="34" charset="0"/>
              </a:rPr>
              <a:t>Sujata Mohapatra</a:t>
            </a:r>
            <a:r>
              <a:rPr lang="en-IN" sz="4000" b="1" i="0" dirty="0">
                <a:effectLst/>
                <a:latin typeface="Arial" panose="020B0604020202020204" pitchFamily="34" charset="0"/>
              </a:rPr>
              <a:t>, </a:t>
            </a:r>
          </a:p>
          <a:p>
            <a:pPr algn="l">
              <a:buFont typeface="Arial" panose="020B0604020202020204" pitchFamily="34" charset="0"/>
              <a:buChar char="•"/>
            </a:pPr>
            <a:r>
              <a:rPr lang="en-IN" sz="4000" b="1" dirty="0">
                <a:latin typeface="Arial" panose="020B0604020202020204" pitchFamily="34" charset="0"/>
              </a:rPr>
              <a:t>Madhavi Mudgal</a:t>
            </a:r>
            <a:r>
              <a:rPr lang="en-IN" sz="4000" b="1" i="0" dirty="0">
                <a:effectLst/>
                <a:latin typeface="Arial" panose="020B0604020202020204" pitchFamily="34" charset="0"/>
              </a:rPr>
              <a:t>, </a:t>
            </a:r>
          </a:p>
          <a:p>
            <a:pPr algn="l">
              <a:buFont typeface="Arial" panose="020B0604020202020204" pitchFamily="34" charset="0"/>
              <a:buChar char="•"/>
            </a:pPr>
            <a:r>
              <a:rPr lang="en-IN" sz="4000" b="1" dirty="0" err="1">
                <a:latin typeface="Arial" panose="020B0604020202020204" pitchFamily="34" charset="0"/>
              </a:rPr>
              <a:t>Kelucharan</a:t>
            </a:r>
            <a:r>
              <a:rPr lang="en-IN" sz="4000" b="1" dirty="0">
                <a:latin typeface="Arial" panose="020B0604020202020204" pitchFamily="34" charset="0"/>
              </a:rPr>
              <a:t> Mohapatra</a:t>
            </a:r>
            <a:r>
              <a:rPr lang="en-IN" sz="4000" b="1" i="0" dirty="0">
                <a:effectLst/>
                <a:latin typeface="Arial" panose="020B0604020202020204" pitchFamily="34" charset="0"/>
              </a:rPr>
              <a:t>, </a:t>
            </a:r>
          </a:p>
          <a:p>
            <a:pPr algn="l">
              <a:buFont typeface="Arial" panose="020B0604020202020204" pitchFamily="34" charset="0"/>
              <a:buChar char="•"/>
            </a:pPr>
            <a:r>
              <a:rPr lang="en-IN" sz="4000" b="1" dirty="0">
                <a:latin typeface="Arial" panose="020B0604020202020204" pitchFamily="34" charset="0"/>
              </a:rPr>
              <a:t>Surendra Nath Jena</a:t>
            </a:r>
            <a:r>
              <a:rPr lang="en-IN" sz="4000" b="1" i="0" dirty="0">
                <a:effectLst/>
                <a:latin typeface="Arial" panose="020B0604020202020204" pitchFamily="34" charset="0"/>
              </a:rPr>
              <a:t>,</a:t>
            </a:r>
          </a:p>
          <a:p>
            <a:pPr algn="l">
              <a:buFont typeface="Arial" panose="020B0604020202020204" pitchFamily="34" charset="0"/>
              <a:buChar char="•"/>
            </a:pPr>
            <a:r>
              <a:rPr lang="en-IN" sz="4000" b="1" i="0" dirty="0">
                <a:effectLst/>
                <a:latin typeface="Arial" panose="020B0604020202020204" pitchFamily="34" charset="0"/>
              </a:rPr>
              <a:t> </a:t>
            </a:r>
            <a:r>
              <a:rPr lang="en-IN" sz="4000" b="1" dirty="0" err="1">
                <a:latin typeface="Arial" panose="020B0604020202020204" pitchFamily="34" charset="0"/>
              </a:rPr>
              <a:t>Shobana</a:t>
            </a:r>
            <a:r>
              <a:rPr lang="en-IN" sz="4000" b="1" dirty="0">
                <a:latin typeface="Arial" panose="020B0604020202020204" pitchFamily="34" charset="0"/>
              </a:rPr>
              <a:t> </a:t>
            </a:r>
            <a:r>
              <a:rPr lang="en-IN" sz="4000" b="1" dirty="0" err="1">
                <a:latin typeface="Arial" panose="020B0604020202020204" pitchFamily="34" charset="0"/>
              </a:rPr>
              <a:t>Sahajananan</a:t>
            </a:r>
            <a:endParaRPr lang="en-IN" sz="4000" b="1" i="0" dirty="0">
              <a:effectLst/>
              <a:latin typeface="Arial" panose="020B0604020202020204" pitchFamily="34" charset="0"/>
            </a:endParaRPr>
          </a:p>
          <a:p>
            <a:endParaRPr lang="en-IN" dirty="0"/>
          </a:p>
        </p:txBody>
      </p:sp>
    </p:spTree>
    <p:extLst>
      <p:ext uri="{BB962C8B-B14F-4D97-AF65-F5344CB8AC3E}">
        <p14:creationId xmlns:p14="http://schemas.microsoft.com/office/powerpoint/2010/main" val="192911957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3753-042E-7952-A208-BC9B7B5BBA9A}"/>
              </a:ext>
            </a:extLst>
          </p:cNvPr>
          <p:cNvSpPr>
            <a:spLocks noGrp="1"/>
          </p:cNvSpPr>
          <p:nvPr>
            <p:ph type="title"/>
          </p:nvPr>
        </p:nvSpPr>
        <p:spPr/>
        <p:txBody>
          <a:bodyPr>
            <a:normAutofit/>
          </a:bodyPr>
          <a:lstStyle/>
          <a:p>
            <a:r>
              <a:rPr lang="en-IN" sz="6600" b="1" dirty="0" err="1">
                <a:solidFill>
                  <a:srgbClr val="C00000"/>
                </a:solidFill>
                <a:latin typeface="Arial" panose="020B0604020202020204" pitchFamily="34" charset="0"/>
              </a:rPr>
              <a:t>Mohiniyattam</a:t>
            </a:r>
            <a:r>
              <a:rPr lang="en-IN" sz="6600" b="1" i="0" dirty="0">
                <a:solidFill>
                  <a:srgbClr val="C00000"/>
                </a:solidFill>
                <a:effectLst/>
                <a:latin typeface="Arial" panose="020B0604020202020204" pitchFamily="34" charset="0"/>
              </a:rPr>
              <a:t> </a:t>
            </a:r>
            <a:endParaRPr lang="en-IN" sz="6600" dirty="0">
              <a:solidFill>
                <a:srgbClr val="C00000"/>
              </a:solidFill>
            </a:endParaRPr>
          </a:p>
        </p:txBody>
      </p:sp>
      <p:sp>
        <p:nvSpPr>
          <p:cNvPr id="3" name="Content Placeholder 2">
            <a:extLst>
              <a:ext uri="{FF2B5EF4-FFF2-40B4-BE49-F238E27FC236}">
                <a16:creationId xmlns:a16="http://schemas.microsoft.com/office/drawing/2014/main" id="{22B2FB13-ADB3-C8D8-6EFF-AEDB459776F4}"/>
              </a:ext>
            </a:extLst>
          </p:cNvPr>
          <p:cNvSpPr>
            <a:spLocks noGrp="1"/>
          </p:cNvSpPr>
          <p:nvPr>
            <p:ph idx="1"/>
          </p:nvPr>
        </p:nvSpPr>
        <p:spPr/>
        <p:txBody>
          <a:bodyPr>
            <a:normAutofit/>
          </a:bodyPr>
          <a:lstStyle/>
          <a:p>
            <a:pPr algn="l">
              <a:buFont typeface="Arial" panose="020B0604020202020204" pitchFamily="34" charset="0"/>
              <a:buChar char="•"/>
            </a:pPr>
            <a:r>
              <a:rPr lang="en-IN" sz="2800" b="1" i="0" dirty="0">
                <a:effectLst/>
                <a:latin typeface="Arial" panose="020B0604020202020204" pitchFamily="34" charset="0"/>
              </a:rPr>
              <a:t>- </a:t>
            </a:r>
            <a:r>
              <a:rPr lang="en-IN" sz="2800" b="1" dirty="0" err="1">
                <a:latin typeface="Arial" panose="020B0604020202020204" pitchFamily="34" charset="0"/>
              </a:rPr>
              <a:t>Kalamandalam</a:t>
            </a:r>
            <a:r>
              <a:rPr lang="en-IN" sz="2800" b="1" dirty="0">
                <a:latin typeface="Arial" panose="020B0604020202020204" pitchFamily="34" charset="0"/>
              </a:rPr>
              <a:t> </a:t>
            </a:r>
            <a:r>
              <a:rPr lang="en-IN" sz="2800" b="1" dirty="0" err="1">
                <a:latin typeface="Arial" panose="020B0604020202020204" pitchFamily="34" charset="0"/>
              </a:rPr>
              <a:t>Kalyanikutty</a:t>
            </a:r>
            <a:r>
              <a:rPr lang="en-IN" sz="2800" b="1" dirty="0">
                <a:latin typeface="Arial" panose="020B0604020202020204" pitchFamily="34" charset="0"/>
              </a:rPr>
              <a:t> Amma</a:t>
            </a:r>
            <a:r>
              <a:rPr lang="en-IN" sz="2800" b="1" i="0" dirty="0">
                <a:effectLst/>
                <a:latin typeface="Arial" panose="020B0604020202020204" pitchFamily="34" charset="0"/>
              </a:rPr>
              <a:t>,</a:t>
            </a:r>
          </a:p>
          <a:p>
            <a:pPr algn="l">
              <a:buFont typeface="Arial" panose="020B0604020202020204" pitchFamily="34" charset="0"/>
              <a:buChar char="•"/>
            </a:pPr>
            <a:r>
              <a:rPr lang="en-IN" sz="2800" b="1" i="0" dirty="0">
                <a:effectLst/>
                <a:latin typeface="Arial" panose="020B0604020202020204" pitchFamily="34" charset="0"/>
              </a:rPr>
              <a:t> </a:t>
            </a:r>
            <a:r>
              <a:rPr lang="en-IN" sz="2800" b="1" dirty="0" err="1">
                <a:latin typeface="Arial" panose="020B0604020202020204" pitchFamily="34" charset="0"/>
              </a:rPr>
              <a:t>Shobhana</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a:latin typeface="Arial" panose="020B0604020202020204" pitchFamily="34" charset="0"/>
              </a:rPr>
              <a:t>Sunanda</a:t>
            </a:r>
            <a:r>
              <a:rPr lang="en-IN" sz="2800" b="1" i="0" dirty="0">
                <a:effectLst/>
                <a:latin typeface="Arial" panose="020B0604020202020204" pitchFamily="34" charset="0"/>
              </a:rPr>
              <a:t> </a:t>
            </a:r>
            <a:r>
              <a:rPr lang="en-IN" sz="2800" b="1" dirty="0">
                <a:latin typeface="Arial" panose="020B0604020202020204" pitchFamily="34" charset="0"/>
              </a:rPr>
              <a:t>Nair</a:t>
            </a:r>
            <a:r>
              <a:rPr lang="en-IN" sz="2800" b="1" i="0" dirty="0">
                <a:effectLst/>
                <a:latin typeface="Arial" panose="020B0604020202020204" pitchFamily="34" charset="0"/>
              </a:rPr>
              <a:t>, </a:t>
            </a:r>
          </a:p>
          <a:p>
            <a:pPr algn="l">
              <a:buFont typeface="Arial" panose="020B0604020202020204" pitchFamily="34" charset="0"/>
              <a:buChar char="•"/>
            </a:pPr>
            <a:r>
              <a:rPr lang="en-IN" sz="2800" b="1" dirty="0" err="1">
                <a:latin typeface="Arial" panose="020B0604020202020204" pitchFamily="34" charset="0"/>
              </a:rPr>
              <a:t>Kalamandalam</a:t>
            </a:r>
            <a:r>
              <a:rPr lang="en-IN" sz="2800" b="1" dirty="0">
                <a:latin typeface="Arial" panose="020B0604020202020204" pitchFamily="34" charset="0"/>
              </a:rPr>
              <a:t> Radhika</a:t>
            </a:r>
            <a:r>
              <a:rPr lang="en-IN" sz="2800" b="1" i="0" dirty="0">
                <a:effectLst/>
                <a:latin typeface="Arial" panose="020B0604020202020204" pitchFamily="34" charset="0"/>
              </a:rPr>
              <a:t>,</a:t>
            </a:r>
          </a:p>
          <a:p>
            <a:pPr algn="l">
              <a:buFont typeface="Arial" panose="020B0604020202020204" pitchFamily="34" charset="0"/>
              <a:buChar char="•"/>
            </a:pPr>
            <a:r>
              <a:rPr lang="en-IN" sz="2800" b="1" i="0" dirty="0">
                <a:effectLst/>
                <a:latin typeface="Arial" panose="020B0604020202020204" pitchFamily="34" charset="0"/>
              </a:rPr>
              <a:t> </a:t>
            </a:r>
            <a:r>
              <a:rPr lang="en-IN" sz="2800" b="1" dirty="0" err="1">
                <a:latin typeface="Arial" panose="020B0604020202020204" pitchFamily="34" charset="0"/>
              </a:rPr>
              <a:t>Thankamani</a:t>
            </a:r>
            <a:r>
              <a:rPr lang="en-IN" sz="2800" b="1" i="0" dirty="0">
                <a:effectLst/>
                <a:latin typeface="Arial" panose="020B0604020202020204" pitchFamily="34" charset="0"/>
              </a:rPr>
              <a:t>,</a:t>
            </a:r>
          </a:p>
          <a:p>
            <a:pPr algn="l">
              <a:buFont typeface="Arial" panose="020B0604020202020204" pitchFamily="34" charset="0"/>
              <a:buChar char="•"/>
            </a:pPr>
            <a:r>
              <a:rPr lang="en-IN" sz="2800" b="1" i="0" dirty="0">
                <a:effectLst/>
                <a:latin typeface="Arial" panose="020B0604020202020204" pitchFamily="34" charset="0"/>
              </a:rPr>
              <a:t> </a:t>
            </a:r>
            <a:r>
              <a:rPr lang="en-IN" sz="2800" b="1" dirty="0" err="1">
                <a:latin typeface="Arial" panose="020B0604020202020204" pitchFamily="34" charset="0"/>
              </a:rPr>
              <a:t>Kalamandalam</a:t>
            </a:r>
            <a:r>
              <a:rPr lang="en-IN" sz="2800" b="1" dirty="0">
                <a:latin typeface="Arial" panose="020B0604020202020204" pitchFamily="34" charset="0"/>
              </a:rPr>
              <a:t> </a:t>
            </a:r>
            <a:r>
              <a:rPr lang="en-IN" sz="2800" b="1" dirty="0" err="1">
                <a:latin typeface="Arial" panose="020B0604020202020204" pitchFamily="34" charset="0"/>
              </a:rPr>
              <a:t>Hymavathy</a:t>
            </a:r>
            <a:endParaRPr lang="en-IN" sz="2800" b="1" i="0" dirty="0">
              <a:effectLst/>
              <a:latin typeface="Arial" panose="020B0604020202020204" pitchFamily="34" charset="0"/>
            </a:endParaRPr>
          </a:p>
          <a:p>
            <a:endParaRPr lang="en-IN" dirty="0"/>
          </a:p>
        </p:txBody>
      </p:sp>
    </p:spTree>
    <p:extLst>
      <p:ext uri="{BB962C8B-B14F-4D97-AF65-F5344CB8AC3E}">
        <p14:creationId xmlns:p14="http://schemas.microsoft.com/office/powerpoint/2010/main" val="5539292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CB242-D340-469F-D9A7-721E2185FE0F}"/>
              </a:ext>
            </a:extLst>
          </p:cNvPr>
          <p:cNvSpPr>
            <a:spLocks noGrp="1"/>
          </p:cNvSpPr>
          <p:nvPr>
            <p:ph type="title"/>
          </p:nvPr>
        </p:nvSpPr>
        <p:spPr/>
        <p:txBody>
          <a:bodyPr>
            <a:normAutofit/>
          </a:bodyPr>
          <a:lstStyle/>
          <a:p>
            <a:r>
              <a:rPr lang="en-IN" sz="7200" b="1" dirty="0">
                <a:solidFill>
                  <a:srgbClr val="C00000"/>
                </a:solidFill>
                <a:latin typeface="Arial" panose="020B0604020202020204" pitchFamily="34" charset="0"/>
              </a:rPr>
              <a:t>Manipuri</a:t>
            </a:r>
            <a:r>
              <a:rPr lang="en-IN" sz="7200" b="1" i="0" dirty="0">
                <a:solidFill>
                  <a:srgbClr val="C00000"/>
                </a:solidFill>
                <a:effectLst/>
                <a:latin typeface="Arial" panose="020B0604020202020204" pitchFamily="34" charset="0"/>
              </a:rPr>
              <a:t> </a:t>
            </a:r>
            <a:endParaRPr lang="en-IN" sz="7200" dirty="0">
              <a:solidFill>
                <a:srgbClr val="C00000"/>
              </a:solidFill>
            </a:endParaRPr>
          </a:p>
        </p:txBody>
      </p:sp>
      <p:sp>
        <p:nvSpPr>
          <p:cNvPr id="3" name="Content Placeholder 2">
            <a:extLst>
              <a:ext uri="{FF2B5EF4-FFF2-40B4-BE49-F238E27FC236}">
                <a16:creationId xmlns:a16="http://schemas.microsoft.com/office/drawing/2014/main" id="{3E0C07E8-0843-9D49-CB1D-9414D2DD36ED}"/>
              </a:ext>
            </a:extLst>
          </p:cNvPr>
          <p:cNvSpPr>
            <a:spLocks noGrp="1"/>
          </p:cNvSpPr>
          <p:nvPr>
            <p:ph idx="1"/>
          </p:nvPr>
        </p:nvSpPr>
        <p:spPr/>
        <p:txBody>
          <a:bodyPr/>
          <a:lstStyle/>
          <a:p>
            <a:r>
              <a:rPr lang="en-IN" sz="2800" b="1" i="0" dirty="0">
                <a:effectLst/>
                <a:latin typeface="Arial" panose="020B0604020202020204" pitchFamily="34" charset="0"/>
              </a:rPr>
              <a:t>- </a:t>
            </a:r>
            <a:r>
              <a:rPr lang="en-IN" sz="3600" b="1" dirty="0">
                <a:latin typeface="Arial" panose="020B0604020202020204" pitchFamily="34" charset="0"/>
              </a:rPr>
              <a:t>Guru Bipin Singh</a:t>
            </a:r>
            <a:r>
              <a:rPr lang="en-IN" sz="3600" b="1" i="0" dirty="0">
                <a:effectLst/>
                <a:latin typeface="Arial" panose="020B0604020202020204" pitchFamily="34" charset="0"/>
              </a:rPr>
              <a:t>,</a:t>
            </a:r>
          </a:p>
          <a:p>
            <a:r>
              <a:rPr lang="en-IN" sz="3600" b="1" i="0" dirty="0">
                <a:effectLst/>
                <a:latin typeface="Arial" panose="020B0604020202020204" pitchFamily="34" charset="0"/>
              </a:rPr>
              <a:t> </a:t>
            </a:r>
            <a:r>
              <a:rPr lang="en-IN" sz="3600" b="1" dirty="0">
                <a:latin typeface="Arial" panose="020B0604020202020204" pitchFamily="34" charset="0"/>
              </a:rPr>
              <a:t>Darshana </a:t>
            </a:r>
            <a:r>
              <a:rPr lang="en-IN" sz="3600" b="1" dirty="0" err="1">
                <a:latin typeface="Arial" panose="020B0604020202020204" pitchFamily="34" charset="0"/>
              </a:rPr>
              <a:t>Jhaveri</a:t>
            </a:r>
            <a:r>
              <a:rPr lang="en-IN" sz="3600" b="1" i="0" dirty="0">
                <a:effectLst/>
                <a:latin typeface="Arial" panose="020B0604020202020204" pitchFamily="34" charset="0"/>
              </a:rPr>
              <a:t>, </a:t>
            </a:r>
          </a:p>
          <a:p>
            <a:r>
              <a:rPr lang="en-IN" sz="3600" b="1" dirty="0" err="1">
                <a:latin typeface="Arial" panose="020B0604020202020204" pitchFamily="34" charset="0"/>
              </a:rPr>
              <a:t>Jhaveri</a:t>
            </a:r>
            <a:r>
              <a:rPr lang="en-IN" sz="3600" b="1" dirty="0">
                <a:latin typeface="Arial" panose="020B0604020202020204" pitchFamily="34" charset="0"/>
              </a:rPr>
              <a:t> Sisters</a:t>
            </a:r>
            <a:r>
              <a:rPr lang="en-IN" sz="3600" b="1" i="0" dirty="0">
                <a:effectLst/>
                <a:latin typeface="Arial" panose="020B0604020202020204" pitchFamily="34" charset="0"/>
              </a:rPr>
              <a:t>,</a:t>
            </a:r>
          </a:p>
          <a:p>
            <a:r>
              <a:rPr lang="en-IN" sz="3600" b="1" i="0" dirty="0">
                <a:effectLst/>
                <a:latin typeface="Arial" panose="020B0604020202020204" pitchFamily="34" charset="0"/>
              </a:rPr>
              <a:t> </a:t>
            </a:r>
            <a:r>
              <a:rPr lang="en-IN" sz="3600" b="1" dirty="0" err="1">
                <a:latin typeface="Arial" panose="020B0604020202020204" pitchFamily="34" charset="0"/>
              </a:rPr>
              <a:t>Devjani</a:t>
            </a:r>
            <a:r>
              <a:rPr lang="en-IN" sz="3600" b="1" dirty="0">
                <a:latin typeface="Arial" panose="020B0604020202020204" pitchFamily="34" charset="0"/>
              </a:rPr>
              <a:t> </a:t>
            </a:r>
            <a:r>
              <a:rPr lang="en-IN" sz="3600" b="1" dirty="0" err="1">
                <a:latin typeface="Arial" panose="020B0604020202020204" pitchFamily="34" charset="0"/>
              </a:rPr>
              <a:t>Chaliha</a:t>
            </a:r>
            <a:r>
              <a:rPr lang="en-IN" sz="3600" b="1" i="0" dirty="0">
                <a:effectLst/>
                <a:latin typeface="Arial" panose="020B0604020202020204" pitchFamily="34" charset="0"/>
              </a:rPr>
              <a:t>,</a:t>
            </a:r>
          </a:p>
          <a:p>
            <a:r>
              <a:rPr lang="en-IN" sz="3600" b="1" i="0" dirty="0">
                <a:effectLst/>
                <a:latin typeface="Arial" panose="020B0604020202020204" pitchFamily="34" charset="0"/>
              </a:rPr>
              <a:t> </a:t>
            </a:r>
            <a:r>
              <a:rPr lang="en-IN" sz="3600" b="1" dirty="0">
                <a:latin typeface="Arial" panose="020B0604020202020204" pitchFamily="34" charset="0"/>
              </a:rPr>
              <a:t>Amala Shankar</a:t>
            </a:r>
            <a:endParaRPr lang="en-IN" sz="3600" b="1" i="0" dirty="0">
              <a:effectLst/>
              <a:latin typeface="Arial" panose="020B0604020202020204" pitchFamily="34" charset="0"/>
            </a:endParaRPr>
          </a:p>
          <a:p>
            <a:endParaRPr lang="en-IN" dirty="0"/>
          </a:p>
        </p:txBody>
      </p:sp>
    </p:spTree>
    <p:extLst>
      <p:ext uri="{BB962C8B-B14F-4D97-AF65-F5344CB8AC3E}">
        <p14:creationId xmlns:p14="http://schemas.microsoft.com/office/powerpoint/2010/main" val="3453638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1494</Words>
  <Application>Microsoft Office PowerPoint</Application>
  <PresentationFormat>Widescreen</PresentationFormat>
  <Paragraphs>188</Paragraphs>
  <Slides>117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117</vt:i4>
      </vt:variant>
    </vt:vector>
  </HeadingPairs>
  <TitlesOfParts>
    <vt:vector size="123" baseType="lpstr">
      <vt:lpstr>Arial</vt:lpstr>
      <vt:lpstr>Arial</vt:lpstr>
      <vt:lpstr>Calibri</vt:lpstr>
      <vt:lpstr>Calibri Light</vt:lpstr>
      <vt:lpstr>Comic Sans MS</vt:lpstr>
      <vt:lpstr>Office Theme</vt:lpstr>
      <vt:lpstr>Classical Dances of India</vt:lpstr>
      <vt:lpstr>PowerPoint Presentation</vt:lpstr>
      <vt:lpstr>PowerPoint Presentation</vt:lpstr>
      <vt:lpstr>PowerPoint Presentation</vt:lpstr>
      <vt:lpstr>Sangeet Natak Akademy,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Kalamandalam Krishnan Nair </vt:lpstr>
      <vt:lpstr>Kathakali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WORD KATHAK</vt:lpstr>
      <vt:lpstr>means a story</vt:lpstr>
      <vt:lpstr>When did Kathak begin evolving into a distinct mode of dance  </vt:lpstr>
      <vt:lpstr>PowerPoint Presentation</vt:lpstr>
      <vt:lpstr>PowerPoint Presentation</vt:lpstr>
      <vt:lpstr>PowerPoint Presentation</vt:lpstr>
      <vt:lpstr>What is the Dance Style of Kathak?</vt:lpstr>
      <vt:lpstr>Usually a solo performance, the dancer often pauses to recite verses followed by their execution through movement.  The focus is more on footwork; the movements are skillfully controlled and performed straight legged by dancers wearing ankle-bells. </vt:lpstr>
      <vt:lpstr>PowerPoint Presentation</vt:lpstr>
      <vt:lpstr>Kathak dance has two main techniques:   1) “nritya” (pure dance)  2) “Abhinaya” (expressions) </vt:lpstr>
      <vt:lpstr>How is Kathak performed?</vt:lpstr>
      <vt:lpstr>Kathak  builds its pure dance sequences by combining units of movement.    </vt:lpstr>
      <vt:lpstr>The cadences   called   by the names tukra, tora, and parana are associated with what  </vt:lpstr>
      <vt:lpstr>Kathak</vt:lpstr>
      <vt:lpstr>PowerPoint Presentation</vt:lpstr>
      <vt:lpstr>Kathak  </vt:lpstr>
      <vt:lpstr>There are two types of Hindu costumes for female dancers.</vt:lpstr>
      <vt:lpstr>PowerPoint Presentation</vt:lpstr>
      <vt:lpstr>What are the Instruments associated with Kathak?</vt:lpstr>
      <vt:lpstr>PowerPoint Presentation</vt:lpstr>
      <vt:lpstr>PowerPoint Presentation</vt:lpstr>
      <vt:lpstr>short episodes of Krishna’s life.  Mystical Urdu love poems are also included in the repertoire. </vt:lpstr>
      <vt:lpstr>Famous exponents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Kathak dancers in the world.</vt:lpstr>
      <vt:lpstr>PowerPoint Presentation</vt:lpstr>
      <vt:lpstr>Bharathanatyam</vt:lpstr>
      <vt:lpstr>PowerPoint Presentation</vt:lpstr>
      <vt:lpstr>Bharatanatyam.</vt:lpstr>
      <vt:lpstr>Which dance form is associated withEkaharya, where one dancer takes on many roles in a single performance </vt:lpstr>
      <vt:lpstr>Bharathanatyam</vt:lpstr>
      <vt:lpstr>PowerPoint Presentation</vt:lpstr>
      <vt:lpstr>Bharathanatyam</vt:lpstr>
      <vt:lpstr>PowerPoint Presentation</vt:lpstr>
      <vt:lpstr>Meenakshi Sundaram Pillai</vt:lpstr>
      <vt:lpstr>CLASSICAL DANCERS</vt:lpstr>
      <vt:lpstr>Kathak </vt:lpstr>
      <vt:lpstr>Kuchipudi </vt:lpstr>
      <vt:lpstr>Odissi - </vt:lpstr>
      <vt:lpstr>Mohiniyattam </vt:lpstr>
      <vt:lpstr>Manipuri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kch institute</dc:creator>
  <cp:lastModifiedBy>kch institute</cp:lastModifiedBy>
  <cp:revision>2</cp:revision>
  <dcterms:created xsi:type="dcterms:W3CDTF">2025-07-23T12:17:34Z</dcterms:created>
  <dcterms:modified xsi:type="dcterms:W3CDTF">2025-07-24T11:13:10Z</dcterms:modified>
</cp:coreProperties>
</file>